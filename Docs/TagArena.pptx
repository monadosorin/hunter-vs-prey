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Pembukaan: Tag Arena adalah game kejar-kejaran asimetris, 1 Hunter melawan 3 Prey. Fokus AI-nya adalah Reinforcement Learning yang dilatih melawan Behavior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inspirasi dari parkour tag. Bedanya dengan tag biasa: Prey punya objektif, jadi bukan cuma lari.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Tunjuk tiap elemen di diagram: rintangan abu-abu, Cage di tengah, gerbang hijau (yang aktif tebal, dua lainnya kandidat), Hunter segitiga ungu, Prey bulat, orb titik kecil.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Jalankan urutan 1 sampai 5. Tekankan head start 3 detik supaya Prey tidak langsung tertangkap, dan sirene 3 detik sebelum gerbang terbuka supaya Hunter punya kesempatan.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 ini gabungan dari Pac-Man dan Dead by Daylight. Karena tiap Prey punya warna sendiri, mereka harus menyebar, dan itu membuka peluang untuk Hunter.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gabungan dua ide dari kelompok: sistem rescue dan 'orb jadi lebih banyak'. Orb putih menyelesaikan masalah warna Prey yang sudah tereliminasi.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Semua angka adalah titik awal untuk playtest, nanti disesuaikan setelah BT vs BT bisa dimainkan.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Kondisi menang berbasis jumlah Prey yang kabur supaya setiap ronde ada pemenang jelas, dan setiap Prey tetap punya tujuan individu. Ini juga cocok untuk reward 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inti dari bagian AI: BT tidak dinilai, hanya pelatih. Yang dinilai adalah RL-nya.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Dengan menukar peran, kedua sisi punya agent RL yang belajar. Sesuai arahan: RL lawan BT, lalu dituker.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BT adalah selector: node paling atas yang kondisinya terpenuhi yang dijalankan. Sederhana tapi cukup kuat sebagai lawan latihan.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dibuat per kejadian (dense reward), bukan hanya di akhir pertandingan, supaya agent bisa belajar dari potongan 30 detik.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Menjawab kekhawatiran 33 jam: RL tidak dilatih real-time. 16 arena x 20 kali lebih cepat, jadi cukup beberapa jam. Tiap arena menyetor pengalaman ke satu otak yang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menjawab masukan 'RL tidak kelihatan hasilnya': dengan versi awal dan versi akhir melawan lawan yang sama, peningkatannya bisa diukur dan diperlihatkan.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71C"/>
        </a:solidFill>
      </p:bgPr>
    </p:bg>
    <p:spTree>
      <p:nvGrpSpPr>
        <p:cNvPr id="1" name=""/>
        <p:cNvGrpSpPr/>
        <p:nvPr/>
      </p:nvGrpSpPr>
      <p:grpSpPr>
        <a:xfrm>
          <a:off x="0" y="0"/>
          <a:ext cx="0" cy="0"/>
          <a:chOff x="0" y="0"/>
          <a:chExt cx="0" cy="0"/>
        </a:xfrm>
      </p:grpSpPr>
      <p:sp>
        <p:nvSpPr>
          <p:cNvPr id="2" name="Shape 0"/>
          <p:cNvSpPr/>
          <p:nvPr/>
        </p:nvSpPr>
        <p:spPr>
          <a:xfrm>
            <a:off x="5394960" y="822960"/>
            <a:ext cx="3291840" cy="3291840"/>
          </a:xfrm>
          <a:prstGeom prst="rect">
            <a:avLst/>
          </a:prstGeom>
          <a:solidFill>
            <a:srgbClr val="22252D"/>
          </a:solidFill>
          <a:ln w="38100">
            <a:solidFill>
              <a:srgbClr val="A9AFB9"/>
            </a:solidFill>
            <a:prstDash val="solid"/>
          </a:ln>
        </p:spPr>
      </p:sp>
      <p:sp>
        <p:nvSpPr>
          <p:cNvPr id="3" name="Shape 1"/>
          <p:cNvSpPr/>
          <p:nvPr/>
        </p:nvSpPr>
        <p:spPr>
          <a:xfrm>
            <a:off x="5760720" y="1280160"/>
            <a:ext cx="640080" cy="164592"/>
          </a:xfrm>
          <a:prstGeom prst="rect">
            <a:avLst/>
          </a:prstGeom>
          <a:solidFill>
            <a:srgbClr val="4A4F59"/>
          </a:solidFill>
          <a:ln w="12700">
            <a:solidFill>
              <a:srgbClr val="4A4F59"/>
            </a:solidFill>
            <a:prstDash val="solid"/>
          </a:ln>
        </p:spPr>
      </p:sp>
      <p:sp>
        <p:nvSpPr>
          <p:cNvPr id="4" name="Shape 2"/>
          <p:cNvSpPr/>
          <p:nvPr/>
        </p:nvSpPr>
        <p:spPr>
          <a:xfrm>
            <a:off x="7680960" y="1280160"/>
            <a:ext cx="640080" cy="164592"/>
          </a:xfrm>
          <a:prstGeom prst="rect">
            <a:avLst/>
          </a:prstGeom>
          <a:solidFill>
            <a:srgbClr val="4A4F59"/>
          </a:solidFill>
          <a:ln w="12700">
            <a:solidFill>
              <a:srgbClr val="4A4F59"/>
            </a:solidFill>
            <a:prstDash val="solid"/>
          </a:ln>
        </p:spPr>
      </p:sp>
      <p:sp>
        <p:nvSpPr>
          <p:cNvPr id="5" name="Shape 3"/>
          <p:cNvSpPr/>
          <p:nvPr/>
        </p:nvSpPr>
        <p:spPr>
          <a:xfrm>
            <a:off x="5760720" y="3474720"/>
            <a:ext cx="640080" cy="164592"/>
          </a:xfrm>
          <a:prstGeom prst="rect">
            <a:avLst/>
          </a:prstGeom>
          <a:solidFill>
            <a:srgbClr val="4A4F59"/>
          </a:solidFill>
          <a:ln w="12700">
            <a:solidFill>
              <a:srgbClr val="4A4F59"/>
            </a:solidFill>
            <a:prstDash val="solid"/>
          </a:ln>
        </p:spPr>
      </p:sp>
      <p:sp>
        <p:nvSpPr>
          <p:cNvPr id="6" name="Shape 4"/>
          <p:cNvSpPr/>
          <p:nvPr/>
        </p:nvSpPr>
        <p:spPr>
          <a:xfrm>
            <a:off x="7680960" y="3474720"/>
            <a:ext cx="640080" cy="164592"/>
          </a:xfrm>
          <a:prstGeom prst="rect">
            <a:avLst/>
          </a:prstGeom>
          <a:solidFill>
            <a:srgbClr val="4A4F59"/>
          </a:solidFill>
          <a:ln w="12700">
            <a:solidFill>
              <a:srgbClr val="4A4F59"/>
            </a:solidFill>
            <a:prstDash val="solid"/>
          </a:ln>
        </p:spPr>
      </p:sp>
      <p:sp>
        <p:nvSpPr>
          <p:cNvPr id="7" name="Shape 5"/>
          <p:cNvSpPr/>
          <p:nvPr/>
        </p:nvSpPr>
        <p:spPr>
          <a:xfrm>
            <a:off x="6217920" y="2011680"/>
            <a:ext cx="164592" cy="640080"/>
          </a:xfrm>
          <a:prstGeom prst="rect">
            <a:avLst/>
          </a:prstGeom>
          <a:solidFill>
            <a:srgbClr val="4A4F59"/>
          </a:solidFill>
          <a:ln w="12700">
            <a:solidFill>
              <a:srgbClr val="4A4F59"/>
            </a:solidFill>
            <a:prstDash val="solid"/>
          </a:ln>
        </p:spPr>
      </p:sp>
      <p:sp>
        <p:nvSpPr>
          <p:cNvPr id="8" name="Shape 6"/>
          <p:cNvSpPr/>
          <p:nvPr/>
        </p:nvSpPr>
        <p:spPr>
          <a:xfrm>
            <a:off x="7680960" y="2286000"/>
            <a:ext cx="164592" cy="640080"/>
          </a:xfrm>
          <a:prstGeom prst="rect">
            <a:avLst/>
          </a:prstGeom>
          <a:solidFill>
            <a:srgbClr val="4A4F59"/>
          </a:solidFill>
          <a:ln w="12700">
            <a:solidFill>
              <a:srgbClr val="4A4F59"/>
            </a:solidFill>
            <a:prstDash val="solid"/>
          </a:ln>
        </p:spPr>
      </p:sp>
      <p:sp>
        <p:nvSpPr>
          <p:cNvPr id="9" name="Shape 7"/>
          <p:cNvSpPr/>
          <p:nvPr/>
        </p:nvSpPr>
        <p:spPr>
          <a:xfrm>
            <a:off x="6720840" y="2148840"/>
            <a:ext cx="640080" cy="640080"/>
          </a:xfrm>
          <a:prstGeom prst="rect">
            <a:avLst/>
          </a:prstGeom>
          <a:ln w="19050">
            <a:solidFill>
              <a:srgbClr val="A9AFB9"/>
            </a:solidFill>
            <a:prstDash val="dash"/>
          </a:ln>
        </p:spPr>
      </p:sp>
      <p:sp>
        <p:nvSpPr>
          <p:cNvPr id="10" name="Shape 8"/>
          <p:cNvSpPr/>
          <p:nvPr/>
        </p:nvSpPr>
        <p:spPr>
          <a:xfrm>
            <a:off x="5321808" y="2148840"/>
            <a:ext cx="109728" cy="640080"/>
          </a:xfrm>
          <a:prstGeom prst="rect">
            <a:avLst/>
          </a:prstGeom>
          <a:solidFill>
            <a:srgbClr val="1F9D6B"/>
          </a:solidFill>
          <a:ln w="12700">
            <a:solidFill>
              <a:srgbClr val="1F9D6B"/>
            </a:solidFill>
            <a:prstDash val="solid"/>
          </a:ln>
        </p:spPr>
      </p:sp>
      <p:sp>
        <p:nvSpPr>
          <p:cNvPr id="11" name="Shape 9"/>
          <p:cNvSpPr/>
          <p:nvPr/>
        </p:nvSpPr>
        <p:spPr>
          <a:xfrm>
            <a:off x="6903720" y="3611880"/>
            <a:ext cx="274320" cy="246888"/>
          </a:xfrm>
          <a:prstGeom prst="triangle">
            <a:avLst/>
          </a:prstGeom>
          <a:solidFill>
            <a:srgbClr val="7A45B8"/>
          </a:solidFill>
          <a:ln w="12700">
            <a:solidFill>
              <a:srgbClr val="7A45B8"/>
            </a:solidFill>
            <a:prstDash val="solid"/>
          </a:ln>
        </p:spPr>
      </p:sp>
      <p:sp>
        <p:nvSpPr>
          <p:cNvPr id="12" name="Shape 10"/>
          <p:cNvSpPr/>
          <p:nvPr/>
        </p:nvSpPr>
        <p:spPr>
          <a:xfrm>
            <a:off x="5669280" y="1005840"/>
            <a:ext cx="219456" cy="219456"/>
          </a:xfrm>
          <a:prstGeom prst="ellipse">
            <a:avLst/>
          </a:prstGeom>
          <a:solidFill>
            <a:srgbClr val="2F6FDB"/>
          </a:solidFill>
          <a:ln w="25400">
            <a:solidFill>
              <a:srgbClr val="22252D"/>
            </a:solidFill>
            <a:prstDash val="solid"/>
          </a:ln>
        </p:spPr>
      </p:sp>
      <p:sp>
        <p:nvSpPr>
          <p:cNvPr id="13" name="Shape 11"/>
          <p:cNvSpPr/>
          <p:nvPr/>
        </p:nvSpPr>
        <p:spPr>
          <a:xfrm>
            <a:off x="8229600" y="1005840"/>
            <a:ext cx="219456" cy="219456"/>
          </a:xfrm>
          <a:prstGeom prst="ellipse">
            <a:avLst/>
          </a:prstGeom>
          <a:solidFill>
            <a:srgbClr val="D5433B"/>
          </a:solidFill>
          <a:ln w="25400">
            <a:solidFill>
              <a:srgbClr val="22252D"/>
            </a:solidFill>
            <a:prstDash val="solid"/>
          </a:ln>
        </p:spPr>
      </p:sp>
      <p:sp>
        <p:nvSpPr>
          <p:cNvPr id="14" name="Shape 12"/>
          <p:cNvSpPr/>
          <p:nvPr/>
        </p:nvSpPr>
        <p:spPr>
          <a:xfrm>
            <a:off x="6949440" y="1005840"/>
            <a:ext cx="219456" cy="219456"/>
          </a:xfrm>
          <a:prstGeom prst="ellipse">
            <a:avLst/>
          </a:prstGeom>
          <a:solidFill>
            <a:srgbClr val="E0A500"/>
          </a:solidFill>
          <a:ln w="25400">
            <a:solidFill>
              <a:srgbClr val="22252D"/>
            </a:solidFill>
            <a:prstDash val="solid"/>
          </a:ln>
        </p:spPr>
      </p:sp>
      <p:sp>
        <p:nvSpPr>
          <p:cNvPr id="15" name="Shape 13"/>
          <p:cNvSpPr/>
          <p:nvPr/>
        </p:nvSpPr>
        <p:spPr>
          <a:xfrm>
            <a:off x="7223760" y="3200400"/>
            <a:ext cx="109728" cy="109728"/>
          </a:xfrm>
          <a:prstGeom prst="ellipse">
            <a:avLst/>
          </a:prstGeom>
          <a:solidFill>
            <a:srgbClr val="2F6FDB"/>
          </a:solidFill>
          <a:ln w="12700">
            <a:solidFill>
              <a:srgbClr val="2F6FDB"/>
            </a:solidFill>
            <a:prstDash val="solid"/>
          </a:ln>
        </p:spPr>
      </p:sp>
      <p:sp>
        <p:nvSpPr>
          <p:cNvPr id="16" name="Shape 14"/>
          <p:cNvSpPr/>
          <p:nvPr/>
        </p:nvSpPr>
        <p:spPr>
          <a:xfrm>
            <a:off x="6400800" y="1691640"/>
            <a:ext cx="109728" cy="109728"/>
          </a:xfrm>
          <a:prstGeom prst="ellipse">
            <a:avLst/>
          </a:prstGeom>
          <a:solidFill>
            <a:srgbClr val="D5433B"/>
          </a:solidFill>
          <a:ln w="12700">
            <a:solidFill>
              <a:srgbClr val="D5433B"/>
            </a:solidFill>
            <a:prstDash val="solid"/>
          </a:ln>
        </p:spPr>
      </p:sp>
      <p:sp>
        <p:nvSpPr>
          <p:cNvPr id="17" name="Shape 15"/>
          <p:cNvSpPr/>
          <p:nvPr/>
        </p:nvSpPr>
        <p:spPr>
          <a:xfrm>
            <a:off x="8183880" y="3017520"/>
            <a:ext cx="109728" cy="109728"/>
          </a:xfrm>
          <a:prstGeom prst="ellipse">
            <a:avLst/>
          </a:prstGeom>
          <a:solidFill>
            <a:srgbClr val="E0A500"/>
          </a:solidFill>
          <a:ln w="12700">
            <a:solidFill>
              <a:srgbClr val="E0A500"/>
            </a:solidFill>
            <a:prstDash val="solid"/>
          </a:ln>
        </p:spPr>
      </p:sp>
      <p:sp>
        <p:nvSpPr>
          <p:cNvPr id="18" name="Text 16"/>
          <p:cNvSpPr txBox="1"/>
          <p:nvPr/>
        </p:nvSpPr>
        <p:spPr>
          <a:xfrm>
            <a:off x="457200" y="1097280"/>
            <a:ext cx="4572000" cy="274320"/>
          </a:xfrm>
          <a:prstGeom prst="rect">
            <a:avLst/>
          </a:prstGeom>
          <a:noFill/>
          <a:ln/>
        </p:spPr>
        <p:txBody>
          <a:bodyPr wrap="square" lIns="0" tIns="0" rIns="0" bIns="0" rtlCol="0" anchor="ctr"/>
          <a:lstStyle/>
          <a:p>
            <a:pPr indent="0" marL="0">
              <a:buNone/>
            </a:pPr>
            <a:r>
              <a:rPr lang="en-US" sz="1200" b="1" spc="300" kern="0" dirty="0">
                <a:solidFill>
                  <a:srgbClr val="A9AFB9"/>
                </a:solidFill>
                <a:latin typeface="Calibri" pitchFamily="34" charset="0"/>
                <a:ea typeface="Calibri" pitchFamily="34" charset="-122"/>
                <a:cs typeface="Calibri" pitchFamily="34" charset="-120"/>
              </a:rPr>
              <a:t>AI FOR GAME DEVELOPMENT · KONSEP GAME</a:t>
            </a:r>
            <a:endParaRPr lang="en-US" sz="1200" dirty="0"/>
          </a:p>
        </p:txBody>
      </p:sp>
      <p:sp>
        <p:nvSpPr>
          <p:cNvPr id="19" name="Text 17"/>
          <p:cNvSpPr txBox="1"/>
          <p:nvPr/>
        </p:nvSpPr>
        <p:spPr>
          <a:xfrm>
            <a:off x="457200" y="1417320"/>
            <a:ext cx="4846320" cy="914400"/>
          </a:xfrm>
          <a:prstGeom prst="rect">
            <a:avLst/>
          </a:prstGeom>
          <a:noFill/>
          <a:ln/>
        </p:spPr>
        <p:txBody>
          <a:bodyPr wrap="square" lIns="0" tIns="0" rIns="0" bIns="0" rtlCol="0" anchor="ctr"/>
          <a:lstStyle/>
          <a:p>
            <a:pPr indent="0" marL="0">
              <a:buNone/>
            </a:pPr>
            <a:r>
              <a:rPr lang="en-US" sz="5400" dirty="0">
                <a:solidFill>
                  <a:srgbClr val="FFFFFF"/>
                </a:solidFill>
                <a:latin typeface="Arial Black" pitchFamily="34" charset="0"/>
                <a:ea typeface="Arial Black" pitchFamily="34" charset="-122"/>
                <a:cs typeface="Arial Black" pitchFamily="34" charset="-120"/>
              </a:rPr>
              <a:t>TAG ARENA</a:t>
            </a:r>
            <a:endParaRPr lang="en-US" sz="5400" dirty="0"/>
          </a:p>
        </p:txBody>
      </p:sp>
      <p:sp>
        <p:nvSpPr>
          <p:cNvPr id="20" name="Text 18"/>
          <p:cNvSpPr txBox="1"/>
          <p:nvPr/>
        </p:nvSpPr>
        <p:spPr>
          <a:xfrm>
            <a:off x="457200" y="2331720"/>
            <a:ext cx="484632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1 Hunter vs 3 Prey</a:t>
            </a:r>
            <a:endParaRPr lang="en-US" sz="2400" dirty="0"/>
          </a:p>
        </p:txBody>
      </p:sp>
      <p:sp>
        <p:nvSpPr>
          <p:cNvPr id="21" name="Text 19"/>
          <p:cNvSpPr txBox="1"/>
          <p:nvPr/>
        </p:nvSpPr>
        <p:spPr>
          <a:xfrm>
            <a:off x="457200" y="2788920"/>
            <a:ext cx="4754880" cy="640080"/>
          </a:xfrm>
          <a:prstGeom prst="rect">
            <a:avLst/>
          </a:prstGeom>
          <a:noFill/>
          <a:ln/>
        </p:spPr>
        <p:txBody>
          <a:bodyPr wrap="square" lIns="0" tIns="0" rIns="0" bIns="0" rtlCol="0" anchor="ctr"/>
          <a:lstStyle/>
          <a:p>
            <a:pPr indent="0" marL="0">
              <a:buNone/>
            </a:pPr>
            <a:r>
              <a:rPr lang="en-US" sz="1600" dirty="0">
                <a:solidFill>
                  <a:srgbClr val="A9AFB9"/>
                </a:solidFill>
                <a:latin typeface="Calibri" pitchFamily="34" charset="0"/>
                <a:ea typeface="Calibri" pitchFamily="34" charset="-122"/>
                <a:cs typeface="Calibri" pitchFamily="34" charset="-120"/>
              </a:rPr>
              <a:t>Reinforcement Learning yang belajar melawan Behavior Tree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10800000">
            <a:off x="7818120" y="411480"/>
            <a:ext cx="201168" cy="182880"/>
          </a:xfrm>
          <a:prstGeom prst="triangle">
            <a:avLst/>
          </a:prstGeom>
          <a:solidFill>
            <a:srgbClr val="7A45B8"/>
          </a:solidFill>
          <a:ln w="12700">
            <a:solidFill>
              <a:srgbClr val="7A45B8"/>
            </a:solidFill>
            <a:prstDash val="solid"/>
          </a:ln>
        </p:spPr>
      </p:sp>
      <p:sp>
        <p:nvSpPr>
          <p:cNvPr id="3" name="Shape 1"/>
          <p:cNvSpPr/>
          <p:nvPr/>
        </p:nvSpPr>
        <p:spPr>
          <a:xfrm>
            <a:off x="8110728" y="411480"/>
            <a:ext cx="182880" cy="182880"/>
          </a:xfrm>
          <a:prstGeom prst="ellipse">
            <a:avLst/>
          </a:prstGeom>
          <a:solidFill>
            <a:srgbClr val="2F6FDB"/>
          </a:solidFill>
          <a:ln w="12700">
            <a:solidFill>
              <a:srgbClr val="2F6FDB"/>
            </a:solidFill>
            <a:prstDash val="solid"/>
          </a:ln>
        </p:spPr>
      </p:sp>
      <p:sp>
        <p:nvSpPr>
          <p:cNvPr id="4" name="Shape 2"/>
          <p:cNvSpPr/>
          <p:nvPr/>
        </p:nvSpPr>
        <p:spPr>
          <a:xfrm>
            <a:off x="8385048" y="411480"/>
            <a:ext cx="182880" cy="182880"/>
          </a:xfrm>
          <a:prstGeom prst="ellipse">
            <a:avLst/>
          </a:prstGeom>
          <a:solidFill>
            <a:srgbClr val="D5433B"/>
          </a:solidFill>
          <a:ln w="12700">
            <a:solidFill>
              <a:srgbClr val="D5433B"/>
            </a:solidFill>
            <a:prstDash val="solid"/>
          </a:ln>
        </p:spPr>
      </p:sp>
      <p:sp>
        <p:nvSpPr>
          <p:cNvPr id="5" name="Shape 3"/>
          <p:cNvSpPr/>
          <p:nvPr/>
        </p:nvSpPr>
        <p:spPr>
          <a:xfrm>
            <a:off x="8659368" y="411480"/>
            <a:ext cx="182880" cy="182880"/>
          </a:xfrm>
          <a:prstGeom prst="ellipse">
            <a:avLst/>
          </a:prstGeom>
          <a:solidFill>
            <a:srgbClr val="E0A500"/>
          </a:solidFill>
          <a:ln w="12700">
            <a:solidFill>
              <a:srgbClr val="E0A500"/>
            </a:solidFill>
            <a:prstDash val="solid"/>
          </a:ln>
        </p:spPr>
      </p:sp>
      <p:sp>
        <p:nvSpPr>
          <p:cNvPr id="6" name="Text 4"/>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dirty="0">
                <a:solidFill>
                  <a:srgbClr val="1B1E24"/>
                </a:solidFill>
                <a:latin typeface="Arial Black" pitchFamily="34" charset="0"/>
                <a:ea typeface="Arial Black" pitchFamily="34" charset="-122"/>
                <a:cs typeface="Arial Black" pitchFamily="34" charset="-120"/>
              </a:rPr>
              <a:t>Ide Game</a:t>
            </a:r>
            <a:endParaRPr lang="en-US" sz="2800" dirty="0"/>
          </a:p>
        </p:txBody>
      </p:sp>
      <p:sp>
        <p:nvSpPr>
          <p:cNvPr id="7" name="Text 5"/>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400" dirty="0">
                <a:solidFill>
                  <a:srgbClr val="5E6570"/>
                </a:solidFill>
                <a:latin typeface="Calibri" pitchFamily="34" charset="0"/>
                <a:ea typeface="Calibri" pitchFamily="34" charset="-122"/>
                <a:cs typeface="Calibri" pitchFamily="34" charset="-120"/>
              </a:rPr>
              <a:t>Terinspirasi dari video parkour tag kompetitif</a:t>
            </a:r>
            <a:endParaRPr lang="en-US" sz="1400" dirty="0"/>
          </a:p>
        </p:txBody>
      </p:sp>
      <p:sp>
        <p:nvSpPr>
          <p:cNvPr id="8" name="Text 6"/>
          <p:cNvSpPr txBox="1"/>
          <p:nvPr/>
        </p:nvSpPr>
        <p:spPr>
          <a:xfrm>
            <a:off x="457200" y="1417320"/>
            <a:ext cx="4206240" cy="2377440"/>
          </a:xfrm>
          <a:prstGeom prst="rect">
            <a:avLst/>
          </a:prstGeom>
          <a:noFill/>
          <a:ln/>
        </p:spPr>
        <p:txBody>
          <a:bodyPr wrap="square" lIns="0" tIns="0" rIns="0" bIns="0" rtlCol="0" anchor="t"/>
          <a:lstStyle/>
          <a:p>
            <a:pPr marL="177800" indent="-177800">
              <a:spcAft>
                <a:spcPts val="600"/>
              </a:spcAft>
              <a:buSzPct val="100000"/>
              <a:buChar char="•"/>
            </a:pPr>
            <a:r>
              <a:rPr lang="en-US" sz="1600" b="1" dirty="0">
                <a:solidFill>
                  <a:srgbClr val="1B1E24"/>
                </a:solidFill>
                <a:latin typeface="Calibri" pitchFamily="34" charset="0"/>
                <a:ea typeface="Calibri" pitchFamily="34" charset="-122"/>
                <a:cs typeface="Calibri" pitchFamily="34" charset="-120"/>
              </a:rPr>
              <a:t>Asimetris: </a:t>
            </a:r>
            <a:pPr indent="0" marL="0">
              <a:spcAft>
                <a:spcPts val="600"/>
              </a:spcAft>
              <a:buNone/>
            </a:pPr>
            <a:r>
              <a:rPr lang="en-US" sz="1600" dirty="0">
                <a:solidFill>
                  <a:srgbClr val="1B1E24"/>
                </a:solidFill>
                <a:latin typeface="Calibri" pitchFamily="34" charset="0"/>
                <a:ea typeface="Calibri" pitchFamily="34" charset="-122"/>
                <a:cs typeface="Calibri" pitchFamily="34" charset="-120"/>
              </a:rPr>
              <a:t>1 Hunter mengejar 3 Prey di arena kecil penuh rintangan.</a:t>
            </a:r>
            <a:endParaRPr lang="en-US" sz="1600" dirty="0"/>
          </a:p>
          <a:p>
            <a:pPr marL="177800" indent="-177800">
              <a:spcAft>
                <a:spcPts val="600"/>
              </a:spcAft>
              <a:buSzPct val="100000"/>
              <a:buChar char="•"/>
            </a:pPr>
            <a:r>
              <a:rPr lang="en-US" sz="1600" b="1" dirty="0">
                <a:solidFill>
                  <a:srgbClr val="1B1E24"/>
                </a:solidFill>
                <a:latin typeface="Calibri" pitchFamily="34" charset="0"/>
                <a:ea typeface="Calibri" pitchFamily="34" charset="-122"/>
                <a:cs typeface="Calibri" pitchFamily="34" charset="-120"/>
              </a:rPr>
              <a:t>Prey punya misi: </a:t>
            </a:r>
            <a:pPr indent="0" marL="0">
              <a:spcAft>
                <a:spcPts val="600"/>
              </a:spcAft>
              <a:buNone/>
            </a:pPr>
            <a:r>
              <a:rPr lang="en-US" sz="1600" dirty="0">
                <a:solidFill>
                  <a:srgbClr val="1B1E24"/>
                </a:solidFill>
                <a:latin typeface="Calibri" pitchFamily="34" charset="0"/>
                <a:ea typeface="Calibri" pitchFamily="34" charset="-122"/>
                <a:cs typeface="Calibri" pitchFamily="34" charset="-120"/>
              </a:rPr>
              <a:t>kumpulkan orb berwarna untuk membuka gerbang, lalu kabur.</a:t>
            </a:r>
            <a:endParaRPr lang="en-US" sz="1600" dirty="0"/>
          </a:p>
          <a:p>
            <a:pPr marL="177800" indent="-177800">
              <a:spcAft>
                <a:spcPts val="600"/>
              </a:spcAft>
              <a:buSzPct val="100000"/>
              <a:buChar char="•"/>
            </a:pPr>
            <a:r>
              <a:rPr lang="en-US" sz="1600" b="1" dirty="0">
                <a:solidFill>
                  <a:srgbClr val="1B1E24"/>
                </a:solidFill>
                <a:latin typeface="Calibri" pitchFamily="34" charset="0"/>
                <a:ea typeface="Calibri" pitchFamily="34" charset="-122"/>
                <a:cs typeface="Calibri" pitchFamily="34" charset="-120"/>
              </a:rPr>
              <a:t>Hunter: </a:t>
            </a:r>
            <a:pPr indent="0" marL="0">
              <a:spcAft>
                <a:spcPts val="600"/>
              </a:spcAft>
              <a:buNone/>
            </a:pPr>
            <a:r>
              <a:rPr lang="en-US" sz="1600" dirty="0">
                <a:solidFill>
                  <a:srgbClr val="1B1E24"/>
                </a:solidFill>
                <a:latin typeface="Calibri" pitchFamily="34" charset="0"/>
                <a:ea typeface="Calibri" pitchFamily="34" charset="-122"/>
                <a:cs typeface="Calibri" pitchFamily="34" charset="-120"/>
              </a:rPr>
              <a:t>tangkap Prey sebelum mereka berhasil kabur.</a:t>
            </a:r>
            <a:endParaRPr lang="en-US" sz="1600" dirty="0"/>
          </a:p>
          <a:p>
            <a:pPr marL="177800" indent="-177800">
              <a:spcAft>
                <a:spcPts val="600"/>
              </a:spcAft>
              <a:buSzPct val="100000"/>
              <a:buChar char="•"/>
            </a:pPr>
            <a:r>
              <a:rPr lang="en-US" sz="1600" b="1" dirty="0">
                <a:solidFill>
                  <a:srgbClr val="1B1E24"/>
                </a:solidFill>
                <a:latin typeface="Calibri" pitchFamily="34" charset="0"/>
                <a:ea typeface="Calibri" pitchFamily="34" charset="-122"/>
                <a:cs typeface="Calibri" pitchFamily="34" charset="-120"/>
              </a:rPr>
              <a:t>Durasi: </a:t>
            </a:r>
            <a:pPr indent="0" marL="0">
              <a:spcAft>
                <a:spcPts val="600"/>
              </a:spcAft>
              <a:buNone/>
            </a:pPr>
            <a:r>
              <a:rPr lang="en-US" sz="1600" dirty="0">
                <a:solidFill>
                  <a:srgbClr val="1B1E24"/>
                </a:solidFill>
                <a:latin typeface="Calibri" pitchFamily="34" charset="0"/>
                <a:ea typeface="Calibri" pitchFamily="34" charset="-122"/>
                <a:cs typeface="Calibri" pitchFamily="34" charset="-120"/>
              </a:rPr>
              <a:t>3 menit per pertandingan, kamera top-down.</a:t>
            </a:r>
            <a:endParaRPr lang="en-US" sz="1600" dirty="0"/>
          </a:p>
        </p:txBody>
      </p:sp>
      <p:sp>
        <p:nvSpPr>
          <p:cNvPr id="9" name="Shape 7"/>
          <p:cNvSpPr/>
          <p:nvPr/>
        </p:nvSpPr>
        <p:spPr>
          <a:xfrm>
            <a:off x="5120640" y="1417320"/>
            <a:ext cx="3566160" cy="1005840"/>
          </a:xfrm>
          <a:prstGeom prst="roundRect">
            <a:avLst>
              <a:gd name="adj" fmla="val 7273"/>
            </a:avLst>
          </a:prstGeom>
          <a:solidFill>
            <a:srgbClr val="F1F2F5"/>
          </a:solidFill>
          <a:ln w="12700">
            <a:solidFill>
              <a:srgbClr val="F1F2F5"/>
            </a:solidFill>
            <a:prstDash val="solid"/>
          </a:ln>
        </p:spPr>
      </p:sp>
      <p:sp>
        <p:nvSpPr>
          <p:cNvPr id="10" name="Shape 8"/>
          <p:cNvSpPr/>
          <p:nvPr/>
        </p:nvSpPr>
        <p:spPr>
          <a:xfrm>
            <a:off x="5349240" y="1691640"/>
            <a:ext cx="457200" cy="457200"/>
          </a:xfrm>
          <a:prstGeom prst="ellipse">
            <a:avLst/>
          </a:prstGeom>
          <a:solidFill>
            <a:srgbClr val="7A45B8"/>
          </a:solidFill>
          <a:ln w="12700">
            <a:solidFill>
              <a:srgbClr val="7A45B8"/>
            </a:solidFill>
            <a:prstDash val="solid"/>
          </a:ln>
        </p:spPr>
      </p:sp>
      <p:sp>
        <p:nvSpPr>
          <p:cNvPr id="11" name="Text 9"/>
          <p:cNvSpPr txBox="1"/>
          <p:nvPr/>
        </p:nvSpPr>
        <p:spPr>
          <a:xfrm>
            <a:off x="5349240" y="1691640"/>
            <a:ext cx="457200" cy="457200"/>
          </a:xfrm>
          <a:prstGeom prst="rect">
            <a:avLst/>
          </a:prstGeom>
          <a:no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H</a:t>
            </a:r>
            <a:endParaRPr lang="en-US" sz="1300" dirty="0"/>
          </a:p>
        </p:txBody>
      </p:sp>
      <p:sp>
        <p:nvSpPr>
          <p:cNvPr id="12" name="Text 10"/>
          <p:cNvSpPr txBox="1"/>
          <p:nvPr/>
        </p:nvSpPr>
        <p:spPr>
          <a:xfrm>
            <a:off x="5989320" y="1600200"/>
            <a:ext cx="2560320" cy="365760"/>
          </a:xfrm>
          <a:prstGeom prst="rect">
            <a:avLst/>
          </a:prstGeom>
          <a:noFill/>
          <a:ln/>
        </p:spPr>
        <p:txBody>
          <a:bodyPr wrap="square" lIns="0" tIns="0" rIns="0" bIns="0" rtlCol="0" anchor="ctr"/>
          <a:lstStyle/>
          <a:p>
            <a:pPr indent="0" marL="0">
              <a:buNone/>
            </a:pPr>
            <a:r>
              <a:rPr lang="en-US" sz="1800" dirty="0">
                <a:solidFill>
                  <a:srgbClr val="1B1E24"/>
                </a:solidFill>
                <a:latin typeface="Arial Black" pitchFamily="34" charset="0"/>
                <a:ea typeface="Arial Black" pitchFamily="34" charset="-122"/>
                <a:cs typeface="Arial Black" pitchFamily="34" charset="-120"/>
              </a:rPr>
              <a:t>Hunter ×1</a:t>
            </a:r>
            <a:endParaRPr lang="en-US" sz="1800" dirty="0"/>
          </a:p>
        </p:txBody>
      </p:sp>
      <p:sp>
        <p:nvSpPr>
          <p:cNvPr id="13" name="Text 11"/>
          <p:cNvSpPr txBox="1"/>
          <p:nvPr/>
        </p:nvSpPr>
        <p:spPr>
          <a:xfrm>
            <a:off x="5989320" y="1965960"/>
            <a:ext cx="2560320" cy="274320"/>
          </a:xfrm>
          <a:prstGeom prst="rect">
            <a:avLst/>
          </a:prstGeom>
          <a:noFill/>
          <a:ln/>
        </p:spPr>
        <p:txBody>
          <a:bodyPr wrap="square" lIns="0" tIns="0" rIns="0" bIns="0" rtlCol="0" anchor="ctr"/>
          <a:lstStyle/>
          <a:p>
            <a:pPr indent="0" marL="0">
              <a:buNone/>
            </a:pPr>
            <a:r>
              <a:rPr lang="en-US" sz="1300" dirty="0">
                <a:solidFill>
                  <a:srgbClr val="5E6570"/>
                </a:solidFill>
                <a:latin typeface="Calibri" pitchFamily="34" charset="0"/>
                <a:ea typeface="Calibri" pitchFamily="34" charset="-122"/>
                <a:cs typeface="Calibri" pitchFamily="34" charset="-120"/>
              </a:rPr>
              <a:t>Lebih cepat, punya dash</a:t>
            </a:r>
            <a:endParaRPr lang="en-US" sz="1300" dirty="0"/>
          </a:p>
        </p:txBody>
      </p:sp>
      <p:sp>
        <p:nvSpPr>
          <p:cNvPr id="14" name="Shape 12"/>
          <p:cNvSpPr/>
          <p:nvPr/>
        </p:nvSpPr>
        <p:spPr>
          <a:xfrm>
            <a:off x="5120640" y="2606040"/>
            <a:ext cx="3566160" cy="1005840"/>
          </a:xfrm>
          <a:prstGeom prst="roundRect">
            <a:avLst>
              <a:gd name="adj" fmla="val 7273"/>
            </a:avLst>
          </a:prstGeom>
          <a:solidFill>
            <a:srgbClr val="F1F2F5"/>
          </a:solidFill>
          <a:ln w="12700">
            <a:solidFill>
              <a:srgbClr val="F1F2F5"/>
            </a:solidFill>
            <a:prstDash val="solid"/>
          </a:ln>
        </p:spPr>
      </p:sp>
      <p:sp>
        <p:nvSpPr>
          <p:cNvPr id="15" name="Shape 13"/>
          <p:cNvSpPr/>
          <p:nvPr/>
        </p:nvSpPr>
        <p:spPr>
          <a:xfrm>
            <a:off x="5349240" y="2880360"/>
            <a:ext cx="457200" cy="457200"/>
          </a:xfrm>
          <a:prstGeom prst="ellipse">
            <a:avLst/>
          </a:prstGeom>
          <a:solidFill>
            <a:srgbClr val="2F6FDB"/>
          </a:solidFill>
          <a:ln w="12700">
            <a:solidFill>
              <a:srgbClr val="2F6FDB"/>
            </a:solidFill>
            <a:prstDash val="solid"/>
          </a:ln>
        </p:spPr>
      </p:sp>
      <p:sp>
        <p:nvSpPr>
          <p:cNvPr id="16" name="Text 14"/>
          <p:cNvSpPr txBox="1"/>
          <p:nvPr/>
        </p:nvSpPr>
        <p:spPr>
          <a:xfrm>
            <a:off x="5349240" y="2880360"/>
            <a:ext cx="457200" cy="457200"/>
          </a:xfrm>
          <a:prstGeom prst="rect">
            <a:avLst/>
          </a:prstGeom>
          <a:no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P</a:t>
            </a:r>
            <a:endParaRPr lang="en-US" sz="1300" dirty="0"/>
          </a:p>
        </p:txBody>
      </p:sp>
      <p:sp>
        <p:nvSpPr>
          <p:cNvPr id="17" name="Text 15"/>
          <p:cNvSpPr txBox="1"/>
          <p:nvPr/>
        </p:nvSpPr>
        <p:spPr>
          <a:xfrm>
            <a:off x="5989320" y="2788920"/>
            <a:ext cx="2560320" cy="365760"/>
          </a:xfrm>
          <a:prstGeom prst="rect">
            <a:avLst/>
          </a:prstGeom>
          <a:noFill/>
          <a:ln/>
        </p:spPr>
        <p:txBody>
          <a:bodyPr wrap="square" lIns="0" tIns="0" rIns="0" bIns="0" rtlCol="0" anchor="ctr"/>
          <a:lstStyle/>
          <a:p>
            <a:pPr indent="0" marL="0">
              <a:buNone/>
            </a:pPr>
            <a:r>
              <a:rPr lang="en-US" sz="1800" dirty="0">
                <a:solidFill>
                  <a:srgbClr val="1B1E24"/>
                </a:solidFill>
                <a:latin typeface="Arial Black" pitchFamily="34" charset="0"/>
                <a:ea typeface="Arial Black" pitchFamily="34" charset="-122"/>
                <a:cs typeface="Arial Black" pitchFamily="34" charset="-120"/>
              </a:rPr>
              <a:t>Prey ×3</a:t>
            </a:r>
            <a:endParaRPr lang="en-US" sz="1800" dirty="0"/>
          </a:p>
        </p:txBody>
      </p:sp>
      <p:sp>
        <p:nvSpPr>
          <p:cNvPr id="18" name="Text 16"/>
          <p:cNvSpPr txBox="1"/>
          <p:nvPr/>
        </p:nvSpPr>
        <p:spPr>
          <a:xfrm>
            <a:off x="5989320" y="3154680"/>
            <a:ext cx="2560320" cy="274320"/>
          </a:xfrm>
          <a:prstGeom prst="rect">
            <a:avLst/>
          </a:prstGeom>
          <a:noFill/>
          <a:ln/>
        </p:spPr>
        <p:txBody>
          <a:bodyPr wrap="square" lIns="0" tIns="0" rIns="0" bIns="0" rtlCol="0" anchor="ctr"/>
          <a:lstStyle/>
          <a:p>
            <a:pPr indent="0" marL="0">
              <a:buNone/>
            </a:pPr>
            <a:r>
              <a:rPr lang="en-US" sz="1300" dirty="0">
                <a:solidFill>
                  <a:srgbClr val="5E6570"/>
                </a:solidFill>
                <a:latin typeface="Calibri" pitchFamily="34" charset="0"/>
                <a:ea typeface="Calibri" pitchFamily="34" charset="-122"/>
                <a:cs typeface="Calibri" pitchFamily="34" charset="-120"/>
              </a:rPr>
              <a:t>Biru · Merah · Kuning</a:t>
            </a:r>
            <a:endParaRPr lang="en-US" sz="1300" dirty="0"/>
          </a:p>
        </p:txBody>
      </p:sp>
      <p:sp>
        <p:nvSpPr>
          <p:cNvPr id="19" name="Text 17"/>
          <p:cNvSpPr txBox="1"/>
          <p:nvPr/>
        </p:nvSpPr>
        <p:spPr>
          <a:xfrm>
            <a:off x="457200" y="4251960"/>
            <a:ext cx="8229600" cy="365760"/>
          </a:xfrm>
          <a:prstGeom prst="rect">
            <a:avLst/>
          </a:prstGeom>
          <a:noFill/>
          <a:ln/>
        </p:spPr>
        <p:txBody>
          <a:bodyPr wrap="square" lIns="0" tIns="0" rIns="0" bIns="0" rtlCol="0" anchor="ctr"/>
          <a:lstStyle/>
          <a:p>
            <a:pPr indent="0" marL="0">
              <a:buNone/>
            </a:pPr>
            <a:r>
              <a:rPr lang="en-US" sz="1300" i="1" dirty="0">
                <a:solidFill>
                  <a:srgbClr val="5E6570"/>
                </a:solidFill>
                <a:latin typeface="Calibri" pitchFamily="34" charset="0"/>
                <a:ea typeface="Calibri" pitchFamily="34" charset="-122"/>
                <a:cs typeface="Calibri" pitchFamily="34" charset="-120"/>
              </a:rPr>
              <a:t>Mode: AI vs AI (training &amp; demo) · Player vs AI (pemain jadi Hunter atau Prey)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10800000">
            <a:off x="7818120" y="411480"/>
            <a:ext cx="201168" cy="182880"/>
          </a:xfrm>
          <a:prstGeom prst="triangle">
            <a:avLst/>
          </a:prstGeom>
          <a:solidFill>
            <a:srgbClr val="7A45B8"/>
          </a:solidFill>
          <a:ln w="12700">
            <a:solidFill>
              <a:srgbClr val="7A45B8"/>
            </a:solidFill>
            <a:prstDash val="solid"/>
          </a:ln>
        </p:spPr>
      </p:sp>
      <p:sp>
        <p:nvSpPr>
          <p:cNvPr id="3" name="Shape 1"/>
          <p:cNvSpPr/>
          <p:nvPr/>
        </p:nvSpPr>
        <p:spPr>
          <a:xfrm>
            <a:off x="8110728" y="411480"/>
            <a:ext cx="182880" cy="182880"/>
          </a:xfrm>
          <a:prstGeom prst="ellipse">
            <a:avLst/>
          </a:prstGeom>
          <a:solidFill>
            <a:srgbClr val="2F6FDB"/>
          </a:solidFill>
          <a:ln w="12700">
            <a:solidFill>
              <a:srgbClr val="2F6FDB"/>
            </a:solidFill>
            <a:prstDash val="solid"/>
          </a:ln>
        </p:spPr>
      </p:sp>
      <p:sp>
        <p:nvSpPr>
          <p:cNvPr id="4" name="Shape 2"/>
          <p:cNvSpPr/>
          <p:nvPr/>
        </p:nvSpPr>
        <p:spPr>
          <a:xfrm>
            <a:off x="8385048" y="411480"/>
            <a:ext cx="182880" cy="182880"/>
          </a:xfrm>
          <a:prstGeom prst="ellipse">
            <a:avLst/>
          </a:prstGeom>
          <a:solidFill>
            <a:srgbClr val="D5433B"/>
          </a:solidFill>
          <a:ln w="12700">
            <a:solidFill>
              <a:srgbClr val="D5433B"/>
            </a:solidFill>
            <a:prstDash val="solid"/>
          </a:ln>
        </p:spPr>
      </p:sp>
      <p:sp>
        <p:nvSpPr>
          <p:cNvPr id="5" name="Shape 3"/>
          <p:cNvSpPr/>
          <p:nvPr/>
        </p:nvSpPr>
        <p:spPr>
          <a:xfrm>
            <a:off x="8659368" y="411480"/>
            <a:ext cx="182880" cy="182880"/>
          </a:xfrm>
          <a:prstGeom prst="ellipse">
            <a:avLst/>
          </a:prstGeom>
          <a:solidFill>
            <a:srgbClr val="E0A500"/>
          </a:solidFill>
          <a:ln w="12700">
            <a:solidFill>
              <a:srgbClr val="E0A500"/>
            </a:solidFill>
            <a:prstDash val="solid"/>
          </a:ln>
        </p:spPr>
      </p:sp>
      <p:sp>
        <p:nvSpPr>
          <p:cNvPr id="6" name="Text 4"/>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dirty="0">
                <a:solidFill>
                  <a:srgbClr val="1B1E24"/>
                </a:solidFill>
                <a:latin typeface="Arial Black" pitchFamily="34" charset="0"/>
                <a:ea typeface="Arial Black" pitchFamily="34" charset="-122"/>
                <a:cs typeface="Arial Black" pitchFamily="34" charset="-120"/>
              </a:rPr>
              <a:t>Arena</a:t>
            </a:r>
            <a:endParaRPr lang="en-US" sz="2800" dirty="0"/>
          </a:p>
        </p:txBody>
      </p:sp>
      <p:sp>
        <p:nvSpPr>
          <p:cNvPr id="7" name="Text 5"/>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400" dirty="0">
                <a:solidFill>
                  <a:srgbClr val="5E6570"/>
                </a:solidFill>
                <a:latin typeface="Calibri" pitchFamily="34" charset="0"/>
                <a:ea typeface="Calibri" pitchFamily="34" charset="-122"/>
                <a:cs typeface="Calibri" pitchFamily="34" charset="-120"/>
              </a:rPr>
              <a:t>30 × 30 m, berdinding, penuh rintangan</a:t>
            </a:r>
            <a:endParaRPr lang="en-US" sz="1400" dirty="0"/>
          </a:p>
        </p:txBody>
      </p:sp>
      <p:sp>
        <p:nvSpPr>
          <p:cNvPr id="8" name="Shape 6"/>
          <p:cNvSpPr/>
          <p:nvPr/>
        </p:nvSpPr>
        <p:spPr>
          <a:xfrm>
            <a:off x="457200" y="1325880"/>
            <a:ext cx="3383280" cy="3383280"/>
          </a:xfrm>
          <a:prstGeom prst="rect">
            <a:avLst/>
          </a:prstGeom>
          <a:solidFill>
            <a:srgbClr val="E4E6EA"/>
          </a:solidFill>
          <a:ln w="38100">
            <a:solidFill>
              <a:srgbClr val="1B1E24"/>
            </a:solidFill>
            <a:prstDash val="solid"/>
          </a:ln>
        </p:spPr>
      </p:sp>
      <p:sp>
        <p:nvSpPr>
          <p:cNvPr id="9" name="Shape 7"/>
          <p:cNvSpPr/>
          <p:nvPr/>
        </p:nvSpPr>
        <p:spPr>
          <a:xfrm>
            <a:off x="822960" y="1737360"/>
            <a:ext cx="640080" cy="155448"/>
          </a:xfrm>
          <a:prstGeom prst="rect">
            <a:avLst/>
          </a:prstGeom>
          <a:solidFill>
            <a:srgbClr val="9AA0A8"/>
          </a:solidFill>
          <a:ln w="12700">
            <a:solidFill>
              <a:srgbClr val="9AA0A8"/>
            </a:solidFill>
            <a:prstDash val="solid"/>
          </a:ln>
        </p:spPr>
      </p:sp>
      <p:sp>
        <p:nvSpPr>
          <p:cNvPr id="10" name="Shape 8"/>
          <p:cNvSpPr/>
          <p:nvPr/>
        </p:nvSpPr>
        <p:spPr>
          <a:xfrm>
            <a:off x="2834640" y="1737360"/>
            <a:ext cx="640080" cy="155448"/>
          </a:xfrm>
          <a:prstGeom prst="rect">
            <a:avLst/>
          </a:prstGeom>
          <a:solidFill>
            <a:srgbClr val="9AA0A8"/>
          </a:solidFill>
          <a:ln w="12700">
            <a:solidFill>
              <a:srgbClr val="9AA0A8"/>
            </a:solidFill>
            <a:prstDash val="solid"/>
          </a:ln>
        </p:spPr>
      </p:sp>
      <p:sp>
        <p:nvSpPr>
          <p:cNvPr id="11" name="Shape 9"/>
          <p:cNvSpPr/>
          <p:nvPr/>
        </p:nvSpPr>
        <p:spPr>
          <a:xfrm>
            <a:off x="822960" y="4142232"/>
            <a:ext cx="640080" cy="155448"/>
          </a:xfrm>
          <a:prstGeom prst="rect">
            <a:avLst/>
          </a:prstGeom>
          <a:solidFill>
            <a:srgbClr val="9AA0A8"/>
          </a:solidFill>
          <a:ln w="12700">
            <a:solidFill>
              <a:srgbClr val="9AA0A8"/>
            </a:solidFill>
            <a:prstDash val="solid"/>
          </a:ln>
        </p:spPr>
      </p:sp>
      <p:sp>
        <p:nvSpPr>
          <p:cNvPr id="12" name="Shape 10"/>
          <p:cNvSpPr/>
          <p:nvPr/>
        </p:nvSpPr>
        <p:spPr>
          <a:xfrm>
            <a:off x="2834640" y="4142232"/>
            <a:ext cx="640080" cy="155448"/>
          </a:xfrm>
          <a:prstGeom prst="rect">
            <a:avLst/>
          </a:prstGeom>
          <a:solidFill>
            <a:srgbClr val="9AA0A8"/>
          </a:solidFill>
          <a:ln w="12700">
            <a:solidFill>
              <a:srgbClr val="9AA0A8"/>
            </a:solidFill>
            <a:prstDash val="solid"/>
          </a:ln>
        </p:spPr>
      </p:sp>
      <p:sp>
        <p:nvSpPr>
          <p:cNvPr id="13" name="Shape 11"/>
          <p:cNvSpPr/>
          <p:nvPr/>
        </p:nvSpPr>
        <p:spPr>
          <a:xfrm>
            <a:off x="1280160" y="2514600"/>
            <a:ext cx="155448" cy="594360"/>
          </a:xfrm>
          <a:prstGeom prst="rect">
            <a:avLst/>
          </a:prstGeom>
          <a:solidFill>
            <a:srgbClr val="9AA0A8"/>
          </a:solidFill>
          <a:ln w="12700">
            <a:solidFill>
              <a:srgbClr val="9AA0A8"/>
            </a:solidFill>
            <a:prstDash val="solid"/>
          </a:ln>
        </p:spPr>
      </p:sp>
      <p:sp>
        <p:nvSpPr>
          <p:cNvPr id="14" name="Shape 12"/>
          <p:cNvSpPr/>
          <p:nvPr/>
        </p:nvSpPr>
        <p:spPr>
          <a:xfrm>
            <a:off x="2880360" y="3017520"/>
            <a:ext cx="155448" cy="594360"/>
          </a:xfrm>
          <a:prstGeom prst="rect">
            <a:avLst/>
          </a:prstGeom>
          <a:solidFill>
            <a:srgbClr val="9AA0A8"/>
          </a:solidFill>
          <a:ln w="12700">
            <a:solidFill>
              <a:srgbClr val="9AA0A8"/>
            </a:solidFill>
            <a:prstDash val="solid"/>
          </a:ln>
        </p:spPr>
      </p:sp>
      <p:sp>
        <p:nvSpPr>
          <p:cNvPr id="15" name="Shape 13"/>
          <p:cNvSpPr/>
          <p:nvPr/>
        </p:nvSpPr>
        <p:spPr>
          <a:xfrm>
            <a:off x="1645920" y="3611880"/>
            <a:ext cx="365760" cy="365760"/>
          </a:xfrm>
          <a:prstGeom prst="rect">
            <a:avLst/>
          </a:prstGeom>
          <a:solidFill>
            <a:srgbClr val="9AA0A8"/>
          </a:solidFill>
          <a:ln w="12700">
            <a:solidFill>
              <a:srgbClr val="9AA0A8"/>
            </a:solidFill>
            <a:prstDash val="solid"/>
          </a:ln>
        </p:spPr>
      </p:sp>
      <p:sp>
        <p:nvSpPr>
          <p:cNvPr id="16" name="Shape 14"/>
          <p:cNvSpPr/>
          <p:nvPr/>
        </p:nvSpPr>
        <p:spPr>
          <a:xfrm>
            <a:off x="2331720" y="2103120"/>
            <a:ext cx="365760" cy="365760"/>
          </a:xfrm>
          <a:prstGeom prst="rect">
            <a:avLst/>
          </a:prstGeom>
          <a:solidFill>
            <a:srgbClr val="9AA0A8"/>
          </a:solidFill>
          <a:ln w="12700">
            <a:solidFill>
              <a:srgbClr val="9AA0A8"/>
            </a:solidFill>
            <a:prstDash val="solid"/>
          </a:ln>
        </p:spPr>
      </p:sp>
      <p:sp>
        <p:nvSpPr>
          <p:cNvPr id="17" name="Shape 15"/>
          <p:cNvSpPr/>
          <p:nvPr/>
        </p:nvSpPr>
        <p:spPr>
          <a:xfrm>
            <a:off x="1874520" y="2743200"/>
            <a:ext cx="548640" cy="548640"/>
          </a:xfrm>
          <a:prstGeom prst="rect">
            <a:avLst/>
          </a:prstGeom>
          <a:ln w="19050">
            <a:solidFill>
              <a:srgbClr val="5E6570"/>
            </a:solidFill>
            <a:prstDash val="dash"/>
          </a:ln>
        </p:spPr>
      </p:sp>
      <p:sp>
        <p:nvSpPr>
          <p:cNvPr id="18" name="Text 16"/>
          <p:cNvSpPr txBox="1"/>
          <p:nvPr/>
        </p:nvSpPr>
        <p:spPr>
          <a:xfrm>
            <a:off x="1874520" y="2743200"/>
            <a:ext cx="548640" cy="548640"/>
          </a:xfrm>
          <a:prstGeom prst="rect">
            <a:avLst/>
          </a:prstGeom>
          <a:noFill/>
          <a:ln/>
        </p:spPr>
        <p:txBody>
          <a:bodyPr wrap="square" lIns="0" tIns="0" rIns="0" bIns="0" rtlCol="0" anchor="ctr"/>
          <a:lstStyle/>
          <a:p>
            <a:pPr algn="ctr" indent="0" marL="0">
              <a:buNone/>
            </a:pPr>
            <a:r>
              <a:rPr lang="en-US" sz="900" b="1" dirty="0">
                <a:solidFill>
                  <a:srgbClr val="5E6570"/>
                </a:solidFill>
                <a:latin typeface="Calibri" pitchFamily="34" charset="0"/>
                <a:ea typeface="Calibri" pitchFamily="34" charset="-122"/>
                <a:cs typeface="Calibri" pitchFamily="34" charset="-120"/>
              </a:rPr>
              <a:t>CAGE</a:t>
            </a:r>
            <a:endParaRPr lang="en-US" sz="900" dirty="0"/>
          </a:p>
        </p:txBody>
      </p:sp>
      <p:sp>
        <p:nvSpPr>
          <p:cNvPr id="19" name="Shape 17"/>
          <p:cNvSpPr/>
          <p:nvPr/>
        </p:nvSpPr>
        <p:spPr>
          <a:xfrm>
            <a:off x="393192" y="2743200"/>
            <a:ext cx="109728" cy="548640"/>
          </a:xfrm>
          <a:prstGeom prst="rect">
            <a:avLst/>
          </a:prstGeom>
          <a:solidFill>
            <a:srgbClr val="1F9D6B"/>
          </a:solidFill>
          <a:ln w="12700">
            <a:solidFill>
              <a:srgbClr val="1F9D6B"/>
            </a:solidFill>
            <a:prstDash val="solid"/>
          </a:ln>
        </p:spPr>
      </p:sp>
      <p:sp>
        <p:nvSpPr>
          <p:cNvPr id="20" name="Shape 18"/>
          <p:cNvSpPr/>
          <p:nvPr/>
        </p:nvSpPr>
        <p:spPr>
          <a:xfrm>
            <a:off x="1874520" y="1261872"/>
            <a:ext cx="548640" cy="109728"/>
          </a:xfrm>
          <a:prstGeom prst="rect">
            <a:avLst/>
          </a:prstGeom>
          <a:solidFill>
            <a:srgbClr val="1F9D6B">
              <a:alpha val="35000"/>
            </a:srgbClr>
          </a:solidFill>
          <a:ln w="12700">
            <a:solidFill>
              <a:srgbClr val="1F9D6B">
                <a:alpha val="35000"/>
              </a:srgbClr>
            </a:solidFill>
            <a:prstDash val="solid"/>
          </a:ln>
        </p:spPr>
      </p:sp>
      <p:sp>
        <p:nvSpPr>
          <p:cNvPr id="21" name="Shape 19"/>
          <p:cNvSpPr/>
          <p:nvPr/>
        </p:nvSpPr>
        <p:spPr>
          <a:xfrm>
            <a:off x="3794760" y="2743200"/>
            <a:ext cx="109728" cy="548640"/>
          </a:xfrm>
          <a:prstGeom prst="rect">
            <a:avLst/>
          </a:prstGeom>
          <a:solidFill>
            <a:srgbClr val="1F9D6B">
              <a:alpha val="35000"/>
            </a:srgbClr>
          </a:solidFill>
          <a:ln w="12700">
            <a:solidFill>
              <a:srgbClr val="1F9D6B">
                <a:alpha val="35000"/>
              </a:srgbClr>
            </a:solidFill>
            <a:prstDash val="solid"/>
          </a:ln>
        </p:spPr>
      </p:sp>
      <p:sp>
        <p:nvSpPr>
          <p:cNvPr id="22" name="Shape 20"/>
          <p:cNvSpPr/>
          <p:nvPr/>
        </p:nvSpPr>
        <p:spPr>
          <a:xfrm>
            <a:off x="2011680" y="4343400"/>
            <a:ext cx="256032" cy="228600"/>
          </a:xfrm>
          <a:prstGeom prst="triangle">
            <a:avLst/>
          </a:prstGeom>
          <a:solidFill>
            <a:srgbClr val="7A45B8"/>
          </a:solidFill>
          <a:ln w="12700">
            <a:solidFill>
              <a:srgbClr val="7A45B8"/>
            </a:solidFill>
            <a:prstDash val="solid"/>
          </a:ln>
        </p:spPr>
      </p:sp>
      <p:sp>
        <p:nvSpPr>
          <p:cNvPr id="23" name="Shape 21"/>
          <p:cNvSpPr/>
          <p:nvPr/>
        </p:nvSpPr>
        <p:spPr>
          <a:xfrm>
            <a:off x="777240" y="1435608"/>
            <a:ext cx="201168" cy="201168"/>
          </a:xfrm>
          <a:prstGeom prst="ellipse">
            <a:avLst/>
          </a:prstGeom>
          <a:solidFill>
            <a:srgbClr val="2F6FDB"/>
          </a:solidFill>
          <a:ln w="19050">
            <a:solidFill>
              <a:srgbClr val="FFFFFF"/>
            </a:solidFill>
            <a:prstDash val="solid"/>
          </a:ln>
        </p:spPr>
      </p:sp>
      <p:sp>
        <p:nvSpPr>
          <p:cNvPr id="24" name="Shape 22"/>
          <p:cNvSpPr/>
          <p:nvPr/>
        </p:nvSpPr>
        <p:spPr>
          <a:xfrm>
            <a:off x="2039112" y="1435608"/>
            <a:ext cx="201168" cy="201168"/>
          </a:xfrm>
          <a:prstGeom prst="ellipse">
            <a:avLst/>
          </a:prstGeom>
          <a:solidFill>
            <a:srgbClr val="E0A500"/>
          </a:solidFill>
          <a:ln w="19050">
            <a:solidFill>
              <a:srgbClr val="FFFFFF"/>
            </a:solidFill>
            <a:prstDash val="solid"/>
          </a:ln>
        </p:spPr>
      </p:sp>
      <p:sp>
        <p:nvSpPr>
          <p:cNvPr id="25" name="Shape 23"/>
          <p:cNvSpPr/>
          <p:nvPr/>
        </p:nvSpPr>
        <p:spPr>
          <a:xfrm>
            <a:off x="3291840" y="1435608"/>
            <a:ext cx="201168" cy="201168"/>
          </a:xfrm>
          <a:prstGeom prst="ellipse">
            <a:avLst/>
          </a:prstGeom>
          <a:solidFill>
            <a:srgbClr val="D5433B"/>
          </a:solidFill>
          <a:ln w="19050">
            <a:solidFill>
              <a:srgbClr val="FFFFFF"/>
            </a:solidFill>
            <a:prstDash val="solid"/>
          </a:ln>
        </p:spPr>
      </p:sp>
      <p:sp>
        <p:nvSpPr>
          <p:cNvPr id="26" name="Shape 24"/>
          <p:cNvSpPr/>
          <p:nvPr/>
        </p:nvSpPr>
        <p:spPr>
          <a:xfrm>
            <a:off x="2560320" y="3977640"/>
            <a:ext cx="109728" cy="109728"/>
          </a:xfrm>
          <a:prstGeom prst="ellipse">
            <a:avLst/>
          </a:prstGeom>
          <a:solidFill>
            <a:srgbClr val="2F6FDB"/>
          </a:solidFill>
          <a:ln w="12700">
            <a:solidFill>
              <a:srgbClr val="2F6FDB"/>
            </a:solidFill>
            <a:prstDash val="solid"/>
          </a:ln>
        </p:spPr>
      </p:sp>
      <p:sp>
        <p:nvSpPr>
          <p:cNvPr id="27" name="Shape 25"/>
          <p:cNvSpPr/>
          <p:nvPr/>
        </p:nvSpPr>
        <p:spPr>
          <a:xfrm>
            <a:off x="1737360" y="2148840"/>
            <a:ext cx="109728" cy="109728"/>
          </a:xfrm>
          <a:prstGeom prst="ellipse">
            <a:avLst/>
          </a:prstGeom>
          <a:solidFill>
            <a:srgbClr val="D5433B"/>
          </a:solidFill>
          <a:ln w="12700">
            <a:solidFill>
              <a:srgbClr val="D5433B"/>
            </a:solidFill>
            <a:prstDash val="solid"/>
          </a:ln>
        </p:spPr>
      </p:sp>
      <p:sp>
        <p:nvSpPr>
          <p:cNvPr id="28" name="Shape 26"/>
          <p:cNvSpPr/>
          <p:nvPr/>
        </p:nvSpPr>
        <p:spPr>
          <a:xfrm>
            <a:off x="3383280" y="3886200"/>
            <a:ext cx="109728" cy="109728"/>
          </a:xfrm>
          <a:prstGeom prst="ellipse">
            <a:avLst/>
          </a:prstGeom>
          <a:solidFill>
            <a:srgbClr val="E0A500"/>
          </a:solidFill>
          <a:ln w="12700">
            <a:solidFill>
              <a:srgbClr val="E0A500"/>
            </a:solidFill>
            <a:prstDash val="solid"/>
          </a:ln>
        </p:spPr>
      </p:sp>
      <p:sp>
        <p:nvSpPr>
          <p:cNvPr id="29" name="Shape 27"/>
          <p:cNvSpPr/>
          <p:nvPr/>
        </p:nvSpPr>
        <p:spPr>
          <a:xfrm>
            <a:off x="4343400" y="1399032"/>
            <a:ext cx="237744" cy="237744"/>
          </a:xfrm>
          <a:prstGeom prst="ellipse">
            <a:avLst/>
          </a:prstGeom>
          <a:solidFill>
            <a:srgbClr val="9AA0A8"/>
          </a:solidFill>
          <a:ln w="12700">
            <a:solidFill>
              <a:srgbClr val="9AA0A8"/>
            </a:solidFill>
            <a:prstDash val="solid"/>
          </a:ln>
        </p:spPr>
      </p:sp>
      <p:sp>
        <p:nvSpPr>
          <p:cNvPr id="30" name="Text 28"/>
          <p:cNvSpPr txBox="1"/>
          <p:nvPr/>
        </p:nvSpPr>
        <p:spPr>
          <a:xfrm>
            <a:off x="4754880" y="1325880"/>
            <a:ext cx="3931920" cy="320040"/>
          </a:xfrm>
          <a:prstGeom prst="rect">
            <a:avLst/>
          </a:prstGeom>
          <a:noFill/>
          <a:ln/>
        </p:spPr>
        <p:txBody>
          <a:bodyPr wrap="square" lIns="0" tIns="0" rIns="0" bIns="0" rtlCol="0" anchor="ctr"/>
          <a:lstStyle/>
          <a:p>
            <a:pPr indent="0" marL="0">
              <a:buNone/>
            </a:pPr>
            <a:r>
              <a:rPr lang="en-US" sz="1500" b="1" dirty="0">
                <a:solidFill>
                  <a:srgbClr val="1B1E24"/>
                </a:solidFill>
                <a:latin typeface="Calibri" pitchFamily="34" charset="0"/>
                <a:ea typeface="Calibri" pitchFamily="34" charset="-122"/>
                <a:cs typeface="Calibri" pitchFamily="34" charset="-120"/>
              </a:rPr>
              <a:t>Rintangan</a:t>
            </a:r>
            <a:endParaRPr lang="en-US" sz="1500" dirty="0"/>
          </a:p>
        </p:txBody>
      </p:sp>
      <p:sp>
        <p:nvSpPr>
          <p:cNvPr id="31" name="Text 29"/>
          <p:cNvSpPr txBox="1"/>
          <p:nvPr/>
        </p:nvSpPr>
        <p:spPr>
          <a:xfrm>
            <a:off x="4754880" y="1645920"/>
            <a:ext cx="3931920" cy="457200"/>
          </a:xfrm>
          <a:prstGeom prst="rect">
            <a:avLst/>
          </a:prstGeom>
          <a:noFill/>
          <a:ln/>
        </p:spPr>
        <p:txBody>
          <a:bodyPr wrap="square" lIns="0" tIns="0" rIns="0" bIns="0" rtlCol="0" anchor="ctr"/>
          <a:lstStyle/>
          <a:p>
            <a:pPr indent="0" marL="0">
              <a:buNone/>
            </a:pPr>
            <a:r>
              <a:rPr lang="en-US" sz="1250" dirty="0">
                <a:solidFill>
                  <a:srgbClr val="5E6570"/>
                </a:solidFill>
                <a:latin typeface="Calibri" pitchFamily="34" charset="0"/>
                <a:ea typeface="Calibri" pitchFamily="34" charset="-122"/>
                <a:cs typeface="Calibri" pitchFamily="34" charset="-120"/>
              </a:rPr>
              <a:t>Peti, tembok rendah, pilar: dipakai Prey untuk memutar dan memutus kejaran.</a:t>
            </a:r>
            <a:endParaRPr lang="en-US" sz="1250" dirty="0"/>
          </a:p>
        </p:txBody>
      </p:sp>
      <p:sp>
        <p:nvSpPr>
          <p:cNvPr id="32" name="Shape 30"/>
          <p:cNvSpPr/>
          <p:nvPr/>
        </p:nvSpPr>
        <p:spPr>
          <a:xfrm>
            <a:off x="4343400" y="2249424"/>
            <a:ext cx="237744" cy="237744"/>
          </a:xfrm>
          <a:prstGeom prst="ellipse">
            <a:avLst/>
          </a:prstGeom>
          <a:solidFill>
            <a:srgbClr val="1F9D6B"/>
          </a:solidFill>
          <a:ln w="12700">
            <a:solidFill>
              <a:srgbClr val="1F9D6B"/>
            </a:solidFill>
            <a:prstDash val="solid"/>
          </a:ln>
        </p:spPr>
      </p:sp>
      <p:sp>
        <p:nvSpPr>
          <p:cNvPr id="33" name="Text 31"/>
          <p:cNvSpPr txBox="1"/>
          <p:nvPr/>
        </p:nvSpPr>
        <p:spPr>
          <a:xfrm>
            <a:off x="4754880" y="2176272"/>
            <a:ext cx="3931920" cy="320040"/>
          </a:xfrm>
          <a:prstGeom prst="rect">
            <a:avLst/>
          </a:prstGeom>
          <a:noFill/>
          <a:ln/>
        </p:spPr>
        <p:txBody>
          <a:bodyPr wrap="square" lIns="0" tIns="0" rIns="0" bIns="0" rtlCol="0" anchor="ctr"/>
          <a:lstStyle/>
          <a:p>
            <a:pPr indent="0" marL="0">
              <a:buNone/>
            </a:pPr>
            <a:r>
              <a:rPr lang="en-US" sz="1500" b="1" dirty="0">
                <a:solidFill>
                  <a:srgbClr val="1B1E24"/>
                </a:solidFill>
                <a:latin typeface="Calibri" pitchFamily="34" charset="0"/>
                <a:ea typeface="Calibri" pitchFamily="34" charset="-122"/>
                <a:cs typeface="Calibri" pitchFamily="34" charset="-120"/>
              </a:rPr>
              <a:t>Gerbang</a:t>
            </a:r>
            <a:endParaRPr lang="en-US" sz="1500" dirty="0"/>
          </a:p>
        </p:txBody>
      </p:sp>
      <p:sp>
        <p:nvSpPr>
          <p:cNvPr id="34" name="Text 32"/>
          <p:cNvSpPr txBox="1"/>
          <p:nvPr/>
        </p:nvSpPr>
        <p:spPr>
          <a:xfrm>
            <a:off x="4754880" y="2496312"/>
            <a:ext cx="3931920" cy="457200"/>
          </a:xfrm>
          <a:prstGeom prst="rect">
            <a:avLst/>
          </a:prstGeom>
          <a:noFill/>
          <a:ln/>
        </p:spPr>
        <p:txBody>
          <a:bodyPr wrap="square" lIns="0" tIns="0" rIns="0" bIns="0" rtlCol="0" anchor="ctr"/>
          <a:lstStyle/>
          <a:p>
            <a:pPr indent="0" marL="0">
              <a:buNone/>
            </a:pPr>
            <a:r>
              <a:rPr lang="en-US" sz="1250" dirty="0">
                <a:solidFill>
                  <a:srgbClr val="5E6570"/>
                </a:solidFill>
                <a:latin typeface="Calibri" pitchFamily="34" charset="0"/>
                <a:ea typeface="Calibri" pitchFamily="34" charset="-122"/>
                <a:cs typeface="Calibri" pitchFamily="34" charset="-120"/>
              </a:rPr>
              <a:t>3 posisi, 1 dipilih acak tiap match. Terlihat (tertutup) sejak awal.</a:t>
            </a:r>
            <a:endParaRPr lang="en-US" sz="1250" dirty="0"/>
          </a:p>
        </p:txBody>
      </p:sp>
      <p:sp>
        <p:nvSpPr>
          <p:cNvPr id="35" name="Shape 33"/>
          <p:cNvSpPr/>
          <p:nvPr/>
        </p:nvSpPr>
        <p:spPr>
          <a:xfrm>
            <a:off x="4343400" y="3099816"/>
            <a:ext cx="237744" cy="237744"/>
          </a:xfrm>
          <a:prstGeom prst="ellipse">
            <a:avLst/>
          </a:prstGeom>
          <a:solidFill>
            <a:srgbClr val="5E6570"/>
          </a:solidFill>
          <a:ln w="12700">
            <a:solidFill>
              <a:srgbClr val="5E6570"/>
            </a:solidFill>
            <a:prstDash val="solid"/>
          </a:ln>
        </p:spPr>
      </p:sp>
      <p:sp>
        <p:nvSpPr>
          <p:cNvPr id="36" name="Text 34"/>
          <p:cNvSpPr txBox="1"/>
          <p:nvPr/>
        </p:nvSpPr>
        <p:spPr>
          <a:xfrm>
            <a:off x="4754880" y="3026664"/>
            <a:ext cx="3931920" cy="320040"/>
          </a:xfrm>
          <a:prstGeom prst="rect">
            <a:avLst/>
          </a:prstGeom>
          <a:noFill/>
          <a:ln/>
        </p:spPr>
        <p:txBody>
          <a:bodyPr wrap="square" lIns="0" tIns="0" rIns="0" bIns="0" rtlCol="0" anchor="ctr"/>
          <a:lstStyle/>
          <a:p>
            <a:pPr indent="0" marL="0">
              <a:buNone/>
            </a:pPr>
            <a:r>
              <a:rPr lang="en-US" sz="1500" b="1" dirty="0">
                <a:solidFill>
                  <a:srgbClr val="1B1E24"/>
                </a:solidFill>
                <a:latin typeface="Calibri" pitchFamily="34" charset="0"/>
                <a:ea typeface="Calibri" pitchFamily="34" charset="-122"/>
                <a:cs typeface="Calibri" pitchFamily="34" charset="-120"/>
              </a:rPr>
              <a:t>Cage</a:t>
            </a:r>
            <a:endParaRPr lang="en-US" sz="1500" dirty="0"/>
          </a:p>
        </p:txBody>
      </p:sp>
      <p:sp>
        <p:nvSpPr>
          <p:cNvPr id="37" name="Text 35"/>
          <p:cNvSpPr txBox="1"/>
          <p:nvPr/>
        </p:nvSpPr>
        <p:spPr>
          <a:xfrm>
            <a:off x="4754880" y="3346704"/>
            <a:ext cx="3931920" cy="457200"/>
          </a:xfrm>
          <a:prstGeom prst="rect">
            <a:avLst/>
          </a:prstGeom>
          <a:noFill/>
          <a:ln/>
        </p:spPr>
        <p:txBody>
          <a:bodyPr wrap="square" lIns="0" tIns="0" rIns="0" bIns="0" rtlCol="0" anchor="ctr"/>
          <a:lstStyle/>
          <a:p>
            <a:pPr indent="0" marL="0">
              <a:buNone/>
            </a:pPr>
            <a:r>
              <a:rPr lang="en-US" sz="1250" dirty="0">
                <a:solidFill>
                  <a:srgbClr val="5E6570"/>
                </a:solidFill>
                <a:latin typeface="Calibri" pitchFamily="34" charset="0"/>
                <a:ea typeface="Calibri" pitchFamily="34" charset="-122"/>
                <a:cs typeface="Calibri" pitchFamily="34" charset="-120"/>
              </a:rPr>
              <a:t>Di tengah arena. Penyelamatan jadi berisiko.</a:t>
            </a:r>
            <a:endParaRPr lang="en-US" sz="1250" dirty="0"/>
          </a:p>
        </p:txBody>
      </p:sp>
      <p:sp>
        <p:nvSpPr>
          <p:cNvPr id="38" name="Shape 36"/>
          <p:cNvSpPr/>
          <p:nvPr/>
        </p:nvSpPr>
        <p:spPr>
          <a:xfrm>
            <a:off x="4343400" y="3950208"/>
            <a:ext cx="237744" cy="237744"/>
          </a:xfrm>
          <a:prstGeom prst="ellipse">
            <a:avLst/>
          </a:prstGeom>
          <a:solidFill>
            <a:srgbClr val="E0A500"/>
          </a:solidFill>
          <a:ln w="12700">
            <a:solidFill>
              <a:srgbClr val="E0A500"/>
            </a:solidFill>
            <a:prstDash val="solid"/>
          </a:ln>
        </p:spPr>
      </p:sp>
      <p:sp>
        <p:nvSpPr>
          <p:cNvPr id="39" name="Text 37"/>
          <p:cNvSpPr txBox="1"/>
          <p:nvPr/>
        </p:nvSpPr>
        <p:spPr>
          <a:xfrm>
            <a:off x="4754880" y="3877056"/>
            <a:ext cx="3931920" cy="320040"/>
          </a:xfrm>
          <a:prstGeom prst="rect">
            <a:avLst/>
          </a:prstGeom>
          <a:noFill/>
          <a:ln/>
        </p:spPr>
        <p:txBody>
          <a:bodyPr wrap="square" lIns="0" tIns="0" rIns="0" bIns="0" rtlCol="0" anchor="ctr"/>
          <a:lstStyle/>
          <a:p>
            <a:pPr indent="0" marL="0">
              <a:buNone/>
            </a:pPr>
            <a:r>
              <a:rPr lang="en-US" sz="1500" b="1" dirty="0">
                <a:solidFill>
                  <a:srgbClr val="1B1E24"/>
                </a:solidFill>
                <a:latin typeface="Calibri" pitchFamily="34" charset="0"/>
                <a:ea typeface="Calibri" pitchFamily="34" charset="-122"/>
                <a:cs typeface="Calibri" pitchFamily="34" charset="-120"/>
              </a:rPr>
              <a:t>Orb</a:t>
            </a:r>
            <a:endParaRPr lang="en-US" sz="1500" dirty="0"/>
          </a:p>
        </p:txBody>
      </p:sp>
      <p:sp>
        <p:nvSpPr>
          <p:cNvPr id="40" name="Text 38"/>
          <p:cNvSpPr txBox="1"/>
          <p:nvPr/>
        </p:nvSpPr>
        <p:spPr>
          <a:xfrm>
            <a:off x="4754880" y="4197096"/>
            <a:ext cx="3931920" cy="457200"/>
          </a:xfrm>
          <a:prstGeom prst="rect">
            <a:avLst/>
          </a:prstGeom>
          <a:noFill/>
          <a:ln/>
        </p:spPr>
        <p:txBody>
          <a:bodyPr wrap="square" lIns="0" tIns="0" rIns="0" bIns="0" rtlCol="0" anchor="ctr"/>
          <a:lstStyle/>
          <a:p>
            <a:pPr indent="0" marL="0">
              <a:buNone/>
            </a:pPr>
            <a:r>
              <a:rPr lang="en-US" sz="1250" dirty="0">
                <a:solidFill>
                  <a:srgbClr val="5E6570"/>
                </a:solidFill>
                <a:latin typeface="Calibri" pitchFamily="34" charset="0"/>
                <a:ea typeface="Calibri" pitchFamily="34" charset="-122"/>
                <a:cs typeface="Calibri" pitchFamily="34" charset="-120"/>
              </a:rPr>
              <a:t>±20 titik spawn. Orb baru muncul minimal 8 m dari Prey pemiliknya.</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10800000">
            <a:off x="7818120" y="411480"/>
            <a:ext cx="201168" cy="182880"/>
          </a:xfrm>
          <a:prstGeom prst="triangle">
            <a:avLst/>
          </a:prstGeom>
          <a:solidFill>
            <a:srgbClr val="7A45B8"/>
          </a:solidFill>
          <a:ln w="12700">
            <a:solidFill>
              <a:srgbClr val="7A45B8"/>
            </a:solidFill>
            <a:prstDash val="solid"/>
          </a:ln>
        </p:spPr>
      </p:sp>
      <p:sp>
        <p:nvSpPr>
          <p:cNvPr id="3" name="Shape 1"/>
          <p:cNvSpPr/>
          <p:nvPr/>
        </p:nvSpPr>
        <p:spPr>
          <a:xfrm>
            <a:off x="8110728" y="411480"/>
            <a:ext cx="182880" cy="182880"/>
          </a:xfrm>
          <a:prstGeom prst="ellipse">
            <a:avLst/>
          </a:prstGeom>
          <a:solidFill>
            <a:srgbClr val="2F6FDB"/>
          </a:solidFill>
          <a:ln w="12700">
            <a:solidFill>
              <a:srgbClr val="2F6FDB"/>
            </a:solidFill>
            <a:prstDash val="solid"/>
          </a:ln>
        </p:spPr>
      </p:sp>
      <p:sp>
        <p:nvSpPr>
          <p:cNvPr id="4" name="Shape 2"/>
          <p:cNvSpPr/>
          <p:nvPr/>
        </p:nvSpPr>
        <p:spPr>
          <a:xfrm>
            <a:off x="8385048" y="411480"/>
            <a:ext cx="182880" cy="182880"/>
          </a:xfrm>
          <a:prstGeom prst="ellipse">
            <a:avLst/>
          </a:prstGeom>
          <a:solidFill>
            <a:srgbClr val="D5433B"/>
          </a:solidFill>
          <a:ln w="12700">
            <a:solidFill>
              <a:srgbClr val="D5433B"/>
            </a:solidFill>
            <a:prstDash val="solid"/>
          </a:ln>
        </p:spPr>
      </p:sp>
      <p:sp>
        <p:nvSpPr>
          <p:cNvPr id="5" name="Shape 3"/>
          <p:cNvSpPr/>
          <p:nvPr/>
        </p:nvSpPr>
        <p:spPr>
          <a:xfrm>
            <a:off x="8659368" y="411480"/>
            <a:ext cx="182880" cy="182880"/>
          </a:xfrm>
          <a:prstGeom prst="ellipse">
            <a:avLst/>
          </a:prstGeom>
          <a:solidFill>
            <a:srgbClr val="E0A500"/>
          </a:solidFill>
          <a:ln w="12700">
            <a:solidFill>
              <a:srgbClr val="E0A500"/>
            </a:solidFill>
            <a:prstDash val="solid"/>
          </a:ln>
        </p:spPr>
      </p:sp>
      <p:sp>
        <p:nvSpPr>
          <p:cNvPr id="6" name="Text 4"/>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dirty="0">
                <a:solidFill>
                  <a:srgbClr val="1B1E24"/>
                </a:solidFill>
                <a:latin typeface="Arial Black" pitchFamily="34" charset="0"/>
                <a:ea typeface="Arial Black" pitchFamily="34" charset="-122"/>
                <a:cs typeface="Arial Black" pitchFamily="34" charset="-120"/>
              </a:rPr>
              <a:t>Alur Permainan</a:t>
            </a:r>
            <a:endParaRPr lang="en-US" sz="2800" dirty="0"/>
          </a:p>
        </p:txBody>
      </p:sp>
      <p:sp>
        <p:nvSpPr>
          <p:cNvPr id="7" name="Text 5"/>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400" dirty="0">
                <a:solidFill>
                  <a:srgbClr val="5E6570"/>
                </a:solidFill>
                <a:latin typeface="Calibri" pitchFamily="34" charset="0"/>
                <a:ea typeface="Calibri" pitchFamily="34" charset="-122"/>
                <a:cs typeface="Calibri" pitchFamily="34" charset="-120"/>
              </a:rPr>
              <a:t>Satu pertandingan = 3 menit</a:t>
            </a:r>
            <a:endParaRPr lang="en-US" sz="1400" dirty="0"/>
          </a:p>
        </p:txBody>
      </p:sp>
      <p:sp>
        <p:nvSpPr>
          <p:cNvPr id="8" name="Shape 6"/>
          <p:cNvSpPr/>
          <p:nvPr/>
        </p:nvSpPr>
        <p:spPr>
          <a:xfrm>
            <a:off x="685800" y="1783080"/>
            <a:ext cx="6693408" cy="0"/>
          </a:xfrm>
          <a:prstGeom prst="line">
            <a:avLst/>
          </a:prstGeom>
          <a:noFill/>
          <a:ln w="25400">
            <a:solidFill>
              <a:srgbClr val="D8DBE1"/>
            </a:solidFill>
            <a:prstDash val="solid"/>
          </a:ln>
        </p:spPr>
      </p:sp>
      <p:sp>
        <p:nvSpPr>
          <p:cNvPr id="9" name="Shape 7"/>
          <p:cNvSpPr/>
          <p:nvPr/>
        </p:nvSpPr>
        <p:spPr>
          <a:xfrm>
            <a:off x="457200" y="1554480"/>
            <a:ext cx="457200" cy="457200"/>
          </a:xfrm>
          <a:prstGeom prst="ellipse">
            <a:avLst/>
          </a:prstGeom>
          <a:solidFill>
            <a:srgbClr val="1B1E24"/>
          </a:solidFill>
          <a:ln w="12700">
            <a:solidFill>
              <a:srgbClr val="1B1E24"/>
            </a:solidFill>
            <a:prstDash val="solid"/>
          </a:ln>
        </p:spPr>
      </p:sp>
      <p:sp>
        <p:nvSpPr>
          <p:cNvPr id="10" name="Text 8"/>
          <p:cNvSpPr txBox="1"/>
          <p:nvPr/>
        </p:nvSpPr>
        <p:spPr>
          <a:xfrm>
            <a:off x="457200" y="1554480"/>
            <a:ext cx="457200" cy="457200"/>
          </a:xfrm>
          <a:prstGeom prst="rect">
            <a:avLst/>
          </a:prstGeom>
          <a:no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1" name="Text 9"/>
          <p:cNvSpPr txBox="1"/>
          <p:nvPr/>
        </p:nvSpPr>
        <p:spPr>
          <a:xfrm>
            <a:off x="457200" y="2194560"/>
            <a:ext cx="1517904" cy="365760"/>
          </a:xfrm>
          <a:prstGeom prst="rect">
            <a:avLst/>
          </a:prstGeom>
          <a:noFill/>
          <a:ln/>
        </p:spPr>
        <p:txBody>
          <a:bodyPr wrap="square" lIns="0" tIns="0" rIns="0" bIns="0" rtlCol="0" anchor="ctr"/>
          <a:lstStyle/>
          <a:p>
            <a:pPr indent="0" marL="0">
              <a:buNone/>
            </a:pPr>
            <a:r>
              <a:rPr lang="en-US" sz="1600" b="1" dirty="0">
                <a:solidFill>
                  <a:srgbClr val="1B1E24"/>
                </a:solidFill>
                <a:latin typeface="Calibri" pitchFamily="34" charset="0"/>
                <a:ea typeface="Calibri" pitchFamily="34" charset="-122"/>
                <a:cs typeface="Calibri" pitchFamily="34" charset="-120"/>
              </a:rPr>
              <a:t>Spawn</a:t>
            </a:r>
            <a:endParaRPr lang="en-US" sz="1600" dirty="0"/>
          </a:p>
        </p:txBody>
      </p:sp>
      <p:sp>
        <p:nvSpPr>
          <p:cNvPr id="12" name="Text 10"/>
          <p:cNvSpPr txBox="1"/>
          <p:nvPr/>
        </p:nvSpPr>
        <p:spPr>
          <a:xfrm>
            <a:off x="457200" y="2560320"/>
            <a:ext cx="1472184" cy="1097280"/>
          </a:xfrm>
          <a:prstGeom prst="rect">
            <a:avLst/>
          </a:prstGeom>
          <a:noFill/>
          <a:ln/>
        </p:spPr>
        <p:txBody>
          <a:bodyPr wrap="square" lIns="0" tIns="0" rIns="0" bIns="0" rtlCol="0" anchor="t"/>
          <a:lstStyle/>
          <a:p>
            <a:pPr indent="0" marL="0">
              <a:buNone/>
            </a:pPr>
            <a:r>
              <a:rPr lang="en-US" sz="1300" dirty="0">
                <a:solidFill>
                  <a:srgbClr val="5E6570"/>
                </a:solidFill>
                <a:latin typeface="Calibri" pitchFamily="34" charset="0"/>
                <a:ea typeface="Calibri" pitchFamily="34" charset="-122"/>
                <a:cs typeface="Calibri" pitchFamily="34" charset="-120"/>
              </a:rPr>
              <a:t>Hunter &amp; Prey di sisi berlawanan. Posisi gerbang terlihat.</a:t>
            </a:r>
            <a:endParaRPr lang="en-US" sz="1300" dirty="0"/>
          </a:p>
        </p:txBody>
      </p:sp>
      <p:sp>
        <p:nvSpPr>
          <p:cNvPr id="13" name="Shape 11"/>
          <p:cNvSpPr/>
          <p:nvPr/>
        </p:nvSpPr>
        <p:spPr>
          <a:xfrm>
            <a:off x="2130552" y="1554480"/>
            <a:ext cx="457200" cy="457200"/>
          </a:xfrm>
          <a:prstGeom prst="ellipse">
            <a:avLst/>
          </a:prstGeom>
          <a:solidFill>
            <a:srgbClr val="1B1E24"/>
          </a:solidFill>
          <a:ln w="12700">
            <a:solidFill>
              <a:srgbClr val="1B1E24"/>
            </a:solidFill>
            <a:prstDash val="solid"/>
          </a:ln>
        </p:spPr>
      </p:sp>
      <p:sp>
        <p:nvSpPr>
          <p:cNvPr id="14" name="Text 12"/>
          <p:cNvSpPr txBox="1"/>
          <p:nvPr/>
        </p:nvSpPr>
        <p:spPr>
          <a:xfrm>
            <a:off x="2130552" y="1554480"/>
            <a:ext cx="457200" cy="457200"/>
          </a:xfrm>
          <a:prstGeom prst="rect">
            <a:avLst/>
          </a:prstGeom>
          <a:no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5" name="Text 13"/>
          <p:cNvSpPr txBox="1"/>
          <p:nvPr/>
        </p:nvSpPr>
        <p:spPr>
          <a:xfrm>
            <a:off x="2130552" y="2194560"/>
            <a:ext cx="1517904" cy="365760"/>
          </a:xfrm>
          <a:prstGeom prst="rect">
            <a:avLst/>
          </a:prstGeom>
          <a:noFill/>
          <a:ln/>
        </p:spPr>
        <p:txBody>
          <a:bodyPr wrap="square" lIns="0" tIns="0" rIns="0" bIns="0" rtlCol="0" anchor="ctr"/>
          <a:lstStyle/>
          <a:p>
            <a:pPr indent="0" marL="0">
              <a:buNone/>
            </a:pPr>
            <a:r>
              <a:rPr lang="en-US" sz="1600" b="1" dirty="0">
                <a:solidFill>
                  <a:srgbClr val="1B1E24"/>
                </a:solidFill>
                <a:latin typeface="Calibri" pitchFamily="34" charset="0"/>
                <a:ea typeface="Calibri" pitchFamily="34" charset="-122"/>
                <a:cs typeface="Calibri" pitchFamily="34" charset="-120"/>
              </a:rPr>
              <a:t>Head start</a:t>
            </a:r>
            <a:endParaRPr lang="en-US" sz="1600" dirty="0"/>
          </a:p>
        </p:txBody>
      </p:sp>
      <p:sp>
        <p:nvSpPr>
          <p:cNvPr id="16" name="Text 14"/>
          <p:cNvSpPr txBox="1"/>
          <p:nvPr/>
        </p:nvSpPr>
        <p:spPr>
          <a:xfrm>
            <a:off x="2130552" y="2560320"/>
            <a:ext cx="1472184" cy="1097280"/>
          </a:xfrm>
          <a:prstGeom prst="rect">
            <a:avLst/>
          </a:prstGeom>
          <a:noFill/>
          <a:ln/>
        </p:spPr>
        <p:txBody>
          <a:bodyPr wrap="square" lIns="0" tIns="0" rIns="0" bIns="0" rtlCol="0" anchor="t"/>
          <a:lstStyle/>
          <a:p>
            <a:pPr indent="0" marL="0">
              <a:buNone/>
            </a:pPr>
            <a:r>
              <a:rPr lang="en-US" sz="1300" dirty="0">
                <a:solidFill>
                  <a:srgbClr val="5E6570"/>
                </a:solidFill>
                <a:latin typeface="Calibri" pitchFamily="34" charset="0"/>
                <a:ea typeface="Calibri" pitchFamily="34" charset="-122"/>
                <a:cs typeface="Calibri" pitchFamily="34" charset="-120"/>
              </a:rPr>
              <a:t>Hunter dibekukan 3 detik, Prey menyebar.</a:t>
            </a:r>
            <a:endParaRPr lang="en-US" sz="1300" dirty="0"/>
          </a:p>
        </p:txBody>
      </p:sp>
      <p:sp>
        <p:nvSpPr>
          <p:cNvPr id="17" name="Shape 15"/>
          <p:cNvSpPr/>
          <p:nvPr/>
        </p:nvSpPr>
        <p:spPr>
          <a:xfrm>
            <a:off x="3803904" y="1554480"/>
            <a:ext cx="457200" cy="457200"/>
          </a:xfrm>
          <a:prstGeom prst="ellipse">
            <a:avLst/>
          </a:prstGeom>
          <a:solidFill>
            <a:srgbClr val="1B1E24"/>
          </a:solidFill>
          <a:ln w="12700">
            <a:solidFill>
              <a:srgbClr val="1B1E24"/>
            </a:solidFill>
            <a:prstDash val="solid"/>
          </a:ln>
        </p:spPr>
      </p:sp>
      <p:sp>
        <p:nvSpPr>
          <p:cNvPr id="18" name="Text 16"/>
          <p:cNvSpPr txBox="1"/>
          <p:nvPr/>
        </p:nvSpPr>
        <p:spPr>
          <a:xfrm>
            <a:off x="3803904" y="1554480"/>
            <a:ext cx="457200" cy="457200"/>
          </a:xfrm>
          <a:prstGeom prst="rect">
            <a:avLst/>
          </a:prstGeom>
          <a:no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9" name="Text 17"/>
          <p:cNvSpPr txBox="1"/>
          <p:nvPr/>
        </p:nvSpPr>
        <p:spPr>
          <a:xfrm>
            <a:off x="3803904" y="2194560"/>
            <a:ext cx="1517904" cy="365760"/>
          </a:xfrm>
          <a:prstGeom prst="rect">
            <a:avLst/>
          </a:prstGeom>
          <a:noFill/>
          <a:ln/>
        </p:spPr>
        <p:txBody>
          <a:bodyPr wrap="square" lIns="0" tIns="0" rIns="0" bIns="0" rtlCol="0" anchor="ctr"/>
          <a:lstStyle/>
          <a:p>
            <a:pPr indent="0" marL="0">
              <a:buNone/>
            </a:pPr>
            <a:r>
              <a:rPr lang="en-US" sz="1600" b="1" dirty="0">
                <a:solidFill>
                  <a:srgbClr val="1B1E24"/>
                </a:solidFill>
                <a:latin typeface="Calibri" pitchFamily="34" charset="0"/>
                <a:ea typeface="Calibri" pitchFamily="34" charset="-122"/>
                <a:cs typeface="Calibri" pitchFamily="34" charset="-120"/>
              </a:rPr>
              <a:t>Kumpulkan</a:t>
            </a:r>
            <a:endParaRPr lang="en-US" sz="1600" dirty="0"/>
          </a:p>
        </p:txBody>
      </p:sp>
      <p:sp>
        <p:nvSpPr>
          <p:cNvPr id="20" name="Text 18"/>
          <p:cNvSpPr txBox="1"/>
          <p:nvPr/>
        </p:nvSpPr>
        <p:spPr>
          <a:xfrm>
            <a:off x="3803904" y="2560320"/>
            <a:ext cx="1472184" cy="1097280"/>
          </a:xfrm>
          <a:prstGeom prst="rect">
            <a:avLst/>
          </a:prstGeom>
          <a:noFill/>
          <a:ln/>
        </p:spPr>
        <p:txBody>
          <a:bodyPr wrap="square" lIns="0" tIns="0" rIns="0" bIns="0" rtlCol="0" anchor="t"/>
          <a:lstStyle/>
          <a:p>
            <a:pPr indent="0" marL="0">
              <a:buNone/>
            </a:pPr>
            <a:r>
              <a:rPr lang="en-US" sz="1300" dirty="0">
                <a:solidFill>
                  <a:srgbClr val="5E6570"/>
                </a:solidFill>
                <a:latin typeface="Calibri" pitchFamily="34" charset="0"/>
                <a:ea typeface="Calibri" pitchFamily="34" charset="-122"/>
                <a:cs typeface="Calibri" pitchFamily="34" charset="-120"/>
              </a:rPr>
              <a:t>Tiap Prey cari orb warnanya. Hunter mengejar.</a:t>
            </a:r>
            <a:endParaRPr lang="en-US" sz="1300" dirty="0"/>
          </a:p>
        </p:txBody>
      </p:sp>
      <p:sp>
        <p:nvSpPr>
          <p:cNvPr id="21" name="Shape 19"/>
          <p:cNvSpPr/>
          <p:nvPr/>
        </p:nvSpPr>
        <p:spPr>
          <a:xfrm>
            <a:off x="5477256" y="1554480"/>
            <a:ext cx="457200" cy="457200"/>
          </a:xfrm>
          <a:prstGeom prst="ellipse">
            <a:avLst/>
          </a:prstGeom>
          <a:solidFill>
            <a:srgbClr val="1B1E24"/>
          </a:solidFill>
          <a:ln w="12700">
            <a:solidFill>
              <a:srgbClr val="1B1E24"/>
            </a:solidFill>
            <a:prstDash val="solid"/>
          </a:ln>
        </p:spPr>
      </p:sp>
      <p:sp>
        <p:nvSpPr>
          <p:cNvPr id="22" name="Text 20"/>
          <p:cNvSpPr txBox="1"/>
          <p:nvPr/>
        </p:nvSpPr>
        <p:spPr>
          <a:xfrm>
            <a:off x="5477256" y="1554480"/>
            <a:ext cx="457200" cy="457200"/>
          </a:xfrm>
          <a:prstGeom prst="rect">
            <a:avLst/>
          </a:prstGeom>
          <a:no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3" name="Text 21"/>
          <p:cNvSpPr txBox="1"/>
          <p:nvPr/>
        </p:nvSpPr>
        <p:spPr>
          <a:xfrm>
            <a:off x="5477256" y="2194560"/>
            <a:ext cx="1517904" cy="365760"/>
          </a:xfrm>
          <a:prstGeom prst="rect">
            <a:avLst/>
          </a:prstGeom>
          <a:noFill/>
          <a:ln/>
        </p:spPr>
        <p:txBody>
          <a:bodyPr wrap="square" lIns="0" tIns="0" rIns="0" bIns="0" rtlCol="0" anchor="ctr"/>
          <a:lstStyle/>
          <a:p>
            <a:pPr indent="0" marL="0">
              <a:buNone/>
            </a:pPr>
            <a:r>
              <a:rPr lang="en-US" sz="1600" b="1" dirty="0">
                <a:solidFill>
                  <a:srgbClr val="1B1E24"/>
                </a:solidFill>
                <a:latin typeface="Calibri" pitchFamily="34" charset="0"/>
                <a:ea typeface="Calibri" pitchFamily="34" charset="-122"/>
                <a:cs typeface="Calibri" pitchFamily="34" charset="-120"/>
              </a:rPr>
              <a:t>Gerbang buka</a:t>
            </a:r>
            <a:endParaRPr lang="en-US" sz="1600" dirty="0"/>
          </a:p>
        </p:txBody>
      </p:sp>
      <p:sp>
        <p:nvSpPr>
          <p:cNvPr id="24" name="Text 22"/>
          <p:cNvSpPr txBox="1"/>
          <p:nvPr/>
        </p:nvSpPr>
        <p:spPr>
          <a:xfrm>
            <a:off x="5477256" y="2560320"/>
            <a:ext cx="1472184" cy="1097280"/>
          </a:xfrm>
          <a:prstGeom prst="rect">
            <a:avLst/>
          </a:prstGeom>
          <a:noFill/>
          <a:ln/>
        </p:spPr>
        <p:txBody>
          <a:bodyPr wrap="square" lIns="0" tIns="0" rIns="0" bIns="0" rtlCol="0" anchor="t"/>
          <a:lstStyle/>
          <a:p>
            <a:pPr indent="0" marL="0">
              <a:buNone/>
            </a:pPr>
            <a:r>
              <a:rPr lang="en-US" sz="1300" dirty="0">
                <a:solidFill>
                  <a:srgbClr val="5E6570"/>
                </a:solidFill>
                <a:latin typeface="Calibri" pitchFamily="34" charset="0"/>
                <a:ea typeface="Calibri" pitchFamily="34" charset="-122"/>
                <a:cs typeface="Calibri" pitchFamily="34" charset="-120"/>
              </a:rPr>
              <a:t>15 orb terkumpul → sirene 3 detik → gerbang terbuka.</a:t>
            </a:r>
            <a:endParaRPr lang="en-US" sz="1300" dirty="0"/>
          </a:p>
        </p:txBody>
      </p:sp>
      <p:sp>
        <p:nvSpPr>
          <p:cNvPr id="25" name="Shape 23"/>
          <p:cNvSpPr/>
          <p:nvPr/>
        </p:nvSpPr>
        <p:spPr>
          <a:xfrm>
            <a:off x="7150608" y="1554480"/>
            <a:ext cx="457200" cy="457200"/>
          </a:xfrm>
          <a:prstGeom prst="ellipse">
            <a:avLst/>
          </a:prstGeom>
          <a:solidFill>
            <a:srgbClr val="1F9D6B"/>
          </a:solidFill>
          <a:ln w="12700">
            <a:solidFill>
              <a:srgbClr val="1F9D6B"/>
            </a:solidFill>
            <a:prstDash val="solid"/>
          </a:ln>
        </p:spPr>
      </p:sp>
      <p:sp>
        <p:nvSpPr>
          <p:cNvPr id="26" name="Text 24"/>
          <p:cNvSpPr txBox="1"/>
          <p:nvPr/>
        </p:nvSpPr>
        <p:spPr>
          <a:xfrm>
            <a:off x="7150608" y="1554480"/>
            <a:ext cx="457200" cy="457200"/>
          </a:xfrm>
          <a:prstGeom prst="rect">
            <a:avLst/>
          </a:prstGeom>
          <a:no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7" name="Text 25"/>
          <p:cNvSpPr txBox="1"/>
          <p:nvPr/>
        </p:nvSpPr>
        <p:spPr>
          <a:xfrm>
            <a:off x="7150608" y="2194560"/>
            <a:ext cx="1517904" cy="365760"/>
          </a:xfrm>
          <a:prstGeom prst="rect">
            <a:avLst/>
          </a:prstGeom>
          <a:noFill/>
          <a:ln/>
        </p:spPr>
        <p:txBody>
          <a:bodyPr wrap="square" lIns="0" tIns="0" rIns="0" bIns="0" rtlCol="0" anchor="ctr"/>
          <a:lstStyle/>
          <a:p>
            <a:pPr indent="0" marL="0">
              <a:buNone/>
            </a:pPr>
            <a:r>
              <a:rPr lang="en-US" sz="1600" b="1" dirty="0">
                <a:solidFill>
                  <a:srgbClr val="1B1E24"/>
                </a:solidFill>
                <a:latin typeface="Calibri" pitchFamily="34" charset="0"/>
                <a:ea typeface="Calibri" pitchFamily="34" charset="-122"/>
                <a:cs typeface="Calibri" pitchFamily="34" charset="-120"/>
              </a:rPr>
              <a:t>Kabur</a:t>
            </a:r>
            <a:endParaRPr lang="en-US" sz="1600" dirty="0"/>
          </a:p>
        </p:txBody>
      </p:sp>
      <p:sp>
        <p:nvSpPr>
          <p:cNvPr id="28" name="Text 26"/>
          <p:cNvSpPr txBox="1"/>
          <p:nvPr/>
        </p:nvSpPr>
        <p:spPr>
          <a:xfrm>
            <a:off x="7150608" y="2560320"/>
            <a:ext cx="1472184" cy="1097280"/>
          </a:xfrm>
          <a:prstGeom prst="rect">
            <a:avLst/>
          </a:prstGeom>
          <a:noFill/>
          <a:ln/>
        </p:spPr>
        <p:txBody>
          <a:bodyPr wrap="square" lIns="0" tIns="0" rIns="0" bIns="0" rtlCol="0" anchor="t"/>
          <a:lstStyle/>
          <a:p>
            <a:pPr indent="0" marL="0">
              <a:buNone/>
            </a:pPr>
            <a:r>
              <a:rPr lang="en-US" sz="1300" dirty="0">
                <a:solidFill>
                  <a:srgbClr val="5E6570"/>
                </a:solidFill>
                <a:latin typeface="Calibri" pitchFamily="34" charset="0"/>
                <a:ea typeface="Calibri" pitchFamily="34" charset="-122"/>
                <a:cs typeface="Calibri" pitchFamily="34" charset="-120"/>
              </a:rPr>
              <a:t>Prey sentuh gerbang = kabur. Match selesai / waktu habis.</a:t>
            </a:r>
            <a:endParaRPr lang="en-US" sz="1300" dirty="0"/>
          </a:p>
        </p:txBody>
      </p:sp>
      <p:sp>
        <p:nvSpPr>
          <p:cNvPr id="29" name="Shape 27"/>
          <p:cNvSpPr/>
          <p:nvPr/>
        </p:nvSpPr>
        <p:spPr>
          <a:xfrm>
            <a:off x="457200" y="3886200"/>
            <a:ext cx="8229600" cy="685800"/>
          </a:xfrm>
          <a:prstGeom prst="roundRect">
            <a:avLst>
              <a:gd name="adj" fmla="val 10667"/>
            </a:avLst>
          </a:prstGeom>
          <a:solidFill>
            <a:srgbClr val="F1F2F5"/>
          </a:solidFill>
          <a:ln w="12700">
            <a:solidFill>
              <a:srgbClr val="F1F2F5"/>
            </a:solidFill>
            <a:prstDash val="solid"/>
          </a:ln>
        </p:spPr>
      </p:sp>
      <p:sp>
        <p:nvSpPr>
          <p:cNvPr id="30" name="Text 28"/>
          <p:cNvSpPr txBox="1"/>
          <p:nvPr/>
        </p:nvSpPr>
        <p:spPr>
          <a:xfrm>
            <a:off x="640080" y="3886200"/>
            <a:ext cx="7863840" cy="685800"/>
          </a:xfrm>
          <a:prstGeom prst="rect">
            <a:avLst/>
          </a:prstGeom>
          <a:noFill/>
          <a:ln/>
        </p:spPr>
        <p:txBody>
          <a:bodyPr wrap="square" lIns="0" tIns="0" rIns="0" bIns="0" rtlCol="0" anchor="ctr"/>
          <a:lstStyle/>
          <a:p>
            <a:pPr indent="0" marL="0">
              <a:buNone/>
            </a:pPr>
            <a:r>
              <a:rPr lang="en-US" sz="1300" b="1" dirty="0">
                <a:solidFill>
                  <a:srgbClr val="1B1E24"/>
                </a:solidFill>
                <a:latin typeface="Calibri" pitchFamily="34" charset="0"/>
                <a:ea typeface="Calibri" pitchFamily="34" charset="-122"/>
                <a:cs typeface="Calibri" pitchFamily="34" charset="-120"/>
              </a:rPr>
              <a:t>Sepanjang match: </a:t>
            </a:r>
            <a:pPr indent="0" marL="0">
              <a:buNone/>
            </a:pPr>
            <a:r>
              <a:rPr lang="en-US" sz="1300" dirty="0">
                <a:solidFill>
                  <a:srgbClr val="1B1E24"/>
                </a:solidFill>
                <a:latin typeface="Calibri" pitchFamily="34" charset="0"/>
                <a:ea typeface="Calibri" pitchFamily="34" charset="-122"/>
                <a:cs typeface="Calibri" pitchFamily="34" charset="-120"/>
              </a:rPr>
              <a:t>Prey yang tertangkap masuk Cage dan bisa diselamatkan teman. Match selesai saat tidak ada Prey bebas tersisa, atau timer 3:00 habis.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10800000">
            <a:off x="7818120" y="411480"/>
            <a:ext cx="201168" cy="182880"/>
          </a:xfrm>
          <a:prstGeom prst="triangle">
            <a:avLst/>
          </a:prstGeom>
          <a:solidFill>
            <a:srgbClr val="7A45B8"/>
          </a:solidFill>
          <a:ln w="12700">
            <a:solidFill>
              <a:srgbClr val="7A45B8"/>
            </a:solidFill>
            <a:prstDash val="solid"/>
          </a:ln>
        </p:spPr>
      </p:sp>
      <p:sp>
        <p:nvSpPr>
          <p:cNvPr id="3" name="Shape 1"/>
          <p:cNvSpPr/>
          <p:nvPr/>
        </p:nvSpPr>
        <p:spPr>
          <a:xfrm>
            <a:off x="8110728" y="411480"/>
            <a:ext cx="182880" cy="182880"/>
          </a:xfrm>
          <a:prstGeom prst="ellipse">
            <a:avLst/>
          </a:prstGeom>
          <a:solidFill>
            <a:srgbClr val="2F6FDB"/>
          </a:solidFill>
          <a:ln w="12700">
            <a:solidFill>
              <a:srgbClr val="2F6FDB"/>
            </a:solidFill>
            <a:prstDash val="solid"/>
          </a:ln>
        </p:spPr>
      </p:sp>
      <p:sp>
        <p:nvSpPr>
          <p:cNvPr id="4" name="Shape 2"/>
          <p:cNvSpPr/>
          <p:nvPr/>
        </p:nvSpPr>
        <p:spPr>
          <a:xfrm>
            <a:off x="8385048" y="411480"/>
            <a:ext cx="182880" cy="182880"/>
          </a:xfrm>
          <a:prstGeom prst="ellipse">
            <a:avLst/>
          </a:prstGeom>
          <a:solidFill>
            <a:srgbClr val="D5433B"/>
          </a:solidFill>
          <a:ln w="12700">
            <a:solidFill>
              <a:srgbClr val="D5433B"/>
            </a:solidFill>
            <a:prstDash val="solid"/>
          </a:ln>
        </p:spPr>
      </p:sp>
      <p:sp>
        <p:nvSpPr>
          <p:cNvPr id="5" name="Shape 3"/>
          <p:cNvSpPr/>
          <p:nvPr/>
        </p:nvSpPr>
        <p:spPr>
          <a:xfrm>
            <a:off x="8659368" y="411480"/>
            <a:ext cx="182880" cy="182880"/>
          </a:xfrm>
          <a:prstGeom prst="ellipse">
            <a:avLst/>
          </a:prstGeom>
          <a:solidFill>
            <a:srgbClr val="E0A500"/>
          </a:solidFill>
          <a:ln w="12700">
            <a:solidFill>
              <a:srgbClr val="E0A500"/>
            </a:solidFill>
            <a:prstDash val="solid"/>
          </a:ln>
        </p:spPr>
      </p:sp>
      <p:sp>
        <p:nvSpPr>
          <p:cNvPr id="6" name="Text 4"/>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dirty="0">
                <a:solidFill>
                  <a:srgbClr val="1B1E24"/>
                </a:solidFill>
                <a:latin typeface="Arial Black" pitchFamily="34" charset="0"/>
                <a:ea typeface="Arial Black" pitchFamily="34" charset="-122"/>
                <a:cs typeface="Arial Black" pitchFamily="34" charset="-120"/>
              </a:rPr>
              <a:t>Misi Prey: Orb Berwarna</a:t>
            </a:r>
            <a:endParaRPr lang="en-US" sz="2800" dirty="0"/>
          </a:p>
        </p:txBody>
      </p:sp>
      <p:sp>
        <p:nvSpPr>
          <p:cNvPr id="7" name="Text 5"/>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400" dirty="0">
                <a:solidFill>
                  <a:srgbClr val="5E6570"/>
                </a:solidFill>
                <a:latin typeface="Calibri" pitchFamily="34" charset="0"/>
                <a:ea typeface="Calibri" pitchFamily="34" charset="-122"/>
                <a:cs typeface="Calibri" pitchFamily="34" charset="-120"/>
              </a:rPr>
              <a:t>Tiap Prey hanya bisa mengambil orb warnanya sendiri</a:t>
            </a:r>
            <a:endParaRPr lang="en-US" sz="1400" dirty="0"/>
          </a:p>
        </p:txBody>
      </p:sp>
      <p:sp>
        <p:nvSpPr>
          <p:cNvPr id="8" name="Text 6"/>
          <p:cNvSpPr txBox="1"/>
          <p:nvPr/>
        </p:nvSpPr>
        <p:spPr>
          <a:xfrm>
            <a:off x="457200" y="1417320"/>
            <a:ext cx="1005840" cy="411480"/>
          </a:xfrm>
          <a:prstGeom prst="rect">
            <a:avLst/>
          </a:prstGeom>
          <a:noFill/>
          <a:ln/>
        </p:spPr>
        <p:txBody>
          <a:bodyPr wrap="square" lIns="0" tIns="0" rIns="0" bIns="0" rtlCol="0" anchor="ctr"/>
          <a:lstStyle/>
          <a:p>
            <a:pPr indent="0" marL="0">
              <a:buNone/>
            </a:pPr>
            <a:r>
              <a:rPr lang="en-US" sz="1500" b="1" dirty="0">
                <a:solidFill>
                  <a:srgbClr val="1B1E24"/>
                </a:solidFill>
                <a:latin typeface="Calibri" pitchFamily="34" charset="0"/>
                <a:ea typeface="Calibri" pitchFamily="34" charset="-122"/>
                <a:cs typeface="Calibri" pitchFamily="34" charset="-120"/>
              </a:rPr>
              <a:t>Biru</a:t>
            </a:r>
            <a:endParaRPr lang="en-US" sz="1500" dirty="0"/>
          </a:p>
        </p:txBody>
      </p:sp>
      <p:sp>
        <p:nvSpPr>
          <p:cNvPr id="9" name="Shape 7"/>
          <p:cNvSpPr/>
          <p:nvPr/>
        </p:nvSpPr>
        <p:spPr>
          <a:xfrm>
            <a:off x="1508760" y="1444752"/>
            <a:ext cx="365760" cy="365760"/>
          </a:xfrm>
          <a:prstGeom prst="ellipse">
            <a:avLst/>
          </a:prstGeom>
          <a:solidFill>
            <a:srgbClr val="2F6FDB"/>
          </a:solidFill>
          <a:ln w="12700">
            <a:solidFill>
              <a:srgbClr val="2F6FDB"/>
            </a:solidFill>
            <a:prstDash val="solid"/>
          </a:ln>
        </p:spPr>
      </p:sp>
      <p:sp>
        <p:nvSpPr>
          <p:cNvPr id="10" name="Shape 8"/>
          <p:cNvSpPr/>
          <p:nvPr/>
        </p:nvSpPr>
        <p:spPr>
          <a:xfrm>
            <a:off x="2011680" y="1444752"/>
            <a:ext cx="365760" cy="365760"/>
          </a:xfrm>
          <a:prstGeom prst="ellipse">
            <a:avLst/>
          </a:prstGeom>
          <a:solidFill>
            <a:srgbClr val="2F6FDB"/>
          </a:solidFill>
          <a:ln w="12700">
            <a:solidFill>
              <a:srgbClr val="2F6FDB"/>
            </a:solidFill>
            <a:prstDash val="solid"/>
          </a:ln>
        </p:spPr>
      </p:sp>
      <p:sp>
        <p:nvSpPr>
          <p:cNvPr id="11" name="Shape 9"/>
          <p:cNvSpPr/>
          <p:nvPr/>
        </p:nvSpPr>
        <p:spPr>
          <a:xfrm>
            <a:off x="2514600" y="1444752"/>
            <a:ext cx="365760" cy="365760"/>
          </a:xfrm>
          <a:prstGeom prst="ellipse">
            <a:avLst/>
          </a:prstGeom>
          <a:solidFill>
            <a:srgbClr val="2F6FDB"/>
          </a:solidFill>
          <a:ln w="12700">
            <a:solidFill>
              <a:srgbClr val="2F6FDB"/>
            </a:solidFill>
            <a:prstDash val="solid"/>
          </a:ln>
        </p:spPr>
      </p:sp>
      <p:sp>
        <p:nvSpPr>
          <p:cNvPr id="12" name="Shape 10"/>
          <p:cNvSpPr/>
          <p:nvPr/>
        </p:nvSpPr>
        <p:spPr>
          <a:xfrm>
            <a:off x="3017520" y="1444752"/>
            <a:ext cx="365760" cy="365760"/>
          </a:xfrm>
          <a:prstGeom prst="ellipse">
            <a:avLst/>
          </a:prstGeom>
          <a:solidFill>
            <a:srgbClr val="2F6FDB"/>
          </a:solidFill>
          <a:ln w="12700">
            <a:solidFill>
              <a:srgbClr val="2F6FDB"/>
            </a:solidFill>
            <a:prstDash val="solid"/>
          </a:ln>
        </p:spPr>
      </p:sp>
      <p:sp>
        <p:nvSpPr>
          <p:cNvPr id="13" name="Shape 11"/>
          <p:cNvSpPr/>
          <p:nvPr/>
        </p:nvSpPr>
        <p:spPr>
          <a:xfrm>
            <a:off x="3520440" y="1444752"/>
            <a:ext cx="365760" cy="365760"/>
          </a:xfrm>
          <a:prstGeom prst="ellipse">
            <a:avLst/>
          </a:prstGeom>
          <a:solidFill>
            <a:srgbClr val="2F6FDB"/>
          </a:solidFill>
          <a:ln w="12700">
            <a:solidFill>
              <a:srgbClr val="2F6FDB"/>
            </a:solidFill>
            <a:prstDash val="solid"/>
          </a:ln>
        </p:spPr>
      </p:sp>
      <p:sp>
        <p:nvSpPr>
          <p:cNvPr id="14" name="Text 12"/>
          <p:cNvSpPr txBox="1"/>
          <p:nvPr/>
        </p:nvSpPr>
        <p:spPr>
          <a:xfrm>
            <a:off x="4069080" y="1417320"/>
            <a:ext cx="640080" cy="411480"/>
          </a:xfrm>
          <a:prstGeom prst="rect">
            <a:avLst/>
          </a:prstGeom>
          <a:noFill/>
          <a:ln/>
        </p:spPr>
        <p:txBody>
          <a:bodyPr wrap="square" lIns="0" tIns="0" rIns="0" bIns="0" rtlCol="0" anchor="ctr"/>
          <a:lstStyle/>
          <a:p>
            <a:pPr indent="0" marL="0">
              <a:buNone/>
            </a:pPr>
            <a:r>
              <a:rPr lang="en-US" sz="1600" dirty="0">
                <a:solidFill>
                  <a:srgbClr val="5E6570"/>
                </a:solidFill>
                <a:latin typeface="Arial Black" pitchFamily="34" charset="0"/>
                <a:ea typeface="Arial Black" pitchFamily="34" charset="-122"/>
                <a:cs typeface="Arial Black" pitchFamily="34" charset="-120"/>
              </a:rPr>
              <a:t>× 5</a:t>
            </a:r>
            <a:endParaRPr lang="en-US" sz="1600" dirty="0"/>
          </a:p>
        </p:txBody>
      </p:sp>
      <p:sp>
        <p:nvSpPr>
          <p:cNvPr id="15" name="Text 13"/>
          <p:cNvSpPr txBox="1"/>
          <p:nvPr/>
        </p:nvSpPr>
        <p:spPr>
          <a:xfrm>
            <a:off x="457200" y="2194560"/>
            <a:ext cx="1005840" cy="411480"/>
          </a:xfrm>
          <a:prstGeom prst="rect">
            <a:avLst/>
          </a:prstGeom>
          <a:noFill/>
          <a:ln/>
        </p:spPr>
        <p:txBody>
          <a:bodyPr wrap="square" lIns="0" tIns="0" rIns="0" bIns="0" rtlCol="0" anchor="ctr"/>
          <a:lstStyle/>
          <a:p>
            <a:pPr indent="0" marL="0">
              <a:buNone/>
            </a:pPr>
            <a:r>
              <a:rPr lang="en-US" sz="1500" b="1" dirty="0">
                <a:solidFill>
                  <a:srgbClr val="1B1E24"/>
                </a:solidFill>
                <a:latin typeface="Calibri" pitchFamily="34" charset="0"/>
                <a:ea typeface="Calibri" pitchFamily="34" charset="-122"/>
                <a:cs typeface="Calibri" pitchFamily="34" charset="-120"/>
              </a:rPr>
              <a:t>Merah</a:t>
            </a:r>
            <a:endParaRPr lang="en-US" sz="1500" dirty="0"/>
          </a:p>
        </p:txBody>
      </p:sp>
      <p:sp>
        <p:nvSpPr>
          <p:cNvPr id="16" name="Shape 14"/>
          <p:cNvSpPr/>
          <p:nvPr/>
        </p:nvSpPr>
        <p:spPr>
          <a:xfrm>
            <a:off x="1508760" y="2221992"/>
            <a:ext cx="365760" cy="365760"/>
          </a:xfrm>
          <a:prstGeom prst="ellipse">
            <a:avLst/>
          </a:prstGeom>
          <a:solidFill>
            <a:srgbClr val="D5433B"/>
          </a:solidFill>
          <a:ln w="12700">
            <a:solidFill>
              <a:srgbClr val="D5433B"/>
            </a:solidFill>
            <a:prstDash val="solid"/>
          </a:ln>
        </p:spPr>
      </p:sp>
      <p:sp>
        <p:nvSpPr>
          <p:cNvPr id="17" name="Shape 15"/>
          <p:cNvSpPr/>
          <p:nvPr/>
        </p:nvSpPr>
        <p:spPr>
          <a:xfrm>
            <a:off x="2011680" y="2221992"/>
            <a:ext cx="365760" cy="365760"/>
          </a:xfrm>
          <a:prstGeom prst="ellipse">
            <a:avLst/>
          </a:prstGeom>
          <a:solidFill>
            <a:srgbClr val="D5433B"/>
          </a:solidFill>
          <a:ln w="12700">
            <a:solidFill>
              <a:srgbClr val="D5433B"/>
            </a:solidFill>
            <a:prstDash val="solid"/>
          </a:ln>
        </p:spPr>
      </p:sp>
      <p:sp>
        <p:nvSpPr>
          <p:cNvPr id="18" name="Shape 16"/>
          <p:cNvSpPr/>
          <p:nvPr/>
        </p:nvSpPr>
        <p:spPr>
          <a:xfrm>
            <a:off x="2514600" y="2221992"/>
            <a:ext cx="365760" cy="365760"/>
          </a:xfrm>
          <a:prstGeom prst="ellipse">
            <a:avLst/>
          </a:prstGeom>
          <a:solidFill>
            <a:srgbClr val="D5433B"/>
          </a:solidFill>
          <a:ln w="12700">
            <a:solidFill>
              <a:srgbClr val="D5433B"/>
            </a:solidFill>
            <a:prstDash val="solid"/>
          </a:ln>
        </p:spPr>
      </p:sp>
      <p:sp>
        <p:nvSpPr>
          <p:cNvPr id="19" name="Shape 17"/>
          <p:cNvSpPr/>
          <p:nvPr/>
        </p:nvSpPr>
        <p:spPr>
          <a:xfrm>
            <a:off x="3017520" y="2221992"/>
            <a:ext cx="365760" cy="365760"/>
          </a:xfrm>
          <a:prstGeom prst="ellipse">
            <a:avLst/>
          </a:prstGeom>
          <a:solidFill>
            <a:srgbClr val="D5433B"/>
          </a:solidFill>
          <a:ln w="12700">
            <a:solidFill>
              <a:srgbClr val="D5433B"/>
            </a:solidFill>
            <a:prstDash val="solid"/>
          </a:ln>
        </p:spPr>
      </p:sp>
      <p:sp>
        <p:nvSpPr>
          <p:cNvPr id="20" name="Shape 18"/>
          <p:cNvSpPr/>
          <p:nvPr/>
        </p:nvSpPr>
        <p:spPr>
          <a:xfrm>
            <a:off x="3520440" y="2221992"/>
            <a:ext cx="365760" cy="365760"/>
          </a:xfrm>
          <a:prstGeom prst="ellipse">
            <a:avLst/>
          </a:prstGeom>
          <a:solidFill>
            <a:srgbClr val="D5433B"/>
          </a:solidFill>
          <a:ln w="12700">
            <a:solidFill>
              <a:srgbClr val="D5433B"/>
            </a:solidFill>
            <a:prstDash val="solid"/>
          </a:ln>
        </p:spPr>
      </p:sp>
      <p:sp>
        <p:nvSpPr>
          <p:cNvPr id="21" name="Text 19"/>
          <p:cNvSpPr txBox="1"/>
          <p:nvPr/>
        </p:nvSpPr>
        <p:spPr>
          <a:xfrm>
            <a:off x="4069080" y="2194560"/>
            <a:ext cx="640080" cy="411480"/>
          </a:xfrm>
          <a:prstGeom prst="rect">
            <a:avLst/>
          </a:prstGeom>
          <a:noFill/>
          <a:ln/>
        </p:spPr>
        <p:txBody>
          <a:bodyPr wrap="square" lIns="0" tIns="0" rIns="0" bIns="0" rtlCol="0" anchor="ctr"/>
          <a:lstStyle/>
          <a:p>
            <a:pPr indent="0" marL="0">
              <a:buNone/>
            </a:pPr>
            <a:r>
              <a:rPr lang="en-US" sz="1600" dirty="0">
                <a:solidFill>
                  <a:srgbClr val="5E6570"/>
                </a:solidFill>
                <a:latin typeface="Arial Black" pitchFamily="34" charset="0"/>
                <a:ea typeface="Arial Black" pitchFamily="34" charset="-122"/>
                <a:cs typeface="Arial Black" pitchFamily="34" charset="-120"/>
              </a:rPr>
              <a:t>× 5</a:t>
            </a:r>
            <a:endParaRPr lang="en-US" sz="1600" dirty="0"/>
          </a:p>
        </p:txBody>
      </p:sp>
      <p:sp>
        <p:nvSpPr>
          <p:cNvPr id="22" name="Text 20"/>
          <p:cNvSpPr txBox="1"/>
          <p:nvPr/>
        </p:nvSpPr>
        <p:spPr>
          <a:xfrm>
            <a:off x="457200" y="2971800"/>
            <a:ext cx="1005840" cy="411480"/>
          </a:xfrm>
          <a:prstGeom prst="rect">
            <a:avLst/>
          </a:prstGeom>
          <a:noFill/>
          <a:ln/>
        </p:spPr>
        <p:txBody>
          <a:bodyPr wrap="square" lIns="0" tIns="0" rIns="0" bIns="0" rtlCol="0" anchor="ctr"/>
          <a:lstStyle/>
          <a:p>
            <a:pPr indent="0" marL="0">
              <a:buNone/>
            </a:pPr>
            <a:r>
              <a:rPr lang="en-US" sz="1500" b="1" dirty="0">
                <a:solidFill>
                  <a:srgbClr val="1B1E24"/>
                </a:solidFill>
                <a:latin typeface="Calibri" pitchFamily="34" charset="0"/>
                <a:ea typeface="Calibri" pitchFamily="34" charset="-122"/>
                <a:cs typeface="Calibri" pitchFamily="34" charset="-120"/>
              </a:rPr>
              <a:t>Kuning</a:t>
            </a:r>
            <a:endParaRPr lang="en-US" sz="1500" dirty="0"/>
          </a:p>
        </p:txBody>
      </p:sp>
      <p:sp>
        <p:nvSpPr>
          <p:cNvPr id="23" name="Shape 21"/>
          <p:cNvSpPr/>
          <p:nvPr/>
        </p:nvSpPr>
        <p:spPr>
          <a:xfrm>
            <a:off x="1508760" y="2999232"/>
            <a:ext cx="365760" cy="365760"/>
          </a:xfrm>
          <a:prstGeom prst="ellipse">
            <a:avLst/>
          </a:prstGeom>
          <a:solidFill>
            <a:srgbClr val="E0A500"/>
          </a:solidFill>
          <a:ln w="12700">
            <a:solidFill>
              <a:srgbClr val="E0A500"/>
            </a:solidFill>
            <a:prstDash val="solid"/>
          </a:ln>
        </p:spPr>
      </p:sp>
      <p:sp>
        <p:nvSpPr>
          <p:cNvPr id="24" name="Shape 22"/>
          <p:cNvSpPr/>
          <p:nvPr/>
        </p:nvSpPr>
        <p:spPr>
          <a:xfrm>
            <a:off x="2011680" y="2999232"/>
            <a:ext cx="365760" cy="365760"/>
          </a:xfrm>
          <a:prstGeom prst="ellipse">
            <a:avLst/>
          </a:prstGeom>
          <a:solidFill>
            <a:srgbClr val="E0A500"/>
          </a:solidFill>
          <a:ln w="12700">
            <a:solidFill>
              <a:srgbClr val="E0A500"/>
            </a:solidFill>
            <a:prstDash val="solid"/>
          </a:ln>
        </p:spPr>
      </p:sp>
      <p:sp>
        <p:nvSpPr>
          <p:cNvPr id="25" name="Shape 23"/>
          <p:cNvSpPr/>
          <p:nvPr/>
        </p:nvSpPr>
        <p:spPr>
          <a:xfrm>
            <a:off x="2514600" y="2999232"/>
            <a:ext cx="365760" cy="365760"/>
          </a:xfrm>
          <a:prstGeom prst="ellipse">
            <a:avLst/>
          </a:prstGeom>
          <a:solidFill>
            <a:srgbClr val="E0A500"/>
          </a:solidFill>
          <a:ln w="12700">
            <a:solidFill>
              <a:srgbClr val="E0A500"/>
            </a:solidFill>
            <a:prstDash val="solid"/>
          </a:ln>
        </p:spPr>
      </p:sp>
      <p:sp>
        <p:nvSpPr>
          <p:cNvPr id="26" name="Shape 24"/>
          <p:cNvSpPr/>
          <p:nvPr/>
        </p:nvSpPr>
        <p:spPr>
          <a:xfrm>
            <a:off x="3017520" y="2999232"/>
            <a:ext cx="365760" cy="365760"/>
          </a:xfrm>
          <a:prstGeom prst="ellipse">
            <a:avLst/>
          </a:prstGeom>
          <a:solidFill>
            <a:srgbClr val="E0A500"/>
          </a:solidFill>
          <a:ln w="12700">
            <a:solidFill>
              <a:srgbClr val="E0A500"/>
            </a:solidFill>
            <a:prstDash val="solid"/>
          </a:ln>
        </p:spPr>
      </p:sp>
      <p:sp>
        <p:nvSpPr>
          <p:cNvPr id="27" name="Shape 25"/>
          <p:cNvSpPr/>
          <p:nvPr/>
        </p:nvSpPr>
        <p:spPr>
          <a:xfrm>
            <a:off x="3520440" y="2999232"/>
            <a:ext cx="365760" cy="365760"/>
          </a:xfrm>
          <a:prstGeom prst="ellipse">
            <a:avLst/>
          </a:prstGeom>
          <a:solidFill>
            <a:srgbClr val="E0A500"/>
          </a:solidFill>
          <a:ln w="12700">
            <a:solidFill>
              <a:srgbClr val="E0A500"/>
            </a:solidFill>
            <a:prstDash val="solid"/>
          </a:ln>
        </p:spPr>
      </p:sp>
      <p:sp>
        <p:nvSpPr>
          <p:cNvPr id="28" name="Text 26"/>
          <p:cNvSpPr txBox="1"/>
          <p:nvPr/>
        </p:nvSpPr>
        <p:spPr>
          <a:xfrm>
            <a:off x="4069080" y="2971800"/>
            <a:ext cx="640080" cy="411480"/>
          </a:xfrm>
          <a:prstGeom prst="rect">
            <a:avLst/>
          </a:prstGeom>
          <a:noFill/>
          <a:ln/>
        </p:spPr>
        <p:txBody>
          <a:bodyPr wrap="square" lIns="0" tIns="0" rIns="0" bIns="0" rtlCol="0" anchor="ctr"/>
          <a:lstStyle/>
          <a:p>
            <a:pPr indent="0" marL="0">
              <a:buNone/>
            </a:pPr>
            <a:r>
              <a:rPr lang="en-US" sz="1600" dirty="0">
                <a:solidFill>
                  <a:srgbClr val="5E6570"/>
                </a:solidFill>
                <a:latin typeface="Arial Black" pitchFamily="34" charset="0"/>
                <a:ea typeface="Arial Black" pitchFamily="34" charset="-122"/>
                <a:cs typeface="Arial Black" pitchFamily="34" charset="-120"/>
              </a:rPr>
              <a:t>× 5</a:t>
            </a:r>
            <a:endParaRPr lang="en-US" sz="1600" dirty="0"/>
          </a:p>
        </p:txBody>
      </p:sp>
      <p:sp>
        <p:nvSpPr>
          <p:cNvPr id="29" name="Shape 27"/>
          <p:cNvSpPr/>
          <p:nvPr/>
        </p:nvSpPr>
        <p:spPr>
          <a:xfrm>
            <a:off x="5212080" y="1325880"/>
            <a:ext cx="3474720" cy="2331720"/>
          </a:xfrm>
          <a:prstGeom prst="roundRect">
            <a:avLst>
              <a:gd name="adj" fmla="val 3137"/>
            </a:avLst>
          </a:prstGeom>
          <a:solidFill>
            <a:srgbClr val="15171C"/>
          </a:solidFill>
          <a:ln w="12700">
            <a:solidFill>
              <a:srgbClr val="15171C"/>
            </a:solidFill>
            <a:prstDash val="solid"/>
          </a:ln>
        </p:spPr>
      </p:sp>
      <p:sp>
        <p:nvSpPr>
          <p:cNvPr id="30" name="Text 28"/>
          <p:cNvSpPr txBox="1"/>
          <p:nvPr/>
        </p:nvSpPr>
        <p:spPr>
          <a:xfrm>
            <a:off x="5212080" y="1463040"/>
            <a:ext cx="3474720" cy="1097280"/>
          </a:xfrm>
          <a:prstGeom prst="rect">
            <a:avLst/>
          </a:prstGeom>
          <a:noFill/>
          <a:ln/>
        </p:spPr>
        <p:txBody>
          <a:bodyPr wrap="square" lIns="0" tIns="0" rIns="0" bIns="0" rtlCol="0" anchor="ctr"/>
          <a:lstStyle/>
          <a:p>
            <a:pPr algn="ctr" indent="0" marL="0">
              <a:buNone/>
            </a:pPr>
            <a:r>
              <a:rPr lang="en-US" sz="7200" dirty="0">
                <a:solidFill>
                  <a:srgbClr val="FFFFFF"/>
                </a:solidFill>
                <a:latin typeface="Arial Black" pitchFamily="34" charset="0"/>
                <a:ea typeface="Arial Black" pitchFamily="34" charset="-122"/>
                <a:cs typeface="Arial Black" pitchFamily="34" charset="-120"/>
              </a:rPr>
              <a:t>15</a:t>
            </a:r>
            <a:endParaRPr lang="en-US" sz="7200" dirty="0"/>
          </a:p>
        </p:txBody>
      </p:sp>
      <p:sp>
        <p:nvSpPr>
          <p:cNvPr id="31" name="Text 29"/>
          <p:cNvSpPr txBox="1"/>
          <p:nvPr/>
        </p:nvSpPr>
        <p:spPr>
          <a:xfrm>
            <a:off x="5394960" y="2606040"/>
            <a:ext cx="3108960" cy="365760"/>
          </a:xfrm>
          <a:prstGeom prst="rect">
            <a:avLst/>
          </a:prstGeom>
          <a:noFill/>
          <a:ln/>
        </p:spPr>
        <p:txBody>
          <a:bodyPr wrap="square" lIns="0" tIns="0" rIns="0" bIns="0" rtlCol="0" anchor="ctr"/>
          <a:lstStyle/>
          <a:p>
            <a:pPr algn="ctr" indent="0" marL="0">
              <a:buNone/>
            </a:pPr>
            <a:r>
              <a:rPr lang="en-US" sz="1500" b="1" dirty="0">
                <a:solidFill>
                  <a:srgbClr val="1F9D6B"/>
                </a:solidFill>
                <a:latin typeface="Calibri" pitchFamily="34" charset="0"/>
                <a:ea typeface="Calibri" pitchFamily="34" charset="-122"/>
                <a:cs typeface="Calibri" pitchFamily="34" charset="-120"/>
              </a:rPr>
              <a:t>orb terkumpul = gerbang terbuka</a:t>
            </a:r>
            <a:endParaRPr lang="en-US" sz="1500" dirty="0"/>
          </a:p>
        </p:txBody>
      </p:sp>
      <p:sp>
        <p:nvSpPr>
          <p:cNvPr id="32" name="Text 30"/>
          <p:cNvSpPr txBox="1"/>
          <p:nvPr/>
        </p:nvSpPr>
        <p:spPr>
          <a:xfrm>
            <a:off x="5394960" y="2971800"/>
            <a:ext cx="3108960" cy="502920"/>
          </a:xfrm>
          <a:prstGeom prst="rect">
            <a:avLst/>
          </a:prstGeom>
          <a:noFill/>
          <a:ln/>
        </p:spPr>
        <p:txBody>
          <a:bodyPr wrap="square" lIns="0" tIns="0" rIns="0" bIns="0" rtlCol="0" anchor="ctr"/>
          <a:lstStyle/>
          <a:p>
            <a:pPr algn="ctr" indent="0" marL="0">
              <a:buNone/>
            </a:pPr>
            <a:r>
              <a:rPr lang="en-US" sz="1200" dirty="0">
                <a:solidFill>
                  <a:srgbClr val="A9AFB9"/>
                </a:solidFill>
                <a:latin typeface="Calibri" pitchFamily="34" charset="0"/>
                <a:ea typeface="Calibri" pitchFamily="34" charset="-122"/>
                <a:cs typeface="Calibri" pitchFamily="34" charset="-120"/>
              </a:rPr>
              <a:t>Progress dibagi satu tim, tampil di HUD (misal 9 / 15)</a:t>
            </a:r>
            <a:endParaRPr lang="en-US" sz="1200" dirty="0"/>
          </a:p>
        </p:txBody>
      </p:sp>
      <p:sp>
        <p:nvSpPr>
          <p:cNvPr id="33" name="Text 31"/>
          <p:cNvSpPr txBox="1"/>
          <p:nvPr/>
        </p:nvSpPr>
        <p:spPr>
          <a:xfrm>
            <a:off x="457200" y="3886200"/>
            <a:ext cx="8229600" cy="7315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B1E24"/>
                </a:solidFill>
                <a:latin typeface="Calibri" pitchFamily="34" charset="0"/>
                <a:ea typeface="Calibri" pitchFamily="34" charset="-122"/>
                <a:cs typeface="Calibri" pitchFamily="34" charset="-120"/>
              </a:rPr>
              <a:t>Di peta hanya ada 1 orb per warna dalam satu waktu.</a:t>
            </a:r>
            <a:endParaRPr lang="en-US" sz="1400" dirty="0"/>
          </a:p>
          <a:p>
            <a:pPr marL="177800" indent="-177800">
              <a:spcAft>
                <a:spcPts val="600"/>
              </a:spcAft>
              <a:buSzPct val="100000"/>
              <a:buChar char="•"/>
            </a:pPr>
            <a:r>
              <a:rPr lang="en-US" sz="1400" dirty="0">
                <a:solidFill>
                  <a:srgbClr val="1B1E24"/>
                </a:solidFill>
                <a:latin typeface="Calibri" pitchFamily="34" charset="0"/>
                <a:ea typeface="Calibri" pitchFamily="34" charset="-122"/>
                <a:cs typeface="Calibri" pitchFamily="34" charset="-120"/>
              </a:rPr>
              <a:t>Setelah diambil, orb baru muncul 1 detik kemudian di lokasi acak.</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10800000">
            <a:off x="7818120" y="411480"/>
            <a:ext cx="201168" cy="182880"/>
          </a:xfrm>
          <a:prstGeom prst="triangle">
            <a:avLst/>
          </a:prstGeom>
          <a:solidFill>
            <a:srgbClr val="7A45B8"/>
          </a:solidFill>
          <a:ln w="12700">
            <a:solidFill>
              <a:srgbClr val="7A45B8"/>
            </a:solidFill>
            <a:prstDash val="solid"/>
          </a:ln>
        </p:spPr>
      </p:sp>
      <p:sp>
        <p:nvSpPr>
          <p:cNvPr id="3" name="Shape 1"/>
          <p:cNvSpPr/>
          <p:nvPr/>
        </p:nvSpPr>
        <p:spPr>
          <a:xfrm>
            <a:off x="8110728" y="411480"/>
            <a:ext cx="182880" cy="182880"/>
          </a:xfrm>
          <a:prstGeom prst="ellipse">
            <a:avLst/>
          </a:prstGeom>
          <a:solidFill>
            <a:srgbClr val="2F6FDB"/>
          </a:solidFill>
          <a:ln w="12700">
            <a:solidFill>
              <a:srgbClr val="2F6FDB"/>
            </a:solidFill>
            <a:prstDash val="solid"/>
          </a:ln>
        </p:spPr>
      </p:sp>
      <p:sp>
        <p:nvSpPr>
          <p:cNvPr id="4" name="Shape 2"/>
          <p:cNvSpPr/>
          <p:nvPr/>
        </p:nvSpPr>
        <p:spPr>
          <a:xfrm>
            <a:off x="8385048" y="411480"/>
            <a:ext cx="182880" cy="182880"/>
          </a:xfrm>
          <a:prstGeom prst="ellipse">
            <a:avLst/>
          </a:prstGeom>
          <a:solidFill>
            <a:srgbClr val="D5433B"/>
          </a:solidFill>
          <a:ln w="12700">
            <a:solidFill>
              <a:srgbClr val="D5433B"/>
            </a:solidFill>
            <a:prstDash val="solid"/>
          </a:ln>
        </p:spPr>
      </p:sp>
      <p:sp>
        <p:nvSpPr>
          <p:cNvPr id="5" name="Shape 3"/>
          <p:cNvSpPr/>
          <p:nvPr/>
        </p:nvSpPr>
        <p:spPr>
          <a:xfrm>
            <a:off x="8659368" y="411480"/>
            <a:ext cx="182880" cy="182880"/>
          </a:xfrm>
          <a:prstGeom prst="ellipse">
            <a:avLst/>
          </a:prstGeom>
          <a:solidFill>
            <a:srgbClr val="E0A500"/>
          </a:solidFill>
          <a:ln w="12700">
            <a:solidFill>
              <a:srgbClr val="E0A500"/>
            </a:solidFill>
            <a:prstDash val="solid"/>
          </a:ln>
        </p:spPr>
      </p:sp>
      <p:sp>
        <p:nvSpPr>
          <p:cNvPr id="6" name="Text 4"/>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dirty="0">
                <a:solidFill>
                  <a:srgbClr val="1B1E24"/>
                </a:solidFill>
                <a:latin typeface="Arial Black" pitchFamily="34" charset="0"/>
                <a:ea typeface="Arial Black" pitchFamily="34" charset="-122"/>
                <a:cs typeface="Arial Black" pitchFamily="34" charset="-120"/>
              </a:rPr>
              <a:t>Tangkap &amp; Selamatkan</a:t>
            </a:r>
            <a:endParaRPr lang="en-US" sz="2800" dirty="0"/>
          </a:p>
        </p:txBody>
      </p:sp>
      <p:sp>
        <p:nvSpPr>
          <p:cNvPr id="7" name="Text 5"/>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400" dirty="0">
                <a:solidFill>
                  <a:srgbClr val="5E6570"/>
                </a:solidFill>
                <a:latin typeface="Calibri" pitchFamily="34" charset="0"/>
                <a:ea typeface="Calibri" pitchFamily="34" charset="-122"/>
                <a:cs typeface="Calibri" pitchFamily="34" charset="-120"/>
              </a:rPr>
              <a:t>Terinspirasi sistem hook di Dead by Daylight</a:t>
            </a:r>
            <a:endParaRPr lang="en-US" sz="1400" dirty="0"/>
          </a:p>
        </p:txBody>
      </p:sp>
      <p:sp>
        <p:nvSpPr>
          <p:cNvPr id="8" name="Shape 6"/>
          <p:cNvSpPr/>
          <p:nvPr/>
        </p:nvSpPr>
        <p:spPr>
          <a:xfrm>
            <a:off x="457200" y="1417320"/>
            <a:ext cx="2377440" cy="1371600"/>
          </a:xfrm>
          <a:prstGeom prst="roundRect">
            <a:avLst>
              <a:gd name="adj" fmla="val 5333"/>
            </a:avLst>
          </a:prstGeom>
          <a:solidFill>
            <a:srgbClr val="F1F2F5"/>
          </a:solidFill>
          <a:ln w="12700">
            <a:solidFill>
              <a:srgbClr val="F1F2F5"/>
            </a:solidFill>
            <a:prstDash val="solid"/>
          </a:ln>
        </p:spPr>
      </p:sp>
      <p:sp>
        <p:nvSpPr>
          <p:cNvPr id="9" name="Shape 7"/>
          <p:cNvSpPr/>
          <p:nvPr/>
        </p:nvSpPr>
        <p:spPr>
          <a:xfrm>
            <a:off x="640080" y="1600200"/>
            <a:ext cx="384048" cy="384048"/>
          </a:xfrm>
          <a:prstGeom prst="ellipse">
            <a:avLst/>
          </a:prstGeom>
          <a:solidFill>
            <a:srgbClr val="7A45B8"/>
          </a:solidFill>
          <a:ln w="12700">
            <a:solidFill>
              <a:srgbClr val="7A45B8"/>
            </a:solidFill>
            <a:prstDash val="solid"/>
          </a:ln>
        </p:spPr>
      </p:sp>
      <p:sp>
        <p:nvSpPr>
          <p:cNvPr id="10" name="Text 8"/>
          <p:cNvSpPr txBox="1"/>
          <p:nvPr/>
        </p:nvSpPr>
        <p:spPr>
          <a:xfrm>
            <a:off x="640080" y="1600200"/>
            <a:ext cx="384048" cy="384048"/>
          </a:xfrm>
          <a:prstGeom prst="rect">
            <a:avLst/>
          </a:prstGeom>
          <a:noFill/>
          <a:ln/>
        </p:spPr>
        <p:txBody>
          <a:bodyPr wrap="square" lIns="0" tIns="0" rIns="0" bIns="0" rtlCol="0" anchor="ctr"/>
          <a:lstStyle/>
          <a:p>
            <a:pPr algn="ctr" indent="0" marL="0">
              <a:buNone/>
            </a:pPr>
            <a:r>
              <a:rPr lang="en-US" sz="1092" dirty="0">
                <a:solidFill>
                  <a:srgbClr val="FFFFFF"/>
                </a:solidFill>
                <a:latin typeface="Arial Black" pitchFamily="34" charset="0"/>
                <a:ea typeface="Arial Black" pitchFamily="34" charset="-122"/>
                <a:cs typeface="Arial Black" pitchFamily="34" charset="-120"/>
              </a:rPr>
              <a:t>1</a:t>
            </a:r>
            <a:endParaRPr lang="en-US" sz="1092" dirty="0"/>
          </a:p>
        </p:txBody>
      </p:sp>
      <p:sp>
        <p:nvSpPr>
          <p:cNvPr id="11" name="Text 9"/>
          <p:cNvSpPr txBox="1"/>
          <p:nvPr/>
        </p:nvSpPr>
        <p:spPr>
          <a:xfrm>
            <a:off x="1143000" y="1600200"/>
            <a:ext cx="1554480" cy="384048"/>
          </a:xfrm>
          <a:prstGeom prst="rect">
            <a:avLst/>
          </a:prstGeom>
          <a:noFill/>
          <a:ln/>
        </p:spPr>
        <p:txBody>
          <a:bodyPr wrap="square" lIns="0" tIns="0" rIns="0" bIns="0" rtlCol="0" anchor="ctr"/>
          <a:lstStyle/>
          <a:p>
            <a:pPr indent="0" marL="0">
              <a:buNone/>
            </a:pPr>
            <a:r>
              <a:rPr lang="en-US" sz="1600" b="1" dirty="0">
                <a:solidFill>
                  <a:srgbClr val="1B1E24"/>
                </a:solidFill>
                <a:latin typeface="Calibri" pitchFamily="34" charset="0"/>
                <a:ea typeface="Calibri" pitchFamily="34" charset="-122"/>
                <a:cs typeface="Calibri" pitchFamily="34" charset="-120"/>
              </a:rPr>
              <a:t>Tag</a:t>
            </a:r>
            <a:endParaRPr lang="en-US" sz="1600" dirty="0"/>
          </a:p>
        </p:txBody>
      </p:sp>
      <p:sp>
        <p:nvSpPr>
          <p:cNvPr id="12" name="Text 10"/>
          <p:cNvSpPr txBox="1"/>
          <p:nvPr/>
        </p:nvSpPr>
        <p:spPr>
          <a:xfrm>
            <a:off x="640080" y="2103120"/>
            <a:ext cx="2011680" cy="640080"/>
          </a:xfrm>
          <a:prstGeom prst="rect">
            <a:avLst/>
          </a:prstGeom>
          <a:noFill/>
          <a:ln/>
        </p:spPr>
        <p:txBody>
          <a:bodyPr wrap="square" lIns="0" tIns="0" rIns="0" bIns="0" rtlCol="0" anchor="t"/>
          <a:lstStyle/>
          <a:p>
            <a:pPr indent="0" marL="0">
              <a:buNone/>
            </a:pPr>
            <a:r>
              <a:rPr lang="en-US" sz="1300" dirty="0">
                <a:solidFill>
                  <a:srgbClr val="5E6570"/>
                </a:solidFill>
                <a:latin typeface="Calibri" pitchFamily="34" charset="0"/>
                <a:ea typeface="Calibri" pitchFamily="34" charset="-122"/>
                <a:cs typeface="Calibri" pitchFamily="34" charset="-120"/>
              </a:rPr>
              <a:t>Hunter menyentuh Prey (jarak 1 m)</a:t>
            </a:r>
            <a:endParaRPr lang="en-US" sz="1300" dirty="0"/>
          </a:p>
        </p:txBody>
      </p:sp>
      <p:sp>
        <p:nvSpPr>
          <p:cNvPr id="13" name="Shape 11"/>
          <p:cNvSpPr/>
          <p:nvPr/>
        </p:nvSpPr>
        <p:spPr>
          <a:xfrm>
            <a:off x="2944368" y="1965960"/>
            <a:ext cx="329184" cy="274320"/>
          </a:xfrm>
          <a:prstGeom prst="rightArrow">
            <a:avLst/>
          </a:prstGeom>
          <a:solidFill>
            <a:srgbClr val="D8DBE1"/>
          </a:solidFill>
          <a:ln w="12700">
            <a:solidFill>
              <a:srgbClr val="D8DBE1"/>
            </a:solidFill>
            <a:prstDash val="solid"/>
          </a:ln>
        </p:spPr>
      </p:sp>
      <p:sp>
        <p:nvSpPr>
          <p:cNvPr id="14" name="Shape 12"/>
          <p:cNvSpPr/>
          <p:nvPr/>
        </p:nvSpPr>
        <p:spPr>
          <a:xfrm>
            <a:off x="3383280" y="1417320"/>
            <a:ext cx="2377440" cy="1371600"/>
          </a:xfrm>
          <a:prstGeom prst="roundRect">
            <a:avLst>
              <a:gd name="adj" fmla="val 5333"/>
            </a:avLst>
          </a:prstGeom>
          <a:solidFill>
            <a:srgbClr val="F1F2F5"/>
          </a:solidFill>
          <a:ln w="12700">
            <a:solidFill>
              <a:srgbClr val="F1F2F5"/>
            </a:solidFill>
            <a:prstDash val="solid"/>
          </a:ln>
        </p:spPr>
      </p:sp>
      <p:sp>
        <p:nvSpPr>
          <p:cNvPr id="15" name="Shape 13"/>
          <p:cNvSpPr/>
          <p:nvPr/>
        </p:nvSpPr>
        <p:spPr>
          <a:xfrm>
            <a:off x="3566160" y="1600200"/>
            <a:ext cx="384048" cy="384048"/>
          </a:xfrm>
          <a:prstGeom prst="ellipse">
            <a:avLst/>
          </a:prstGeom>
          <a:solidFill>
            <a:srgbClr val="5E6570"/>
          </a:solidFill>
          <a:ln w="12700">
            <a:solidFill>
              <a:srgbClr val="5E6570"/>
            </a:solidFill>
            <a:prstDash val="solid"/>
          </a:ln>
        </p:spPr>
      </p:sp>
      <p:sp>
        <p:nvSpPr>
          <p:cNvPr id="16" name="Text 14"/>
          <p:cNvSpPr txBox="1"/>
          <p:nvPr/>
        </p:nvSpPr>
        <p:spPr>
          <a:xfrm>
            <a:off x="3566160" y="1600200"/>
            <a:ext cx="384048" cy="384048"/>
          </a:xfrm>
          <a:prstGeom prst="rect">
            <a:avLst/>
          </a:prstGeom>
          <a:noFill/>
          <a:ln/>
        </p:spPr>
        <p:txBody>
          <a:bodyPr wrap="square" lIns="0" tIns="0" rIns="0" bIns="0" rtlCol="0" anchor="ctr"/>
          <a:lstStyle/>
          <a:p>
            <a:pPr algn="ctr" indent="0" marL="0">
              <a:buNone/>
            </a:pPr>
            <a:r>
              <a:rPr lang="en-US" sz="1092" dirty="0">
                <a:solidFill>
                  <a:srgbClr val="FFFFFF"/>
                </a:solidFill>
                <a:latin typeface="Arial Black" pitchFamily="34" charset="0"/>
                <a:ea typeface="Arial Black" pitchFamily="34" charset="-122"/>
                <a:cs typeface="Arial Black" pitchFamily="34" charset="-120"/>
              </a:rPr>
              <a:t>2</a:t>
            </a:r>
            <a:endParaRPr lang="en-US" sz="1092" dirty="0"/>
          </a:p>
        </p:txBody>
      </p:sp>
      <p:sp>
        <p:nvSpPr>
          <p:cNvPr id="17" name="Text 15"/>
          <p:cNvSpPr txBox="1"/>
          <p:nvPr/>
        </p:nvSpPr>
        <p:spPr>
          <a:xfrm>
            <a:off x="4069080" y="1600200"/>
            <a:ext cx="1554480" cy="384048"/>
          </a:xfrm>
          <a:prstGeom prst="rect">
            <a:avLst/>
          </a:prstGeom>
          <a:noFill/>
          <a:ln/>
        </p:spPr>
        <p:txBody>
          <a:bodyPr wrap="square" lIns="0" tIns="0" rIns="0" bIns="0" rtlCol="0" anchor="ctr"/>
          <a:lstStyle/>
          <a:p>
            <a:pPr indent="0" marL="0">
              <a:buNone/>
            </a:pPr>
            <a:r>
              <a:rPr lang="en-US" sz="1600" b="1" dirty="0">
                <a:solidFill>
                  <a:srgbClr val="1B1E24"/>
                </a:solidFill>
                <a:latin typeface="Calibri" pitchFamily="34" charset="0"/>
                <a:ea typeface="Calibri" pitchFamily="34" charset="-122"/>
                <a:cs typeface="Calibri" pitchFamily="34" charset="-120"/>
              </a:rPr>
              <a:t>Masuk Cage</a:t>
            </a:r>
            <a:endParaRPr lang="en-US" sz="1600" dirty="0"/>
          </a:p>
        </p:txBody>
      </p:sp>
      <p:sp>
        <p:nvSpPr>
          <p:cNvPr id="18" name="Text 16"/>
          <p:cNvSpPr txBox="1"/>
          <p:nvPr/>
        </p:nvSpPr>
        <p:spPr>
          <a:xfrm>
            <a:off x="3566160" y="2103120"/>
            <a:ext cx="2011680" cy="640080"/>
          </a:xfrm>
          <a:prstGeom prst="rect">
            <a:avLst/>
          </a:prstGeom>
          <a:noFill/>
          <a:ln/>
        </p:spPr>
        <p:txBody>
          <a:bodyPr wrap="square" lIns="0" tIns="0" rIns="0" bIns="0" rtlCol="0" anchor="t"/>
          <a:lstStyle/>
          <a:p>
            <a:pPr indent="0" marL="0">
              <a:buNone/>
            </a:pPr>
            <a:r>
              <a:rPr lang="en-US" sz="1300" dirty="0">
                <a:solidFill>
                  <a:srgbClr val="5E6570"/>
                </a:solidFill>
                <a:latin typeface="Calibri" pitchFamily="34" charset="0"/>
                <a:ea typeface="Calibri" pitchFamily="34" charset="-122"/>
                <a:cs typeface="Calibri" pitchFamily="34" charset="-120"/>
              </a:rPr>
              <a:t>Prey tidak bisa bergerak atau ambil orb</a:t>
            </a:r>
            <a:endParaRPr lang="en-US" sz="1300" dirty="0"/>
          </a:p>
        </p:txBody>
      </p:sp>
      <p:sp>
        <p:nvSpPr>
          <p:cNvPr id="19" name="Shape 17"/>
          <p:cNvSpPr/>
          <p:nvPr/>
        </p:nvSpPr>
        <p:spPr>
          <a:xfrm>
            <a:off x="5870448" y="1965960"/>
            <a:ext cx="329184" cy="274320"/>
          </a:xfrm>
          <a:prstGeom prst="rightArrow">
            <a:avLst/>
          </a:prstGeom>
          <a:solidFill>
            <a:srgbClr val="D8DBE1"/>
          </a:solidFill>
          <a:ln w="12700">
            <a:solidFill>
              <a:srgbClr val="D8DBE1"/>
            </a:solidFill>
            <a:prstDash val="solid"/>
          </a:ln>
        </p:spPr>
      </p:sp>
      <p:sp>
        <p:nvSpPr>
          <p:cNvPr id="20" name="Shape 18"/>
          <p:cNvSpPr/>
          <p:nvPr/>
        </p:nvSpPr>
        <p:spPr>
          <a:xfrm>
            <a:off x="6309360" y="1417320"/>
            <a:ext cx="2377440" cy="1371600"/>
          </a:xfrm>
          <a:prstGeom prst="roundRect">
            <a:avLst>
              <a:gd name="adj" fmla="val 5333"/>
            </a:avLst>
          </a:prstGeom>
          <a:solidFill>
            <a:srgbClr val="F1F2F5"/>
          </a:solidFill>
          <a:ln w="12700">
            <a:solidFill>
              <a:srgbClr val="F1F2F5"/>
            </a:solidFill>
            <a:prstDash val="solid"/>
          </a:ln>
        </p:spPr>
      </p:sp>
      <p:sp>
        <p:nvSpPr>
          <p:cNvPr id="21" name="Shape 19"/>
          <p:cNvSpPr/>
          <p:nvPr/>
        </p:nvSpPr>
        <p:spPr>
          <a:xfrm>
            <a:off x="6492240" y="1600200"/>
            <a:ext cx="384048" cy="384048"/>
          </a:xfrm>
          <a:prstGeom prst="ellipse">
            <a:avLst/>
          </a:prstGeom>
          <a:solidFill>
            <a:srgbClr val="1F9D6B"/>
          </a:solidFill>
          <a:ln w="12700">
            <a:solidFill>
              <a:srgbClr val="1F9D6B"/>
            </a:solidFill>
            <a:prstDash val="solid"/>
          </a:ln>
        </p:spPr>
      </p:sp>
      <p:sp>
        <p:nvSpPr>
          <p:cNvPr id="22" name="Text 20"/>
          <p:cNvSpPr txBox="1"/>
          <p:nvPr/>
        </p:nvSpPr>
        <p:spPr>
          <a:xfrm>
            <a:off x="6492240" y="1600200"/>
            <a:ext cx="384048" cy="384048"/>
          </a:xfrm>
          <a:prstGeom prst="rect">
            <a:avLst/>
          </a:prstGeom>
          <a:noFill/>
          <a:ln/>
        </p:spPr>
        <p:txBody>
          <a:bodyPr wrap="square" lIns="0" tIns="0" rIns="0" bIns="0" rtlCol="0" anchor="ctr"/>
          <a:lstStyle/>
          <a:p>
            <a:pPr algn="ctr" indent="0" marL="0">
              <a:buNone/>
            </a:pPr>
            <a:r>
              <a:rPr lang="en-US" sz="1092" dirty="0">
                <a:solidFill>
                  <a:srgbClr val="FFFFFF"/>
                </a:solidFill>
                <a:latin typeface="Arial Black" pitchFamily="34" charset="0"/>
                <a:ea typeface="Arial Black" pitchFamily="34" charset="-122"/>
                <a:cs typeface="Arial Black" pitchFamily="34" charset="-120"/>
              </a:rPr>
              <a:t>3</a:t>
            </a:r>
            <a:endParaRPr lang="en-US" sz="1092" dirty="0"/>
          </a:p>
        </p:txBody>
      </p:sp>
      <p:sp>
        <p:nvSpPr>
          <p:cNvPr id="23" name="Text 21"/>
          <p:cNvSpPr txBox="1"/>
          <p:nvPr/>
        </p:nvSpPr>
        <p:spPr>
          <a:xfrm>
            <a:off x="6995160" y="1600200"/>
            <a:ext cx="1554480" cy="384048"/>
          </a:xfrm>
          <a:prstGeom prst="rect">
            <a:avLst/>
          </a:prstGeom>
          <a:noFill/>
          <a:ln/>
        </p:spPr>
        <p:txBody>
          <a:bodyPr wrap="square" lIns="0" tIns="0" rIns="0" bIns="0" rtlCol="0" anchor="ctr"/>
          <a:lstStyle/>
          <a:p>
            <a:pPr indent="0" marL="0">
              <a:buNone/>
            </a:pPr>
            <a:r>
              <a:rPr lang="en-US" sz="1600" b="1" dirty="0">
                <a:solidFill>
                  <a:srgbClr val="1B1E24"/>
                </a:solidFill>
                <a:latin typeface="Calibri" pitchFamily="34" charset="0"/>
                <a:ea typeface="Calibri" pitchFamily="34" charset="-122"/>
                <a:cs typeface="Calibri" pitchFamily="34" charset="-120"/>
              </a:rPr>
              <a:t>Diselamatkan</a:t>
            </a:r>
            <a:endParaRPr lang="en-US" sz="1600" dirty="0"/>
          </a:p>
        </p:txBody>
      </p:sp>
      <p:sp>
        <p:nvSpPr>
          <p:cNvPr id="24" name="Text 22"/>
          <p:cNvSpPr txBox="1"/>
          <p:nvPr/>
        </p:nvSpPr>
        <p:spPr>
          <a:xfrm>
            <a:off x="6492240" y="2103120"/>
            <a:ext cx="2011680" cy="640080"/>
          </a:xfrm>
          <a:prstGeom prst="rect">
            <a:avLst/>
          </a:prstGeom>
          <a:noFill/>
          <a:ln/>
        </p:spPr>
        <p:txBody>
          <a:bodyPr wrap="square" lIns="0" tIns="0" rIns="0" bIns="0" rtlCol="0" anchor="t"/>
          <a:lstStyle/>
          <a:p>
            <a:pPr indent="0" marL="0">
              <a:buNone/>
            </a:pPr>
            <a:r>
              <a:rPr lang="en-US" sz="1300" dirty="0">
                <a:solidFill>
                  <a:srgbClr val="5E6570"/>
                </a:solidFill>
                <a:latin typeface="Calibri" pitchFamily="34" charset="0"/>
                <a:ea typeface="Calibri" pitchFamily="34" charset="-122"/>
                <a:cs typeface="Calibri" pitchFamily="34" charset="-120"/>
              </a:rPr>
              <a:t>Teman berdiri di Cage 2 detik → bebas + kebal 2 detik</a:t>
            </a:r>
            <a:endParaRPr lang="en-US" sz="1300" dirty="0"/>
          </a:p>
        </p:txBody>
      </p:sp>
      <p:sp>
        <p:nvSpPr>
          <p:cNvPr id="25" name="Shape 23"/>
          <p:cNvSpPr/>
          <p:nvPr/>
        </p:nvSpPr>
        <p:spPr>
          <a:xfrm>
            <a:off x="457200" y="3063240"/>
            <a:ext cx="8229600" cy="1508760"/>
          </a:xfrm>
          <a:prstGeom prst="roundRect">
            <a:avLst>
              <a:gd name="adj" fmla="val 4848"/>
            </a:avLst>
          </a:prstGeom>
          <a:solidFill>
            <a:srgbClr val="15171C"/>
          </a:solidFill>
          <a:ln w="12700">
            <a:solidFill>
              <a:srgbClr val="15171C"/>
            </a:solidFill>
            <a:prstDash val="solid"/>
          </a:ln>
        </p:spPr>
      </p:sp>
      <p:sp>
        <p:nvSpPr>
          <p:cNvPr id="26" name="Text 24"/>
          <p:cNvSpPr txBox="1"/>
          <p:nvPr/>
        </p:nvSpPr>
        <p:spPr>
          <a:xfrm>
            <a:off x="731520" y="3200400"/>
            <a:ext cx="7680960" cy="411480"/>
          </a:xfrm>
          <a:prstGeom prst="rect">
            <a:avLst/>
          </a:prstGeom>
          <a:noFill/>
          <a:ln/>
        </p:spPr>
        <p:txBody>
          <a:bodyPr wrap="square" lIns="0" tIns="0" rIns="0" bIns="0" rtlCol="0" anchor="ctr"/>
          <a:lstStyle/>
          <a:p>
            <a:pPr indent="0" marL="0">
              <a:buNone/>
            </a:pPr>
            <a:r>
              <a:rPr lang="en-US" sz="1700" dirty="0">
                <a:solidFill>
                  <a:srgbClr val="FFFFFF"/>
                </a:solidFill>
                <a:latin typeface="Arial Black" pitchFamily="34" charset="0"/>
                <a:ea typeface="Arial Black" pitchFamily="34" charset="-122"/>
                <a:cs typeface="Arial Black" pitchFamily="34" charset="-120"/>
              </a:rPr>
              <a:t>Tertangkap kedua kali = tereliminasi</a:t>
            </a:r>
            <a:endParaRPr lang="en-US" sz="1700" dirty="0"/>
          </a:p>
        </p:txBody>
      </p:sp>
      <p:sp>
        <p:nvSpPr>
          <p:cNvPr id="27" name="Text 25"/>
          <p:cNvSpPr txBox="1"/>
          <p:nvPr/>
        </p:nvSpPr>
        <p:spPr>
          <a:xfrm>
            <a:off x="731520" y="3611880"/>
            <a:ext cx="7680960" cy="868680"/>
          </a:xfrm>
          <a:prstGeom prst="rect">
            <a:avLst/>
          </a:prstGeom>
          <a:noFill/>
          <a:ln/>
        </p:spPr>
        <p:txBody>
          <a:bodyPr wrap="square" lIns="0" tIns="0" rIns="0" bIns="0" rtlCol="0" anchor="t"/>
          <a:lstStyle/>
          <a:p>
            <a:pPr indent="0" marL="0">
              <a:buNone/>
            </a:pPr>
            <a:r>
              <a:rPr lang="en-US" sz="1350" dirty="0">
                <a:solidFill>
                  <a:srgbClr val="A9AFB9"/>
                </a:solidFill>
                <a:latin typeface="Calibri" pitchFamily="34" charset="0"/>
                <a:ea typeface="Calibri" pitchFamily="34" charset="-122"/>
                <a:cs typeface="Calibri" pitchFamily="34" charset="-120"/>
              </a:rPr>
              <a:t>Sisa orb miliknya berubah jadi orb putih yang bisa diambil Prey mana pun. Jadi Prey yang tersisa harus mengumpulkan lebih banyak, tapi gerbang tetap bisa dibuka. Prey yang dibiarkan di Cage selama 30 detik juga otomatis tereliminasi.</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10800000">
            <a:off x="7818120" y="411480"/>
            <a:ext cx="201168" cy="182880"/>
          </a:xfrm>
          <a:prstGeom prst="triangle">
            <a:avLst/>
          </a:prstGeom>
          <a:solidFill>
            <a:srgbClr val="7A45B8"/>
          </a:solidFill>
          <a:ln w="12700">
            <a:solidFill>
              <a:srgbClr val="7A45B8"/>
            </a:solidFill>
            <a:prstDash val="solid"/>
          </a:ln>
        </p:spPr>
      </p:sp>
      <p:sp>
        <p:nvSpPr>
          <p:cNvPr id="3" name="Shape 1"/>
          <p:cNvSpPr/>
          <p:nvPr/>
        </p:nvSpPr>
        <p:spPr>
          <a:xfrm>
            <a:off x="8110728" y="411480"/>
            <a:ext cx="182880" cy="182880"/>
          </a:xfrm>
          <a:prstGeom prst="ellipse">
            <a:avLst/>
          </a:prstGeom>
          <a:solidFill>
            <a:srgbClr val="2F6FDB"/>
          </a:solidFill>
          <a:ln w="12700">
            <a:solidFill>
              <a:srgbClr val="2F6FDB"/>
            </a:solidFill>
            <a:prstDash val="solid"/>
          </a:ln>
        </p:spPr>
      </p:sp>
      <p:sp>
        <p:nvSpPr>
          <p:cNvPr id="4" name="Shape 2"/>
          <p:cNvSpPr/>
          <p:nvPr/>
        </p:nvSpPr>
        <p:spPr>
          <a:xfrm>
            <a:off x="8385048" y="411480"/>
            <a:ext cx="182880" cy="182880"/>
          </a:xfrm>
          <a:prstGeom prst="ellipse">
            <a:avLst/>
          </a:prstGeom>
          <a:solidFill>
            <a:srgbClr val="D5433B"/>
          </a:solidFill>
          <a:ln w="12700">
            <a:solidFill>
              <a:srgbClr val="D5433B"/>
            </a:solidFill>
            <a:prstDash val="solid"/>
          </a:ln>
        </p:spPr>
      </p:sp>
      <p:sp>
        <p:nvSpPr>
          <p:cNvPr id="5" name="Shape 3"/>
          <p:cNvSpPr/>
          <p:nvPr/>
        </p:nvSpPr>
        <p:spPr>
          <a:xfrm>
            <a:off x="8659368" y="411480"/>
            <a:ext cx="182880" cy="182880"/>
          </a:xfrm>
          <a:prstGeom prst="ellipse">
            <a:avLst/>
          </a:prstGeom>
          <a:solidFill>
            <a:srgbClr val="E0A500"/>
          </a:solidFill>
          <a:ln w="12700">
            <a:solidFill>
              <a:srgbClr val="E0A500"/>
            </a:solidFill>
            <a:prstDash val="solid"/>
          </a:ln>
        </p:spPr>
      </p:sp>
      <p:sp>
        <p:nvSpPr>
          <p:cNvPr id="6" name="Text 4"/>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dirty="0">
                <a:solidFill>
                  <a:srgbClr val="1B1E24"/>
                </a:solidFill>
                <a:latin typeface="Arial Black" pitchFamily="34" charset="0"/>
                <a:ea typeface="Arial Black" pitchFamily="34" charset="-122"/>
                <a:cs typeface="Arial Black" pitchFamily="34" charset="-120"/>
              </a:rPr>
              <a:t>Ability</a:t>
            </a:r>
            <a:endParaRPr lang="en-US" sz="2800" dirty="0"/>
          </a:p>
        </p:txBody>
      </p:sp>
      <p:sp>
        <p:nvSpPr>
          <p:cNvPr id="7" name="Text 5"/>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400" dirty="0">
                <a:solidFill>
                  <a:srgbClr val="5E6570"/>
                </a:solidFill>
                <a:latin typeface="Calibri" pitchFamily="34" charset="0"/>
                <a:ea typeface="Calibri" pitchFamily="34" charset="-122"/>
                <a:cs typeface="Calibri" pitchFamily="34" charset="-120"/>
              </a:rPr>
              <a:t>Menyeimbangkan 1 lawan banyak</a:t>
            </a:r>
            <a:endParaRPr lang="en-US" sz="1400" dirty="0"/>
          </a:p>
        </p:txBody>
      </p:sp>
      <p:sp>
        <p:nvSpPr>
          <p:cNvPr id="8" name="Shape 6"/>
          <p:cNvSpPr/>
          <p:nvPr/>
        </p:nvSpPr>
        <p:spPr>
          <a:xfrm>
            <a:off x="457200" y="1371600"/>
            <a:ext cx="2606040" cy="2834640"/>
          </a:xfrm>
          <a:prstGeom prst="roundRect">
            <a:avLst>
              <a:gd name="adj" fmla="val 2807"/>
            </a:avLst>
          </a:prstGeom>
          <a:solidFill>
            <a:srgbClr val="F1F2F5"/>
          </a:solidFill>
          <a:ln w="12700">
            <a:solidFill>
              <a:srgbClr val="F1F2F5"/>
            </a:solidFill>
            <a:prstDash val="solid"/>
          </a:ln>
        </p:spPr>
      </p:sp>
      <p:sp>
        <p:nvSpPr>
          <p:cNvPr id="9" name="Shape 7"/>
          <p:cNvSpPr/>
          <p:nvPr/>
        </p:nvSpPr>
        <p:spPr>
          <a:xfrm>
            <a:off x="685800" y="1600200"/>
            <a:ext cx="502920" cy="502920"/>
          </a:xfrm>
          <a:prstGeom prst="ellipse">
            <a:avLst/>
          </a:prstGeom>
          <a:solidFill>
            <a:srgbClr val="7A45B8"/>
          </a:solidFill>
          <a:ln w="12700">
            <a:solidFill>
              <a:srgbClr val="7A45B8"/>
            </a:solidFill>
            <a:prstDash val="solid"/>
          </a:ln>
        </p:spPr>
      </p:sp>
      <p:sp>
        <p:nvSpPr>
          <p:cNvPr id="10" name="Text 8"/>
          <p:cNvSpPr txBox="1"/>
          <p:nvPr/>
        </p:nvSpPr>
        <p:spPr>
          <a:xfrm>
            <a:off x="685800" y="1600200"/>
            <a:ext cx="502920" cy="502920"/>
          </a:xfrm>
          <a:prstGeom prst="rect">
            <a:avLst/>
          </a:prstGeom>
          <a:noFill/>
          <a:ln/>
        </p:spPr>
        <p:txBody>
          <a:bodyPr wrap="square" lIns="0" tIns="0" rIns="0" bIns="0" rtlCol="0" anchor="ctr"/>
          <a:lstStyle/>
          <a:p>
            <a:pPr algn="ctr" indent="0" marL="0">
              <a:buNone/>
            </a:pPr>
            <a:r>
              <a:rPr lang="en-US" sz="1430" dirty="0">
                <a:solidFill>
                  <a:srgbClr val="FFFFFF"/>
                </a:solidFill>
                <a:latin typeface="Arial Black" pitchFamily="34" charset="0"/>
                <a:ea typeface="Arial Black" pitchFamily="34" charset="-122"/>
                <a:cs typeface="Arial Black" pitchFamily="34" charset="-120"/>
              </a:rPr>
              <a:t>D</a:t>
            </a:r>
            <a:endParaRPr lang="en-US" sz="1430" dirty="0"/>
          </a:p>
        </p:txBody>
      </p:sp>
      <p:sp>
        <p:nvSpPr>
          <p:cNvPr id="11" name="Text 9"/>
          <p:cNvSpPr txBox="1"/>
          <p:nvPr/>
        </p:nvSpPr>
        <p:spPr>
          <a:xfrm>
            <a:off x="685800" y="2240280"/>
            <a:ext cx="2148840" cy="411480"/>
          </a:xfrm>
          <a:prstGeom prst="rect">
            <a:avLst/>
          </a:prstGeom>
          <a:noFill/>
          <a:ln/>
        </p:spPr>
        <p:txBody>
          <a:bodyPr wrap="square" lIns="0" tIns="0" rIns="0" bIns="0" rtlCol="0" anchor="ctr"/>
          <a:lstStyle/>
          <a:p>
            <a:pPr indent="0" marL="0">
              <a:buNone/>
            </a:pPr>
            <a:r>
              <a:rPr lang="en-US" sz="1800" dirty="0">
                <a:solidFill>
                  <a:srgbClr val="1B1E24"/>
                </a:solidFill>
                <a:latin typeface="Arial Black" pitchFamily="34" charset="0"/>
                <a:ea typeface="Arial Black" pitchFamily="34" charset="-122"/>
                <a:cs typeface="Arial Black" pitchFamily="34" charset="-120"/>
              </a:rPr>
              <a:t>Dash</a:t>
            </a:r>
            <a:endParaRPr lang="en-US" sz="1800" dirty="0"/>
          </a:p>
        </p:txBody>
      </p:sp>
      <p:sp>
        <p:nvSpPr>
          <p:cNvPr id="12" name="Text 10"/>
          <p:cNvSpPr txBox="1"/>
          <p:nvPr/>
        </p:nvSpPr>
        <p:spPr>
          <a:xfrm>
            <a:off x="685800" y="2651760"/>
            <a:ext cx="2148840" cy="274320"/>
          </a:xfrm>
          <a:prstGeom prst="rect">
            <a:avLst/>
          </a:prstGeom>
          <a:noFill/>
          <a:ln/>
        </p:spPr>
        <p:txBody>
          <a:bodyPr wrap="square" lIns="0" tIns="0" rIns="0" bIns="0" rtlCol="0" anchor="ctr"/>
          <a:lstStyle/>
          <a:p>
            <a:pPr indent="0" marL="0">
              <a:buNone/>
            </a:pPr>
            <a:r>
              <a:rPr lang="en-US" sz="1200" b="1" dirty="0">
                <a:solidFill>
                  <a:srgbClr val="7A45B8"/>
                </a:solidFill>
                <a:latin typeface="Calibri" pitchFamily="34" charset="0"/>
                <a:ea typeface="Calibri" pitchFamily="34" charset="-122"/>
                <a:cs typeface="Calibri" pitchFamily="34" charset="-120"/>
              </a:rPr>
              <a:t>Hunter &amp; Prey</a:t>
            </a:r>
            <a:endParaRPr lang="en-US" sz="1200" dirty="0"/>
          </a:p>
        </p:txBody>
      </p:sp>
      <p:sp>
        <p:nvSpPr>
          <p:cNvPr id="13" name="Text 11"/>
          <p:cNvSpPr txBox="1"/>
          <p:nvPr/>
        </p:nvSpPr>
        <p:spPr>
          <a:xfrm>
            <a:off x="685800" y="3017520"/>
            <a:ext cx="2194560" cy="1097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1E24"/>
                </a:solidFill>
                <a:latin typeface="Calibri" pitchFamily="34" charset="0"/>
                <a:ea typeface="Calibri" pitchFamily="34" charset="-122"/>
                <a:cs typeface="Calibri" pitchFamily="34" charset="-120"/>
              </a:rPr>
              <a:t>Hunter: 6 m, cooldown 6 dtk</a:t>
            </a:r>
            <a:endParaRPr lang="en-US" sz="1250" dirty="0"/>
          </a:p>
          <a:p>
            <a:pPr marL="177800" indent="-177800">
              <a:spcAft>
                <a:spcPts val="600"/>
              </a:spcAft>
              <a:buSzPct val="100000"/>
              <a:buChar char="•"/>
            </a:pPr>
            <a:r>
              <a:rPr lang="en-US" sz="1250" dirty="0">
                <a:solidFill>
                  <a:srgbClr val="1B1E24"/>
                </a:solidFill>
                <a:latin typeface="Calibri" pitchFamily="34" charset="0"/>
                <a:ea typeface="Calibri" pitchFamily="34" charset="-122"/>
                <a:cs typeface="Calibri" pitchFamily="34" charset="-120"/>
              </a:rPr>
              <a:t>Prey: 4 m, cooldown 8 dtk</a:t>
            </a:r>
            <a:endParaRPr lang="en-US" sz="1250" dirty="0"/>
          </a:p>
          <a:p>
            <a:pPr marL="177800" indent="-177800">
              <a:spcAft>
                <a:spcPts val="600"/>
              </a:spcAft>
              <a:buSzPct val="100000"/>
              <a:buChar char="•"/>
            </a:pPr>
            <a:r>
              <a:rPr lang="en-US" sz="1250" dirty="0">
                <a:solidFill>
                  <a:srgbClr val="1B1E24"/>
                </a:solidFill>
                <a:latin typeface="Calibri" pitchFamily="34" charset="0"/>
                <a:ea typeface="Calibri" pitchFamily="34" charset="-122"/>
                <a:cs typeface="Calibri" pitchFamily="34" charset="-120"/>
              </a:rPr>
              <a:t>Hunter bisa tag saat dash</a:t>
            </a:r>
            <a:endParaRPr lang="en-US" sz="1250" dirty="0"/>
          </a:p>
        </p:txBody>
      </p:sp>
      <p:sp>
        <p:nvSpPr>
          <p:cNvPr id="14" name="Shape 12"/>
          <p:cNvSpPr/>
          <p:nvPr/>
        </p:nvSpPr>
        <p:spPr>
          <a:xfrm>
            <a:off x="3268980" y="1371600"/>
            <a:ext cx="2606040" cy="2834640"/>
          </a:xfrm>
          <a:prstGeom prst="roundRect">
            <a:avLst>
              <a:gd name="adj" fmla="val 2807"/>
            </a:avLst>
          </a:prstGeom>
          <a:solidFill>
            <a:srgbClr val="F1F2F5"/>
          </a:solidFill>
          <a:ln w="12700">
            <a:solidFill>
              <a:srgbClr val="F1F2F5"/>
            </a:solidFill>
            <a:prstDash val="solid"/>
          </a:ln>
        </p:spPr>
      </p:sp>
      <p:sp>
        <p:nvSpPr>
          <p:cNvPr id="15" name="Shape 13"/>
          <p:cNvSpPr/>
          <p:nvPr/>
        </p:nvSpPr>
        <p:spPr>
          <a:xfrm>
            <a:off x="3497580" y="1600200"/>
            <a:ext cx="502920" cy="502920"/>
          </a:xfrm>
          <a:prstGeom prst="ellipse">
            <a:avLst/>
          </a:prstGeom>
          <a:solidFill>
            <a:srgbClr val="D5433B"/>
          </a:solidFill>
          <a:ln w="12700">
            <a:solidFill>
              <a:srgbClr val="D5433B"/>
            </a:solidFill>
            <a:prstDash val="solid"/>
          </a:ln>
        </p:spPr>
      </p:sp>
      <p:sp>
        <p:nvSpPr>
          <p:cNvPr id="16" name="Text 14"/>
          <p:cNvSpPr txBox="1"/>
          <p:nvPr/>
        </p:nvSpPr>
        <p:spPr>
          <a:xfrm>
            <a:off x="3497580" y="1600200"/>
            <a:ext cx="502920" cy="502920"/>
          </a:xfrm>
          <a:prstGeom prst="rect">
            <a:avLst/>
          </a:prstGeom>
          <a:noFill/>
          <a:ln/>
        </p:spPr>
        <p:txBody>
          <a:bodyPr wrap="square" lIns="0" tIns="0" rIns="0" bIns="0" rtlCol="0" anchor="ctr"/>
          <a:lstStyle/>
          <a:p>
            <a:pPr algn="ctr" indent="0" marL="0">
              <a:buNone/>
            </a:pPr>
            <a:r>
              <a:rPr lang="en-US" sz="1430" dirty="0">
                <a:solidFill>
                  <a:srgbClr val="FFFFFF"/>
                </a:solidFill>
                <a:latin typeface="Arial Black" pitchFamily="34" charset="0"/>
                <a:ea typeface="Arial Black" pitchFamily="34" charset="-122"/>
                <a:cs typeface="Arial Black" pitchFamily="34" charset="-120"/>
              </a:rPr>
              <a:t>T</a:t>
            </a:r>
            <a:endParaRPr lang="en-US" sz="1430" dirty="0"/>
          </a:p>
        </p:txBody>
      </p:sp>
      <p:sp>
        <p:nvSpPr>
          <p:cNvPr id="17" name="Text 15"/>
          <p:cNvSpPr txBox="1"/>
          <p:nvPr/>
        </p:nvSpPr>
        <p:spPr>
          <a:xfrm>
            <a:off x="3497580" y="2240280"/>
            <a:ext cx="2148840" cy="411480"/>
          </a:xfrm>
          <a:prstGeom prst="rect">
            <a:avLst/>
          </a:prstGeom>
          <a:noFill/>
          <a:ln/>
        </p:spPr>
        <p:txBody>
          <a:bodyPr wrap="square" lIns="0" tIns="0" rIns="0" bIns="0" rtlCol="0" anchor="ctr"/>
          <a:lstStyle/>
          <a:p>
            <a:pPr indent="0" marL="0">
              <a:buNone/>
            </a:pPr>
            <a:r>
              <a:rPr lang="en-US" sz="1800" dirty="0">
                <a:solidFill>
                  <a:srgbClr val="1B1E24"/>
                </a:solidFill>
                <a:latin typeface="Arial Black" pitchFamily="34" charset="0"/>
                <a:ea typeface="Arial Black" pitchFamily="34" charset="-122"/>
                <a:cs typeface="Arial Black" pitchFamily="34" charset="-120"/>
              </a:rPr>
              <a:t>Trap</a:t>
            </a:r>
            <a:endParaRPr lang="en-US" sz="1800" dirty="0"/>
          </a:p>
        </p:txBody>
      </p:sp>
      <p:sp>
        <p:nvSpPr>
          <p:cNvPr id="18" name="Text 16"/>
          <p:cNvSpPr txBox="1"/>
          <p:nvPr/>
        </p:nvSpPr>
        <p:spPr>
          <a:xfrm>
            <a:off x="3497580" y="2651760"/>
            <a:ext cx="2148840" cy="274320"/>
          </a:xfrm>
          <a:prstGeom prst="rect">
            <a:avLst/>
          </a:prstGeom>
          <a:noFill/>
          <a:ln/>
        </p:spPr>
        <p:txBody>
          <a:bodyPr wrap="square" lIns="0" tIns="0" rIns="0" bIns="0" rtlCol="0" anchor="ctr"/>
          <a:lstStyle/>
          <a:p>
            <a:pPr indent="0" marL="0">
              <a:buNone/>
            </a:pPr>
            <a:r>
              <a:rPr lang="en-US" sz="1200" b="1" dirty="0">
                <a:solidFill>
                  <a:srgbClr val="D5433B"/>
                </a:solidFill>
                <a:latin typeface="Calibri" pitchFamily="34" charset="0"/>
                <a:ea typeface="Calibri" pitchFamily="34" charset="-122"/>
                <a:cs typeface="Calibri" pitchFamily="34" charset="-120"/>
              </a:rPr>
              <a:t>Khusus Prey</a:t>
            </a:r>
            <a:endParaRPr lang="en-US" sz="1200" dirty="0"/>
          </a:p>
        </p:txBody>
      </p:sp>
      <p:sp>
        <p:nvSpPr>
          <p:cNvPr id="19" name="Text 17"/>
          <p:cNvSpPr txBox="1"/>
          <p:nvPr/>
        </p:nvSpPr>
        <p:spPr>
          <a:xfrm>
            <a:off x="3497580" y="3017520"/>
            <a:ext cx="2194560" cy="1097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1E24"/>
                </a:solidFill>
                <a:latin typeface="Calibri" pitchFamily="34" charset="0"/>
                <a:ea typeface="Calibri" pitchFamily="34" charset="-122"/>
                <a:cs typeface="Calibri" pitchFamily="34" charset="-120"/>
              </a:rPr>
              <a:t>Hunter terinjak → stun 2 dtk</a:t>
            </a:r>
            <a:endParaRPr lang="en-US" sz="1250" dirty="0"/>
          </a:p>
          <a:p>
            <a:pPr marL="177800" indent="-177800">
              <a:spcAft>
                <a:spcPts val="600"/>
              </a:spcAft>
              <a:buSzPct val="100000"/>
              <a:buChar char="•"/>
            </a:pPr>
            <a:r>
              <a:rPr lang="en-US" sz="1250" dirty="0">
                <a:solidFill>
                  <a:srgbClr val="1B1E24"/>
                </a:solidFill>
                <a:latin typeface="Calibri" pitchFamily="34" charset="0"/>
                <a:ea typeface="Calibri" pitchFamily="34" charset="-122"/>
                <a:cs typeface="Calibri" pitchFamily="34" charset="-120"/>
              </a:rPr>
              <a:t>Maks. 1 trap aktif per Prey</a:t>
            </a:r>
            <a:endParaRPr lang="en-US" sz="1250" dirty="0"/>
          </a:p>
          <a:p>
            <a:pPr marL="177800" indent="-177800">
              <a:spcAft>
                <a:spcPts val="600"/>
              </a:spcAft>
              <a:buSzPct val="100000"/>
              <a:buChar char="•"/>
            </a:pPr>
            <a:r>
              <a:rPr lang="en-US" sz="1250" dirty="0">
                <a:solidFill>
                  <a:srgbClr val="1B1E24"/>
                </a:solidFill>
                <a:latin typeface="Calibri" pitchFamily="34" charset="0"/>
                <a:ea typeface="Calibri" pitchFamily="34" charset="-122"/>
                <a:cs typeface="Calibri" pitchFamily="34" charset="-120"/>
              </a:rPr>
              <a:t>Hilang setelah 20 dtk, cooldown 15 dtk</a:t>
            </a:r>
            <a:endParaRPr lang="en-US" sz="1250" dirty="0"/>
          </a:p>
        </p:txBody>
      </p:sp>
      <p:sp>
        <p:nvSpPr>
          <p:cNvPr id="20" name="Shape 18"/>
          <p:cNvSpPr/>
          <p:nvPr/>
        </p:nvSpPr>
        <p:spPr>
          <a:xfrm>
            <a:off x="6080760" y="1371600"/>
            <a:ext cx="2606040" cy="2834640"/>
          </a:xfrm>
          <a:prstGeom prst="roundRect">
            <a:avLst>
              <a:gd name="adj" fmla="val 2807"/>
            </a:avLst>
          </a:prstGeom>
          <a:solidFill>
            <a:srgbClr val="F1F2F5"/>
          </a:solidFill>
          <a:ln w="12700">
            <a:solidFill>
              <a:srgbClr val="F1F2F5"/>
            </a:solidFill>
            <a:prstDash val="solid"/>
          </a:ln>
        </p:spPr>
      </p:sp>
      <p:sp>
        <p:nvSpPr>
          <p:cNvPr id="21" name="Shape 19"/>
          <p:cNvSpPr/>
          <p:nvPr/>
        </p:nvSpPr>
        <p:spPr>
          <a:xfrm>
            <a:off x="6309360" y="1600200"/>
            <a:ext cx="502920" cy="502920"/>
          </a:xfrm>
          <a:prstGeom prst="ellipse">
            <a:avLst/>
          </a:prstGeom>
          <a:solidFill>
            <a:srgbClr val="1B1E24"/>
          </a:solidFill>
          <a:ln w="12700">
            <a:solidFill>
              <a:srgbClr val="1B1E24"/>
            </a:solidFill>
            <a:prstDash val="solid"/>
          </a:ln>
        </p:spPr>
      </p:sp>
      <p:sp>
        <p:nvSpPr>
          <p:cNvPr id="22" name="Text 20"/>
          <p:cNvSpPr txBox="1"/>
          <p:nvPr/>
        </p:nvSpPr>
        <p:spPr>
          <a:xfrm>
            <a:off x="6309360" y="1600200"/>
            <a:ext cx="502920" cy="502920"/>
          </a:xfrm>
          <a:prstGeom prst="rect">
            <a:avLst/>
          </a:prstGeom>
          <a:noFill/>
          <a:ln/>
        </p:spPr>
        <p:txBody>
          <a:bodyPr wrap="square" lIns="0" tIns="0" rIns="0" bIns="0" rtlCol="0" anchor="ctr"/>
          <a:lstStyle/>
          <a:p>
            <a:pPr algn="ctr" indent="0" marL="0">
              <a:buNone/>
            </a:pPr>
            <a:r>
              <a:rPr lang="en-US" sz="1430" dirty="0">
                <a:solidFill>
                  <a:srgbClr val="FFFFFF"/>
                </a:solidFill>
                <a:latin typeface="Arial Black" pitchFamily="34" charset="0"/>
                <a:ea typeface="Arial Black" pitchFamily="34" charset="-122"/>
                <a:cs typeface="Arial Black" pitchFamily="34" charset="-120"/>
              </a:rPr>
              <a:t>A</a:t>
            </a:r>
            <a:endParaRPr lang="en-US" sz="1430" dirty="0"/>
          </a:p>
        </p:txBody>
      </p:sp>
      <p:sp>
        <p:nvSpPr>
          <p:cNvPr id="23" name="Text 21"/>
          <p:cNvSpPr txBox="1"/>
          <p:nvPr/>
        </p:nvSpPr>
        <p:spPr>
          <a:xfrm>
            <a:off x="6309360" y="2240280"/>
            <a:ext cx="2148840" cy="411480"/>
          </a:xfrm>
          <a:prstGeom prst="rect">
            <a:avLst/>
          </a:prstGeom>
          <a:noFill/>
          <a:ln/>
        </p:spPr>
        <p:txBody>
          <a:bodyPr wrap="square" lIns="0" tIns="0" rIns="0" bIns="0" rtlCol="0" anchor="ctr"/>
          <a:lstStyle/>
          <a:p>
            <a:pPr indent="0" marL="0">
              <a:buNone/>
            </a:pPr>
            <a:r>
              <a:rPr lang="en-US" sz="1800" dirty="0">
                <a:solidFill>
                  <a:srgbClr val="1B1E24"/>
                </a:solidFill>
                <a:latin typeface="Arial Black" pitchFamily="34" charset="0"/>
                <a:ea typeface="Arial Black" pitchFamily="34" charset="-122"/>
                <a:cs typeface="Arial Black" pitchFamily="34" charset="-120"/>
              </a:rPr>
              <a:t>Anti-camping</a:t>
            </a:r>
            <a:endParaRPr lang="en-US" sz="1800" dirty="0"/>
          </a:p>
        </p:txBody>
      </p:sp>
      <p:sp>
        <p:nvSpPr>
          <p:cNvPr id="24" name="Text 22"/>
          <p:cNvSpPr txBox="1"/>
          <p:nvPr/>
        </p:nvSpPr>
        <p:spPr>
          <a:xfrm>
            <a:off x="6309360" y="2651760"/>
            <a:ext cx="2148840" cy="274320"/>
          </a:xfrm>
          <a:prstGeom prst="rect">
            <a:avLst/>
          </a:prstGeom>
          <a:noFill/>
          <a:ln/>
        </p:spPr>
        <p:txBody>
          <a:bodyPr wrap="square" lIns="0" tIns="0" rIns="0" bIns="0" rtlCol="0" anchor="ctr"/>
          <a:lstStyle/>
          <a:p>
            <a:pPr indent="0" marL="0">
              <a:buNone/>
            </a:pPr>
            <a:r>
              <a:rPr lang="en-US" sz="1200" b="1" dirty="0">
                <a:solidFill>
                  <a:srgbClr val="5E6570"/>
                </a:solidFill>
                <a:latin typeface="Calibri" pitchFamily="34" charset="0"/>
                <a:ea typeface="Calibri" pitchFamily="34" charset="-122"/>
                <a:cs typeface="Calibri" pitchFamily="34" charset="-120"/>
              </a:rPr>
              <a:t>Aturan Hunter</a:t>
            </a:r>
            <a:endParaRPr lang="en-US" sz="1200" dirty="0"/>
          </a:p>
        </p:txBody>
      </p:sp>
      <p:sp>
        <p:nvSpPr>
          <p:cNvPr id="25" name="Text 23"/>
          <p:cNvSpPr txBox="1"/>
          <p:nvPr/>
        </p:nvSpPr>
        <p:spPr>
          <a:xfrm>
            <a:off x="6309360" y="3017520"/>
            <a:ext cx="2194560" cy="1097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1E24"/>
                </a:solidFill>
                <a:latin typeface="Calibri" pitchFamily="34" charset="0"/>
                <a:ea typeface="Calibri" pitchFamily="34" charset="-122"/>
                <a:cs typeface="Calibri" pitchFamily="34" charset="-120"/>
              </a:rPr>
              <a:t>Diam di radius 3 m &gt; 4 dtk</a:t>
            </a:r>
            <a:endParaRPr lang="en-US" sz="1250" dirty="0"/>
          </a:p>
          <a:p>
            <a:pPr marL="177800" indent="-177800">
              <a:spcAft>
                <a:spcPts val="600"/>
              </a:spcAft>
              <a:buSzPct val="100000"/>
              <a:buChar char="•"/>
            </a:pPr>
            <a:r>
              <a:rPr lang="en-US" sz="1250" dirty="0">
                <a:solidFill>
                  <a:srgbClr val="1B1E24"/>
                </a:solidFill>
                <a:latin typeface="Calibri" pitchFamily="34" charset="0"/>
                <a:ea typeface="Calibri" pitchFamily="34" charset="-122"/>
                <a:cs typeface="Calibri" pitchFamily="34" charset="-120"/>
              </a:rPr>
              <a:t>→ Exhausted: tidak bisa tag 3 dtk</a:t>
            </a:r>
            <a:endParaRPr lang="en-US" sz="1250" dirty="0"/>
          </a:p>
          <a:p>
            <a:pPr marL="177800" indent="-177800">
              <a:spcAft>
                <a:spcPts val="600"/>
              </a:spcAft>
              <a:buSzPct val="100000"/>
              <a:buChar char="•"/>
            </a:pPr>
            <a:r>
              <a:rPr lang="en-US" sz="1250" dirty="0">
                <a:solidFill>
                  <a:srgbClr val="1B1E24"/>
                </a:solidFill>
                <a:latin typeface="Calibri" pitchFamily="34" charset="0"/>
                <a:ea typeface="Calibri" pitchFamily="34" charset="-122"/>
                <a:cs typeface="Calibri" pitchFamily="34" charset="-120"/>
              </a:rPr>
              <a:t>Mencegah jaga Cage/orb terus</a:t>
            </a:r>
            <a:endParaRPr lang="en-US" sz="1250" dirty="0"/>
          </a:p>
        </p:txBody>
      </p:sp>
      <p:sp>
        <p:nvSpPr>
          <p:cNvPr id="26" name="Text 24"/>
          <p:cNvSpPr txBox="1"/>
          <p:nvPr/>
        </p:nvSpPr>
        <p:spPr>
          <a:xfrm>
            <a:off x="457200" y="4389120"/>
            <a:ext cx="8229600" cy="320040"/>
          </a:xfrm>
          <a:prstGeom prst="rect">
            <a:avLst/>
          </a:prstGeom>
          <a:noFill/>
          <a:ln/>
        </p:spPr>
        <p:txBody>
          <a:bodyPr wrap="square" lIns="0" tIns="0" rIns="0" bIns="0" rtlCol="0" anchor="ctr"/>
          <a:lstStyle/>
          <a:p>
            <a:pPr indent="0" marL="0">
              <a:buNone/>
            </a:pPr>
            <a:r>
              <a:rPr lang="en-US" sz="1300" i="1" dirty="0">
                <a:solidFill>
                  <a:srgbClr val="5E6570"/>
                </a:solidFill>
                <a:latin typeface="Calibri" pitchFamily="34" charset="0"/>
                <a:ea typeface="Calibri" pitchFamily="34" charset="-122"/>
                <a:cs typeface="Calibri" pitchFamily="34" charset="-120"/>
              </a:rPr>
              <a:t>Kecepatan: Hunter 5,5 m/s · Prey 5,0 m/s → Prey harus memanfaatkan rintangan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10800000">
            <a:off x="7818120" y="411480"/>
            <a:ext cx="201168" cy="182880"/>
          </a:xfrm>
          <a:prstGeom prst="triangle">
            <a:avLst/>
          </a:prstGeom>
          <a:solidFill>
            <a:srgbClr val="7A45B8"/>
          </a:solidFill>
          <a:ln w="12700">
            <a:solidFill>
              <a:srgbClr val="7A45B8"/>
            </a:solidFill>
            <a:prstDash val="solid"/>
          </a:ln>
        </p:spPr>
      </p:sp>
      <p:sp>
        <p:nvSpPr>
          <p:cNvPr id="3" name="Shape 1"/>
          <p:cNvSpPr/>
          <p:nvPr/>
        </p:nvSpPr>
        <p:spPr>
          <a:xfrm>
            <a:off x="8110728" y="411480"/>
            <a:ext cx="182880" cy="182880"/>
          </a:xfrm>
          <a:prstGeom prst="ellipse">
            <a:avLst/>
          </a:prstGeom>
          <a:solidFill>
            <a:srgbClr val="2F6FDB"/>
          </a:solidFill>
          <a:ln w="12700">
            <a:solidFill>
              <a:srgbClr val="2F6FDB"/>
            </a:solidFill>
            <a:prstDash val="solid"/>
          </a:ln>
        </p:spPr>
      </p:sp>
      <p:sp>
        <p:nvSpPr>
          <p:cNvPr id="4" name="Shape 2"/>
          <p:cNvSpPr/>
          <p:nvPr/>
        </p:nvSpPr>
        <p:spPr>
          <a:xfrm>
            <a:off x="8385048" y="411480"/>
            <a:ext cx="182880" cy="182880"/>
          </a:xfrm>
          <a:prstGeom prst="ellipse">
            <a:avLst/>
          </a:prstGeom>
          <a:solidFill>
            <a:srgbClr val="D5433B"/>
          </a:solidFill>
          <a:ln w="12700">
            <a:solidFill>
              <a:srgbClr val="D5433B"/>
            </a:solidFill>
            <a:prstDash val="solid"/>
          </a:ln>
        </p:spPr>
      </p:sp>
      <p:sp>
        <p:nvSpPr>
          <p:cNvPr id="5" name="Shape 3"/>
          <p:cNvSpPr/>
          <p:nvPr/>
        </p:nvSpPr>
        <p:spPr>
          <a:xfrm>
            <a:off x="8659368" y="411480"/>
            <a:ext cx="182880" cy="182880"/>
          </a:xfrm>
          <a:prstGeom prst="ellipse">
            <a:avLst/>
          </a:prstGeom>
          <a:solidFill>
            <a:srgbClr val="E0A500"/>
          </a:solidFill>
          <a:ln w="12700">
            <a:solidFill>
              <a:srgbClr val="E0A500"/>
            </a:solidFill>
            <a:prstDash val="solid"/>
          </a:ln>
        </p:spPr>
      </p:sp>
      <p:sp>
        <p:nvSpPr>
          <p:cNvPr id="6" name="Text 4"/>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dirty="0">
                <a:solidFill>
                  <a:srgbClr val="1B1E24"/>
                </a:solidFill>
                <a:latin typeface="Arial Black" pitchFamily="34" charset="0"/>
                <a:ea typeface="Arial Black" pitchFamily="34" charset="-122"/>
                <a:cs typeface="Arial Black" pitchFamily="34" charset="-120"/>
              </a:rPr>
              <a:t>Kondisi Menang</a:t>
            </a:r>
            <a:endParaRPr lang="en-US" sz="2800" dirty="0"/>
          </a:p>
        </p:txBody>
      </p:sp>
      <p:sp>
        <p:nvSpPr>
          <p:cNvPr id="7" name="Text 5"/>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400" dirty="0">
                <a:solidFill>
                  <a:srgbClr val="5E6570"/>
                </a:solidFill>
                <a:latin typeface="Calibri" pitchFamily="34" charset="0"/>
                <a:ea typeface="Calibri" pitchFamily="34" charset="-122"/>
                <a:cs typeface="Calibri" pitchFamily="34" charset="-120"/>
              </a:rPr>
              <a:t>Ditentukan oleh jumlah Prey yang berhasil kabur</a:t>
            </a:r>
            <a:endParaRPr lang="en-US" sz="1400" dirty="0"/>
          </a:p>
        </p:txBody>
      </p:sp>
      <p:sp>
        <p:nvSpPr>
          <p:cNvPr id="8" name="Shape 6"/>
          <p:cNvSpPr/>
          <p:nvPr/>
        </p:nvSpPr>
        <p:spPr>
          <a:xfrm>
            <a:off x="457200" y="1371600"/>
            <a:ext cx="3977640" cy="3108960"/>
          </a:xfrm>
          <a:prstGeom prst="roundRect">
            <a:avLst>
              <a:gd name="adj" fmla="val 2353"/>
            </a:avLst>
          </a:prstGeom>
          <a:solidFill>
            <a:srgbClr val="7A45B8"/>
          </a:solidFill>
          <a:ln w="12700">
            <a:solidFill>
              <a:srgbClr val="7A45B8"/>
            </a:solidFill>
            <a:prstDash val="solid"/>
          </a:ln>
        </p:spPr>
      </p:sp>
      <p:sp>
        <p:nvSpPr>
          <p:cNvPr id="9" name="Text 7"/>
          <p:cNvSpPr txBox="1"/>
          <p:nvPr/>
        </p:nvSpPr>
        <p:spPr>
          <a:xfrm>
            <a:off x="777240" y="1508760"/>
            <a:ext cx="3474720" cy="1005840"/>
          </a:xfrm>
          <a:prstGeom prst="rect">
            <a:avLst/>
          </a:prstGeom>
          <a:noFill/>
          <a:ln/>
        </p:spPr>
        <p:txBody>
          <a:bodyPr wrap="square" lIns="0" tIns="0" rIns="0" bIns="0" rtlCol="0" anchor="ctr"/>
          <a:lstStyle/>
          <a:p>
            <a:pPr indent="0" marL="0">
              <a:buNone/>
            </a:pPr>
            <a:r>
              <a:rPr lang="en-US" sz="6000" dirty="0">
                <a:solidFill>
                  <a:srgbClr val="FFFFFF"/>
                </a:solidFill>
                <a:latin typeface="Arial Black" pitchFamily="34" charset="0"/>
                <a:ea typeface="Arial Black" pitchFamily="34" charset="-122"/>
                <a:cs typeface="Arial Black" pitchFamily="34" charset="-120"/>
              </a:rPr>
              <a:t>0–1</a:t>
            </a:r>
            <a:endParaRPr lang="en-US" sz="6000" dirty="0"/>
          </a:p>
        </p:txBody>
      </p:sp>
      <p:sp>
        <p:nvSpPr>
          <p:cNvPr id="10" name="Text 8"/>
          <p:cNvSpPr txBox="1"/>
          <p:nvPr/>
        </p:nvSpPr>
        <p:spPr>
          <a:xfrm>
            <a:off x="777240" y="2514600"/>
            <a:ext cx="3474720" cy="3200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Prey kabur</a:t>
            </a:r>
            <a:endParaRPr lang="en-US" sz="1500" dirty="0"/>
          </a:p>
        </p:txBody>
      </p:sp>
      <p:sp>
        <p:nvSpPr>
          <p:cNvPr id="11" name="Text 9"/>
          <p:cNvSpPr txBox="1"/>
          <p:nvPr/>
        </p:nvSpPr>
        <p:spPr>
          <a:xfrm>
            <a:off x="777240" y="2971800"/>
            <a:ext cx="3474720" cy="411480"/>
          </a:xfrm>
          <a:prstGeom prst="rect">
            <a:avLst/>
          </a:prstGeom>
          <a:noFill/>
          <a:ln/>
        </p:spPr>
        <p:txBody>
          <a:bodyPr wrap="square" lIns="0" tIns="0" rIns="0" bIns="0" rtlCol="0" anchor="ctr"/>
          <a:lstStyle/>
          <a:p>
            <a:pPr indent="0" marL="0">
              <a:buNone/>
            </a:pPr>
            <a:r>
              <a:rPr lang="en-US" sz="2000" dirty="0">
                <a:solidFill>
                  <a:srgbClr val="FFFFFF"/>
                </a:solidFill>
                <a:latin typeface="Arial Black" pitchFamily="34" charset="0"/>
                <a:ea typeface="Arial Black" pitchFamily="34" charset="-122"/>
                <a:cs typeface="Arial Black" pitchFamily="34" charset="-120"/>
              </a:rPr>
              <a:t>HUNTER MENANG</a:t>
            </a:r>
            <a:endParaRPr lang="en-US" sz="2000" dirty="0"/>
          </a:p>
        </p:txBody>
      </p:sp>
      <p:sp>
        <p:nvSpPr>
          <p:cNvPr id="12" name="Text 10"/>
          <p:cNvSpPr txBox="1"/>
          <p:nvPr/>
        </p:nvSpPr>
        <p:spPr>
          <a:xfrm>
            <a:off x="777240" y="3429000"/>
            <a:ext cx="3383280" cy="91440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Waktu habis sebelum mayoritas Prey kabur, atau semua Prey bebas tertangkap bersamaan (langsung menang).</a:t>
            </a:r>
            <a:endParaRPr lang="en-US" sz="1350" dirty="0"/>
          </a:p>
        </p:txBody>
      </p:sp>
      <p:sp>
        <p:nvSpPr>
          <p:cNvPr id="13" name="Shape 11"/>
          <p:cNvSpPr/>
          <p:nvPr/>
        </p:nvSpPr>
        <p:spPr>
          <a:xfrm>
            <a:off x="4709160" y="1371600"/>
            <a:ext cx="3977640" cy="3108960"/>
          </a:xfrm>
          <a:prstGeom prst="roundRect">
            <a:avLst>
              <a:gd name="adj" fmla="val 2353"/>
            </a:avLst>
          </a:prstGeom>
          <a:solidFill>
            <a:srgbClr val="1F9D6B"/>
          </a:solidFill>
          <a:ln w="12700">
            <a:solidFill>
              <a:srgbClr val="1F9D6B"/>
            </a:solidFill>
            <a:prstDash val="solid"/>
          </a:ln>
        </p:spPr>
      </p:sp>
      <p:sp>
        <p:nvSpPr>
          <p:cNvPr id="14" name="Text 12"/>
          <p:cNvSpPr txBox="1"/>
          <p:nvPr/>
        </p:nvSpPr>
        <p:spPr>
          <a:xfrm>
            <a:off x="5029200" y="1508760"/>
            <a:ext cx="3474720" cy="1005840"/>
          </a:xfrm>
          <a:prstGeom prst="rect">
            <a:avLst/>
          </a:prstGeom>
          <a:noFill/>
          <a:ln/>
        </p:spPr>
        <p:txBody>
          <a:bodyPr wrap="square" lIns="0" tIns="0" rIns="0" bIns="0" rtlCol="0" anchor="ctr"/>
          <a:lstStyle/>
          <a:p>
            <a:pPr indent="0" marL="0">
              <a:buNone/>
            </a:pPr>
            <a:r>
              <a:rPr lang="en-US" sz="6000" dirty="0">
                <a:solidFill>
                  <a:srgbClr val="FFFFFF"/>
                </a:solidFill>
                <a:latin typeface="Arial Black" pitchFamily="34" charset="0"/>
                <a:ea typeface="Arial Black" pitchFamily="34" charset="-122"/>
                <a:cs typeface="Arial Black" pitchFamily="34" charset="-120"/>
              </a:rPr>
              <a:t>2–3</a:t>
            </a:r>
            <a:endParaRPr lang="en-US" sz="6000" dirty="0"/>
          </a:p>
        </p:txBody>
      </p:sp>
      <p:sp>
        <p:nvSpPr>
          <p:cNvPr id="15" name="Text 13"/>
          <p:cNvSpPr txBox="1"/>
          <p:nvPr/>
        </p:nvSpPr>
        <p:spPr>
          <a:xfrm>
            <a:off x="5029200" y="2514600"/>
            <a:ext cx="3474720" cy="3200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Prey kabur</a:t>
            </a:r>
            <a:endParaRPr lang="en-US" sz="1500" dirty="0"/>
          </a:p>
        </p:txBody>
      </p:sp>
      <p:sp>
        <p:nvSpPr>
          <p:cNvPr id="16" name="Text 14"/>
          <p:cNvSpPr txBox="1"/>
          <p:nvPr/>
        </p:nvSpPr>
        <p:spPr>
          <a:xfrm>
            <a:off x="5029200" y="2971800"/>
            <a:ext cx="3474720" cy="411480"/>
          </a:xfrm>
          <a:prstGeom prst="rect">
            <a:avLst/>
          </a:prstGeom>
          <a:noFill/>
          <a:ln/>
        </p:spPr>
        <p:txBody>
          <a:bodyPr wrap="square" lIns="0" tIns="0" rIns="0" bIns="0" rtlCol="0" anchor="ctr"/>
          <a:lstStyle/>
          <a:p>
            <a:pPr indent="0" marL="0">
              <a:buNone/>
            </a:pPr>
            <a:r>
              <a:rPr lang="en-US" sz="2000" dirty="0">
                <a:solidFill>
                  <a:srgbClr val="FFFFFF"/>
                </a:solidFill>
                <a:latin typeface="Arial Black" pitchFamily="34" charset="0"/>
                <a:ea typeface="Arial Black" pitchFamily="34" charset="-122"/>
                <a:cs typeface="Arial Black" pitchFamily="34" charset="-120"/>
              </a:rPr>
              <a:t>PREY MENANG</a:t>
            </a:r>
            <a:endParaRPr lang="en-US" sz="2000" dirty="0"/>
          </a:p>
        </p:txBody>
      </p:sp>
      <p:sp>
        <p:nvSpPr>
          <p:cNvPr id="17" name="Text 15"/>
          <p:cNvSpPr txBox="1"/>
          <p:nvPr/>
        </p:nvSpPr>
        <p:spPr>
          <a:xfrm>
            <a:off x="5029200" y="3429000"/>
            <a:ext cx="3383280" cy="91440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Minimal 2 Prey berhasil melewati gerbang sebelum 3:00.</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171C"/>
        </a:solidFill>
      </p:bgPr>
    </p:bg>
    <p:spTree>
      <p:nvGrpSpPr>
        <p:cNvPr id="1" name=""/>
        <p:cNvGrpSpPr/>
        <p:nvPr/>
      </p:nvGrpSpPr>
      <p:grpSpPr>
        <a:xfrm>
          <a:off x="0" y="0"/>
          <a:ext cx="0" cy="0"/>
          <a:chOff x="0" y="0"/>
          <a:chExt cx="0" cy="0"/>
        </a:xfrm>
      </p:grpSpPr>
      <p:sp>
        <p:nvSpPr>
          <p:cNvPr id="2" name="Shape 0"/>
          <p:cNvSpPr/>
          <p:nvPr/>
        </p:nvSpPr>
        <p:spPr>
          <a:xfrm rot="10800000">
            <a:off x="7818120" y="411480"/>
            <a:ext cx="201168" cy="182880"/>
          </a:xfrm>
          <a:prstGeom prst="triangle">
            <a:avLst/>
          </a:prstGeom>
          <a:solidFill>
            <a:srgbClr val="7A45B8"/>
          </a:solidFill>
          <a:ln w="12700">
            <a:solidFill>
              <a:srgbClr val="7A45B8"/>
            </a:solidFill>
            <a:prstDash val="solid"/>
          </a:ln>
        </p:spPr>
      </p:sp>
      <p:sp>
        <p:nvSpPr>
          <p:cNvPr id="3" name="Shape 1"/>
          <p:cNvSpPr/>
          <p:nvPr/>
        </p:nvSpPr>
        <p:spPr>
          <a:xfrm>
            <a:off x="8110728" y="411480"/>
            <a:ext cx="182880" cy="182880"/>
          </a:xfrm>
          <a:prstGeom prst="ellipse">
            <a:avLst/>
          </a:prstGeom>
          <a:solidFill>
            <a:srgbClr val="2F6FDB"/>
          </a:solidFill>
          <a:ln w="12700">
            <a:solidFill>
              <a:srgbClr val="2F6FDB"/>
            </a:solidFill>
            <a:prstDash val="solid"/>
          </a:ln>
        </p:spPr>
      </p:sp>
      <p:sp>
        <p:nvSpPr>
          <p:cNvPr id="4" name="Shape 2"/>
          <p:cNvSpPr/>
          <p:nvPr/>
        </p:nvSpPr>
        <p:spPr>
          <a:xfrm>
            <a:off x="8385048" y="411480"/>
            <a:ext cx="182880" cy="182880"/>
          </a:xfrm>
          <a:prstGeom prst="ellipse">
            <a:avLst/>
          </a:prstGeom>
          <a:solidFill>
            <a:srgbClr val="D5433B"/>
          </a:solidFill>
          <a:ln w="12700">
            <a:solidFill>
              <a:srgbClr val="D5433B"/>
            </a:solidFill>
            <a:prstDash val="solid"/>
          </a:ln>
        </p:spPr>
      </p:sp>
      <p:sp>
        <p:nvSpPr>
          <p:cNvPr id="5" name="Shape 3"/>
          <p:cNvSpPr/>
          <p:nvPr/>
        </p:nvSpPr>
        <p:spPr>
          <a:xfrm>
            <a:off x="8659368" y="411480"/>
            <a:ext cx="182880" cy="182880"/>
          </a:xfrm>
          <a:prstGeom prst="ellipse">
            <a:avLst/>
          </a:prstGeom>
          <a:solidFill>
            <a:srgbClr val="E0A500"/>
          </a:solidFill>
          <a:ln w="12700">
            <a:solidFill>
              <a:srgbClr val="E0A500"/>
            </a:solidFill>
            <a:prstDash val="solid"/>
          </a:ln>
        </p:spPr>
      </p:sp>
      <p:sp>
        <p:nvSpPr>
          <p:cNvPr id="6" name="Text 4"/>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AI yang Digunakan</a:t>
            </a:r>
            <a:endParaRPr lang="en-US" sz="2800" dirty="0"/>
          </a:p>
        </p:txBody>
      </p:sp>
      <p:sp>
        <p:nvSpPr>
          <p:cNvPr id="7" name="Text 5"/>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400" dirty="0">
                <a:solidFill>
                  <a:srgbClr val="A9AFB9"/>
                </a:solidFill>
                <a:latin typeface="Calibri" pitchFamily="34" charset="0"/>
                <a:ea typeface="Calibri" pitchFamily="34" charset="-122"/>
                <a:cs typeface="Calibri" pitchFamily="34" charset="-120"/>
              </a:rPr>
              <a:t>Dua teknik yang saling bekerja sama</a:t>
            </a:r>
            <a:endParaRPr lang="en-US" sz="1400" dirty="0"/>
          </a:p>
        </p:txBody>
      </p:sp>
      <p:sp>
        <p:nvSpPr>
          <p:cNvPr id="8" name="Shape 6"/>
          <p:cNvSpPr/>
          <p:nvPr/>
        </p:nvSpPr>
        <p:spPr>
          <a:xfrm>
            <a:off x="457200" y="1417320"/>
            <a:ext cx="3977640" cy="2011680"/>
          </a:xfrm>
          <a:prstGeom prst="roundRect">
            <a:avLst>
              <a:gd name="adj" fmla="val 3636"/>
            </a:avLst>
          </a:prstGeom>
          <a:solidFill>
            <a:srgbClr val="22252D"/>
          </a:solidFill>
          <a:ln w="12700">
            <a:solidFill>
              <a:srgbClr val="22252D"/>
            </a:solidFill>
            <a:prstDash val="solid"/>
          </a:ln>
        </p:spPr>
      </p:sp>
      <p:sp>
        <p:nvSpPr>
          <p:cNvPr id="9" name="Shape 7"/>
          <p:cNvSpPr/>
          <p:nvPr/>
        </p:nvSpPr>
        <p:spPr>
          <a:xfrm>
            <a:off x="731520" y="1645920"/>
            <a:ext cx="640080" cy="640080"/>
          </a:xfrm>
          <a:prstGeom prst="ellipse">
            <a:avLst/>
          </a:prstGeom>
          <a:solidFill>
            <a:srgbClr val="2F6FDB"/>
          </a:solidFill>
          <a:ln w="12700">
            <a:solidFill>
              <a:srgbClr val="2F6FDB"/>
            </a:solidFill>
            <a:prstDash val="solid"/>
          </a:ln>
        </p:spPr>
      </p:sp>
      <p:sp>
        <p:nvSpPr>
          <p:cNvPr id="10" name="Text 8"/>
          <p:cNvSpPr txBox="1"/>
          <p:nvPr/>
        </p:nvSpPr>
        <p:spPr>
          <a:xfrm>
            <a:off x="731520" y="1645920"/>
            <a:ext cx="640080" cy="640080"/>
          </a:xfrm>
          <a:prstGeom prst="rect">
            <a:avLst/>
          </a:prstGeom>
          <a:noFill/>
          <a:ln/>
        </p:spPr>
        <p:txBody>
          <a:bodyPr wrap="square" lIns="0" tIns="0" rIns="0" bIns="0" rtlCol="0" anchor="ctr"/>
          <a:lstStyle/>
          <a:p>
            <a:pPr algn="ctr" indent="0" marL="0">
              <a:buNone/>
            </a:pPr>
            <a:r>
              <a:rPr lang="en-US" sz="1820" dirty="0">
                <a:solidFill>
                  <a:srgbClr val="FFFFFF"/>
                </a:solidFill>
                <a:latin typeface="Arial Black" pitchFamily="34" charset="0"/>
                <a:ea typeface="Arial Black" pitchFamily="34" charset="-122"/>
                <a:cs typeface="Arial Black" pitchFamily="34" charset="-120"/>
              </a:rPr>
              <a:t>RL</a:t>
            </a:r>
            <a:endParaRPr lang="en-US" sz="1820" dirty="0"/>
          </a:p>
        </p:txBody>
      </p:sp>
      <p:sp>
        <p:nvSpPr>
          <p:cNvPr id="11" name="Text 9"/>
          <p:cNvSpPr txBox="1"/>
          <p:nvPr/>
        </p:nvSpPr>
        <p:spPr>
          <a:xfrm>
            <a:off x="1554480" y="1691640"/>
            <a:ext cx="2743200"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Reinforcement Learning</a:t>
            </a:r>
            <a:endParaRPr lang="en-US" sz="1700" dirty="0"/>
          </a:p>
        </p:txBody>
      </p:sp>
      <p:sp>
        <p:nvSpPr>
          <p:cNvPr id="12" name="Text 10"/>
          <p:cNvSpPr txBox="1"/>
          <p:nvPr/>
        </p:nvSpPr>
        <p:spPr>
          <a:xfrm>
            <a:off x="731520" y="2423160"/>
            <a:ext cx="3474720" cy="914400"/>
          </a:xfrm>
          <a:prstGeom prst="rect">
            <a:avLst/>
          </a:prstGeom>
          <a:noFill/>
          <a:ln/>
        </p:spPr>
        <p:txBody>
          <a:bodyPr wrap="square" lIns="0" tIns="0" rIns="0" bIns="0" rtlCol="0" anchor="t"/>
          <a:lstStyle/>
          <a:p>
            <a:pPr indent="0" marL="0">
              <a:buNone/>
            </a:pPr>
            <a:r>
              <a:rPr lang="en-US" sz="1300" dirty="0">
                <a:solidFill>
                  <a:srgbClr val="A9AFB9"/>
                </a:solidFill>
                <a:latin typeface="Calibri" pitchFamily="34" charset="0"/>
                <a:ea typeface="Calibri" pitchFamily="34" charset="-122"/>
                <a:cs typeface="Calibri" pitchFamily="34" charset="-120"/>
              </a:rPr>
              <a:t>AI utama yang belajar. Unity ML-Agents dengan algoritma PPO. Tidak diberi tahu cara bermain, belajar dari reward &amp; penalty lewat trial and error.</a:t>
            </a:r>
            <a:endParaRPr lang="en-US" sz="1300" dirty="0"/>
          </a:p>
        </p:txBody>
      </p:sp>
      <p:sp>
        <p:nvSpPr>
          <p:cNvPr id="13" name="Shape 11"/>
          <p:cNvSpPr/>
          <p:nvPr/>
        </p:nvSpPr>
        <p:spPr>
          <a:xfrm>
            <a:off x="4709160" y="1417320"/>
            <a:ext cx="3977640" cy="2011680"/>
          </a:xfrm>
          <a:prstGeom prst="roundRect">
            <a:avLst>
              <a:gd name="adj" fmla="val 3636"/>
            </a:avLst>
          </a:prstGeom>
          <a:solidFill>
            <a:srgbClr val="22252D"/>
          </a:solidFill>
          <a:ln w="12700">
            <a:solidFill>
              <a:srgbClr val="22252D"/>
            </a:solidFill>
            <a:prstDash val="solid"/>
          </a:ln>
        </p:spPr>
      </p:sp>
      <p:sp>
        <p:nvSpPr>
          <p:cNvPr id="14" name="Shape 12"/>
          <p:cNvSpPr/>
          <p:nvPr/>
        </p:nvSpPr>
        <p:spPr>
          <a:xfrm>
            <a:off x="4983480" y="1645920"/>
            <a:ext cx="640080" cy="640080"/>
          </a:xfrm>
          <a:prstGeom prst="ellipse">
            <a:avLst/>
          </a:prstGeom>
          <a:solidFill>
            <a:srgbClr val="7A45B8"/>
          </a:solidFill>
          <a:ln w="12700">
            <a:solidFill>
              <a:srgbClr val="7A45B8"/>
            </a:solidFill>
            <a:prstDash val="solid"/>
          </a:ln>
        </p:spPr>
      </p:sp>
      <p:sp>
        <p:nvSpPr>
          <p:cNvPr id="15" name="Text 13"/>
          <p:cNvSpPr txBox="1"/>
          <p:nvPr/>
        </p:nvSpPr>
        <p:spPr>
          <a:xfrm>
            <a:off x="4983480" y="1645920"/>
            <a:ext cx="640080" cy="640080"/>
          </a:xfrm>
          <a:prstGeom prst="rect">
            <a:avLst/>
          </a:prstGeom>
          <a:noFill/>
          <a:ln/>
        </p:spPr>
        <p:txBody>
          <a:bodyPr wrap="square" lIns="0" tIns="0" rIns="0" bIns="0" rtlCol="0" anchor="ctr"/>
          <a:lstStyle/>
          <a:p>
            <a:pPr algn="ctr" indent="0" marL="0">
              <a:buNone/>
            </a:pPr>
            <a:r>
              <a:rPr lang="en-US" sz="1820" dirty="0">
                <a:solidFill>
                  <a:srgbClr val="FFFFFF"/>
                </a:solidFill>
                <a:latin typeface="Arial Black" pitchFamily="34" charset="0"/>
                <a:ea typeface="Arial Black" pitchFamily="34" charset="-122"/>
                <a:cs typeface="Arial Black" pitchFamily="34" charset="-120"/>
              </a:rPr>
              <a:t>BT</a:t>
            </a:r>
            <a:endParaRPr lang="en-US" sz="1820" dirty="0"/>
          </a:p>
        </p:txBody>
      </p:sp>
      <p:sp>
        <p:nvSpPr>
          <p:cNvPr id="16" name="Text 14"/>
          <p:cNvSpPr txBox="1"/>
          <p:nvPr/>
        </p:nvSpPr>
        <p:spPr>
          <a:xfrm>
            <a:off x="5806440" y="1691640"/>
            <a:ext cx="2743200"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Behavior Tree</a:t>
            </a:r>
            <a:endParaRPr lang="en-US" sz="1700" dirty="0"/>
          </a:p>
        </p:txBody>
      </p:sp>
      <p:sp>
        <p:nvSpPr>
          <p:cNvPr id="17" name="Text 15"/>
          <p:cNvSpPr txBox="1"/>
          <p:nvPr/>
        </p:nvSpPr>
        <p:spPr>
          <a:xfrm>
            <a:off x="4983480" y="2423160"/>
            <a:ext cx="3474720" cy="914400"/>
          </a:xfrm>
          <a:prstGeom prst="rect">
            <a:avLst/>
          </a:prstGeom>
          <a:noFill/>
          <a:ln/>
        </p:spPr>
        <p:txBody>
          <a:bodyPr wrap="square" lIns="0" tIns="0" rIns="0" bIns="0" rtlCol="0" anchor="t"/>
          <a:lstStyle/>
          <a:p>
            <a:pPr indent="0" marL="0">
              <a:buNone/>
            </a:pPr>
            <a:r>
              <a:rPr lang="en-US" sz="1300" dirty="0">
                <a:solidFill>
                  <a:srgbClr val="A9AFB9"/>
                </a:solidFill>
                <a:latin typeface="Calibri" pitchFamily="34" charset="0"/>
                <a:ea typeface="Calibri" pitchFamily="34" charset="-122"/>
                <a:cs typeface="Calibri" pitchFamily="34" charset="-120"/>
              </a:rPr>
              <a:t>AI berbasis aturan yang dirancang manual. Berperan sebagai pelatih / lawan tanding yang konsisten untuk RL.</a:t>
            </a:r>
            <a:endParaRPr lang="en-US" sz="1300" dirty="0"/>
          </a:p>
        </p:txBody>
      </p:sp>
      <p:sp>
        <p:nvSpPr>
          <p:cNvPr id="18" name="Text 16"/>
          <p:cNvSpPr txBox="1"/>
          <p:nvPr/>
        </p:nvSpPr>
        <p:spPr>
          <a:xfrm>
            <a:off x="457200" y="3657600"/>
            <a:ext cx="8229600" cy="9144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Kenapa tidak RL vs RL? </a:t>
            </a:r>
            <a:pPr indent="0" marL="0">
              <a:buNone/>
            </a:pPr>
            <a:r>
              <a:rPr lang="en-US" sz="1400" dirty="0">
                <a:solidFill>
                  <a:srgbClr val="A9AFB9"/>
                </a:solidFill>
                <a:latin typeface="Calibri" pitchFamily="34" charset="0"/>
                <a:ea typeface="Calibri" pitchFamily="34" charset="-122"/>
                <a:cs typeface="Calibri" pitchFamily="34" charset="-120"/>
              </a:rPr>
              <a:t>Dua RL yang belum terlatih sama-sama bermain acak ("bodoh lawan bodoh"), belajarnya lambat dan hasilnya sulit ditunjukkan. Melawan BT, RL punya lawan yang sudah cukup pintar untuk dijadikan bahan belajar.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10800000">
            <a:off x="7818120" y="411480"/>
            <a:ext cx="201168" cy="182880"/>
          </a:xfrm>
          <a:prstGeom prst="triangle">
            <a:avLst/>
          </a:prstGeom>
          <a:solidFill>
            <a:srgbClr val="7A45B8"/>
          </a:solidFill>
          <a:ln w="12700">
            <a:solidFill>
              <a:srgbClr val="7A45B8"/>
            </a:solidFill>
            <a:prstDash val="solid"/>
          </a:ln>
        </p:spPr>
      </p:sp>
      <p:sp>
        <p:nvSpPr>
          <p:cNvPr id="3" name="Shape 1"/>
          <p:cNvSpPr/>
          <p:nvPr/>
        </p:nvSpPr>
        <p:spPr>
          <a:xfrm>
            <a:off x="8110728" y="411480"/>
            <a:ext cx="182880" cy="182880"/>
          </a:xfrm>
          <a:prstGeom prst="ellipse">
            <a:avLst/>
          </a:prstGeom>
          <a:solidFill>
            <a:srgbClr val="2F6FDB"/>
          </a:solidFill>
          <a:ln w="12700">
            <a:solidFill>
              <a:srgbClr val="2F6FDB"/>
            </a:solidFill>
            <a:prstDash val="solid"/>
          </a:ln>
        </p:spPr>
      </p:sp>
      <p:sp>
        <p:nvSpPr>
          <p:cNvPr id="4" name="Shape 2"/>
          <p:cNvSpPr/>
          <p:nvPr/>
        </p:nvSpPr>
        <p:spPr>
          <a:xfrm>
            <a:off x="8385048" y="411480"/>
            <a:ext cx="182880" cy="182880"/>
          </a:xfrm>
          <a:prstGeom prst="ellipse">
            <a:avLst/>
          </a:prstGeom>
          <a:solidFill>
            <a:srgbClr val="D5433B"/>
          </a:solidFill>
          <a:ln w="12700">
            <a:solidFill>
              <a:srgbClr val="D5433B"/>
            </a:solidFill>
            <a:prstDash val="solid"/>
          </a:ln>
        </p:spPr>
      </p:sp>
      <p:sp>
        <p:nvSpPr>
          <p:cNvPr id="5" name="Shape 3"/>
          <p:cNvSpPr/>
          <p:nvPr/>
        </p:nvSpPr>
        <p:spPr>
          <a:xfrm>
            <a:off x="8659368" y="411480"/>
            <a:ext cx="182880" cy="182880"/>
          </a:xfrm>
          <a:prstGeom prst="ellipse">
            <a:avLst/>
          </a:prstGeom>
          <a:solidFill>
            <a:srgbClr val="E0A500"/>
          </a:solidFill>
          <a:ln w="12700">
            <a:solidFill>
              <a:srgbClr val="E0A500"/>
            </a:solidFill>
            <a:prstDash val="solid"/>
          </a:ln>
        </p:spPr>
      </p:sp>
      <p:sp>
        <p:nvSpPr>
          <p:cNvPr id="6" name="Text 4"/>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dirty="0">
                <a:solidFill>
                  <a:srgbClr val="1B1E24"/>
                </a:solidFill>
                <a:latin typeface="Arial Black" pitchFamily="34" charset="0"/>
                <a:ea typeface="Arial Black" pitchFamily="34" charset="-122"/>
                <a:cs typeface="Arial Black" pitchFamily="34" charset="-120"/>
              </a:rPr>
              <a:t>Training Dua Fase</a:t>
            </a:r>
            <a:endParaRPr lang="en-US" sz="2800" dirty="0"/>
          </a:p>
        </p:txBody>
      </p:sp>
      <p:sp>
        <p:nvSpPr>
          <p:cNvPr id="7" name="Text 5"/>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400" dirty="0">
                <a:solidFill>
                  <a:srgbClr val="5E6570"/>
                </a:solidFill>
                <a:latin typeface="Calibri" pitchFamily="34" charset="0"/>
                <a:ea typeface="Calibri" pitchFamily="34" charset="-122"/>
                <a:cs typeface="Calibri" pitchFamily="34" charset="-120"/>
              </a:rPr>
              <a:t>Setelah fase pertama, peran ditukar</a:t>
            </a:r>
            <a:endParaRPr lang="en-US" sz="1400" dirty="0"/>
          </a:p>
        </p:txBody>
      </p:sp>
      <p:sp>
        <p:nvSpPr>
          <p:cNvPr id="8" name="Text 6"/>
          <p:cNvSpPr txBox="1"/>
          <p:nvPr/>
        </p:nvSpPr>
        <p:spPr>
          <a:xfrm>
            <a:off x="457200" y="1783080"/>
            <a:ext cx="1005840" cy="457200"/>
          </a:xfrm>
          <a:prstGeom prst="rect">
            <a:avLst/>
          </a:prstGeom>
          <a:noFill/>
          <a:ln/>
        </p:spPr>
        <p:txBody>
          <a:bodyPr wrap="square" lIns="0" tIns="0" rIns="0" bIns="0" rtlCol="0" anchor="ctr"/>
          <a:lstStyle/>
          <a:p>
            <a:pPr indent="0" marL="0">
              <a:buNone/>
            </a:pPr>
            <a:r>
              <a:rPr lang="en-US" sz="1600" dirty="0">
                <a:solidFill>
                  <a:srgbClr val="5E6570"/>
                </a:solidFill>
                <a:latin typeface="Arial Black" pitchFamily="34" charset="0"/>
                <a:ea typeface="Arial Black" pitchFamily="34" charset="-122"/>
                <a:cs typeface="Arial Black" pitchFamily="34" charset="-120"/>
              </a:rPr>
              <a:t>FASE A</a:t>
            </a:r>
            <a:endParaRPr lang="en-US" sz="1600" dirty="0"/>
          </a:p>
        </p:txBody>
      </p:sp>
      <p:sp>
        <p:nvSpPr>
          <p:cNvPr id="9" name="Shape 7"/>
          <p:cNvSpPr/>
          <p:nvPr/>
        </p:nvSpPr>
        <p:spPr>
          <a:xfrm>
            <a:off x="1463040" y="1371600"/>
            <a:ext cx="1554480" cy="1280160"/>
          </a:xfrm>
          <a:prstGeom prst="roundRect">
            <a:avLst>
              <a:gd name="adj" fmla="val 5714"/>
            </a:avLst>
          </a:prstGeom>
          <a:solidFill>
            <a:srgbClr val="7A45B8"/>
          </a:solidFill>
          <a:ln w="12700">
            <a:solidFill>
              <a:srgbClr val="7A45B8"/>
            </a:solidFill>
            <a:prstDash val="solid"/>
          </a:ln>
        </p:spPr>
      </p:sp>
      <p:sp>
        <p:nvSpPr>
          <p:cNvPr id="10" name="Text 8"/>
          <p:cNvSpPr txBox="1"/>
          <p:nvPr/>
        </p:nvSpPr>
        <p:spPr>
          <a:xfrm>
            <a:off x="1463040" y="1371600"/>
            <a:ext cx="1554480" cy="12801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RL Hunter</a:t>
            </a:r>
            <a:endParaRPr lang="en-US" sz="1600" dirty="0"/>
          </a:p>
        </p:txBody>
      </p:sp>
      <p:sp>
        <p:nvSpPr>
          <p:cNvPr id="11" name="Text 9"/>
          <p:cNvSpPr txBox="1"/>
          <p:nvPr/>
        </p:nvSpPr>
        <p:spPr>
          <a:xfrm>
            <a:off x="3017520" y="1371600"/>
            <a:ext cx="457200" cy="1280160"/>
          </a:xfrm>
          <a:prstGeom prst="rect">
            <a:avLst/>
          </a:prstGeom>
          <a:noFill/>
          <a:ln/>
        </p:spPr>
        <p:txBody>
          <a:bodyPr wrap="square" lIns="0" tIns="0" rIns="0" bIns="0" rtlCol="0" anchor="ctr"/>
          <a:lstStyle/>
          <a:p>
            <a:pPr algn="ctr" indent="0" marL="0">
              <a:buNone/>
            </a:pPr>
            <a:r>
              <a:rPr lang="en-US" sz="1400" dirty="0">
                <a:solidFill>
                  <a:srgbClr val="5E6570"/>
                </a:solidFill>
                <a:latin typeface="Arial Black" pitchFamily="34" charset="0"/>
                <a:ea typeface="Arial Black" pitchFamily="34" charset="-122"/>
                <a:cs typeface="Arial Black" pitchFamily="34" charset="-120"/>
              </a:rPr>
              <a:t>vs</a:t>
            </a:r>
            <a:endParaRPr lang="en-US" sz="1400" dirty="0"/>
          </a:p>
        </p:txBody>
      </p:sp>
      <p:sp>
        <p:nvSpPr>
          <p:cNvPr id="12" name="Shape 10"/>
          <p:cNvSpPr/>
          <p:nvPr/>
        </p:nvSpPr>
        <p:spPr>
          <a:xfrm>
            <a:off x="3474720" y="1371600"/>
            <a:ext cx="1554480" cy="1280160"/>
          </a:xfrm>
          <a:prstGeom prst="roundRect">
            <a:avLst>
              <a:gd name="adj" fmla="val 5714"/>
            </a:avLst>
          </a:prstGeom>
          <a:solidFill>
            <a:srgbClr val="F1F2F5"/>
          </a:solidFill>
          <a:ln w="12700">
            <a:solidFill>
              <a:srgbClr val="F1F2F5"/>
            </a:solidFill>
            <a:prstDash val="solid"/>
          </a:ln>
        </p:spPr>
      </p:sp>
      <p:sp>
        <p:nvSpPr>
          <p:cNvPr id="13" name="Text 11"/>
          <p:cNvSpPr txBox="1"/>
          <p:nvPr/>
        </p:nvSpPr>
        <p:spPr>
          <a:xfrm>
            <a:off x="3474720" y="1371600"/>
            <a:ext cx="1554480" cy="1280160"/>
          </a:xfrm>
          <a:prstGeom prst="rect">
            <a:avLst/>
          </a:prstGeom>
          <a:noFill/>
          <a:ln/>
        </p:spPr>
        <p:txBody>
          <a:bodyPr wrap="square" lIns="0" tIns="0" rIns="0" bIns="0" rtlCol="0" anchor="ctr"/>
          <a:lstStyle/>
          <a:p>
            <a:pPr algn="ctr" indent="0" marL="0">
              <a:buNone/>
            </a:pPr>
            <a:r>
              <a:rPr lang="en-US" sz="1600" b="1" dirty="0">
                <a:solidFill>
                  <a:srgbClr val="1B1E24"/>
                </a:solidFill>
                <a:latin typeface="Calibri" pitchFamily="34" charset="0"/>
                <a:ea typeface="Calibri" pitchFamily="34" charset="-122"/>
                <a:cs typeface="Calibri" pitchFamily="34" charset="-120"/>
              </a:rPr>
              <a:t>BT Prey</a:t>
            </a:r>
            <a:endParaRPr lang="en-US" sz="1600" dirty="0"/>
          </a:p>
        </p:txBody>
      </p:sp>
      <p:sp>
        <p:nvSpPr>
          <p:cNvPr id="14" name="Text 12"/>
          <p:cNvSpPr txBox="1"/>
          <p:nvPr/>
        </p:nvSpPr>
        <p:spPr>
          <a:xfrm>
            <a:off x="5303520" y="1371600"/>
            <a:ext cx="3383280" cy="1280160"/>
          </a:xfrm>
          <a:prstGeom prst="rect">
            <a:avLst/>
          </a:prstGeom>
          <a:noFill/>
          <a:ln/>
        </p:spPr>
        <p:txBody>
          <a:bodyPr wrap="square" lIns="0" tIns="0" rIns="0" bIns="0" rtlCol="0" anchor="ctr"/>
          <a:lstStyle/>
          <a:p>
            <a:pPr indent="0" marL="0">
              <a:buNone/>
            </a:pPr>
            <a:r>
              <a:rPr lang="en-US" sz="1350" dirty="0">
                <a:solidFill>
                  <a:srgbClr val="1B1E24"/>
                </a:solidFill>
                <a:latin typeface="Calibri" pitchFamily="34" charset="0"/>
                <a:ea typeface="Calibri" pitchFamily="34" charset="-122"/>
                <a:cs typeface="Calibri" pitchFamily="34" charset="-120"/>
              </a:rPr>
              <a:t>Hunter belajar mengejar, memprediksi gerakan, memakai dash, menghindari trap, dan menjaga area penting.</a:t>
            </a:r>
            <a:endParaRPr lang="en-US" sz="1350" dirty="0"/>
          </a:p>
        </p:txBody>
      </p:sp>
      <p:sp>
        <p:nvSpPr>
          <p:cNvPr id="15" name="Text 13"/>
          <p:cNvSpPr txBox="1"/>
          <p:nvPr/>
        </p:nvSpPr>
        <p:spPr>
          <a:xfrm>
            <a:off x="457200" y="3383280"/>
            <a:ext cx="1005840" cy="457200"/>
          </a:xfrm>
          <a:prstGeom prst="rect">
            <a:avLst/>
          </a:prstGeom>
          <a:noFill/>
          <a:ln/>
        </p:spPr>
        <p:txBody>
          <a:bodyPr wrap="square" lIns="0" tIns="0" rIns="0" bIns="0" rtlCol="0" anchor="ctr"/>
          <a:lstStyle/>
          <a:p>
            <a:pPr indent="0" marL="0">
              <a:buNone/>
            </a:pPr>
            <a:r>
              <a:rPr lang="en-US" sz="1600" dirty="0">
                <a:solidFill>
                  <a:srgbClr val="5E6570"/>
                </a:solidFill>
                <a:latin typeface="Arial Black" pitchFamily="34" charset="0"/>
                <a:ea typeface="Arial Black" pitchFamily="34" charset="-122"/>
                <a:cs typeface="Arial Black" pitchFamily="34" charset="-120"/>
              </a:rPr>
              <a:t>FASE B</a:t>
            </a:r>
            <a:endParaRPr lang="en-US" sz="1600" dirty="0"/>
          </a:p>
        </p:txBody>
      </p:sp>
      <p:sp>
        <p:nvSpPr>
          <p:cNvPr id="16" name="Shape 14"/>
          <p:cNvSpPr/>
          <p:nvPr/>
        </p:nvSpPr>
        <p:spPr>
          <a:xfrm>
            <a:off x="1463040" y="2971800"/>
            <a:ext cx="1554480" cy="1280160"/>
          </a:xfrm>
          <a:prstGeom prst="roundRect">
            <a:avLst>
              <a:gd name="adj" fmla="val 5714"/>
            </a:avLst>
          </a:prstGeom>
          <a:solidFill>
            <a:srgbClr val="F1F2F5"/>
          </a:solidFill>
          <a:ln w="12700">
            <a:solidFill>
              <a:srgbClr val="F1F2F5"/>
            </a:solidFill>
            <a:prstDash val="solid"/>
          </a:ln>
        </p:spPr>
      </p:sp>
      <p:sp>
        <p:nvSpPr>
          <p:cNvPr id="17" name="Text 15"/>
          <p:cNvSpPr txBox="1"/>
          <p:nvPr/>
        </p:nvSpPr>
        <p:spPr>
          <a:xfrm>
            <a:off x="1463040" y="2971800"/>
            <a:ext cx="1554480" cy="1280160"/>
          </a:xfrm>
          <a:prstGeom prst="rect">
            <a:avLst/>
          </a:prstGeom>
          <a:noFill/>
          <a:ln/>
        </p:spPr>
        <p:txBody>
          <a:bodyPr wrap="square" lIns="0" tIns="0" rIns="0" bIns="0" rtlCol="0" anchor="ctr"/>
          <a:lstStyle/>
          <a:p>
            <a:pPr algn="ctr" indent="0" marL="0">
              <a:buNone/>
            </a:pPr>
            <a:r>
              <a:rPr lang="en-US" sz="1600" b="1" dirty="0">
                <a:solidFill>
                  <a:srgbClr val="1B1E24"/>
                </a:solidFill>
                <a:latin typeface="Calibri" pitchFamily="34" charset="0"/>
                <a:ea typeface="Calibri" pitchFamily="34" charset="-122"/>
                <a:cs typeface="Calibri" pitchFamily="34" charset="-120"/>
              </a:rPr>
              <a:t>BT Hunter</a:t>
            </a:r>
            <a:endParaRPr lang="en-US" sz="1600" dirty="0"/>
          </a:p>
        </p:txBody>
      </p:sp>
      <p:sp>
        <p:nvSpPr>
          <p:cNvPr id="18" name="Text 16"/>
          <p:cNvSpPr txBox="1"/>
          <p:nvPr/>
        </p:nvSpPr>
        <p:spPr>
          <a:xfrm>
            <a:off x="3017520" y="2971800"/>
            <a:ext cx="457200" cy="1280160"/>
          </a:xfrm>
          <a:prstGeom prst="rect">
            <a:avLst/>
          </a:prstGeom>
          <a:noFill/>
          <a:ln/>
        </p:spPr>
        <p:txBody>
          <a:bodyPr wrap="square" lIns="0" tIns="0" rIns="0" bIns="0" rtlCol="0" anchor="ctr"/>
          <a:lstStyle/>
          <a:p>
            <a:pPr algn="ctr" indent="0" marL="0">
              <a:buNone/>
            </a:pPr>
            <a:r>
              <a:rPr lang="en-US" sz="1400" dirty="0">
                <a:solidFill>
                  <a:srgbClr val="5E6570"/>
                </a:solidFill>
                <a:latin typeface="Arial Black" pitchFamily="34" charset="0"/>
                <a:ea typeface="Arial Black" pitchFamily="34" charset="-122"/>
                <a:cs typeface="Arial Black" pitchFamily="34" charset="-120"/>
              </a:rPr>
              <a:t>vs</a:t>
            </a:r>
            <a:endParaRPr lang="en-US" sz="1400" dirty="0"/>
          </a:p>
        </p:txBody>
      </p:sp>
      <p:sp>
        <p:nvSpPr>
          <p:cNvPr id="19" name="Shape 17"/>
          <p:cNvSpPr/>
          <p:nvPr/>
        </p:nvSpPr>
        <p:spPr>
          <a:xfrm>
            <a:off x="3474720" y="2971800"/>
            <a:ext cx="1554480" cy="1280160"/>
          </a:xfrm>
          <a:prstGeom prst="roundRect">
            <a:avLst>
              <a:gd name="adj" fmla="val 5714"/>
            </a:avLst>
          </a:prstGeom>
          <a:solidFill>
            <a:srgbClr val="2F6FDB"/>
          </a:solidFill>
          <a:ln w="12700">
            <a:solidFill>
              <a:srgbClr val="2F6FDB"/>
            </a:solidFill>
            <a:prstDash val="solid"/>
          </a:ln>
        </p:spPr>
      </p:sp>
      <p:sp>
        <p:nvSpPr>
          <p:cNvPr id="20" name="Text 18"/>
          <p:cNvSpPr txBox="1"/>
          <p:nvPr/>
        </p:nvSpPr>
        <p:spPr>
          <a:xfrm>
            <a:off x="3474720" y="2971800"/>
            <a:ext cx="1554480" cy="12801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RL Prey</a:t>
            </a:r>
            <a:endParaRPr lang="en-US" sz="1600" dirty="0"/>
          </a:p>
        </p:txBody>
      </p:sp>
      <p:sp>
        <p:nvSpPr>
          <p:cNvPr id="21" name="Text 19"/>
          <p:cNvSpPr txBox="1"/>
          <p:nvPr/>
        </p:nvSpPr>
        <p:spPr>
          <a:xfrm>
            <a:off x="5303520" y="2971800"/>
            <a:ext cx="3383280" cy="1280160"/>
          </a:xfrm>
          <a:prstGeom prst="rect">
            <a:avLst/>
          </a:prstGeom>
          <a:noFill/>
          <a:ln/>
        </p:spPr>
        <p:txBody>
          <a:bodyPr wrap="square" lIns="0" tIns="0" rIns="0" bIns="0" rtlCol="0" anchor="ctr"/>
          <a:lstStyle/>
          <a:p>
            <a:pPr indent="0" marL="0">
              <a:buNone/>
            </a:pPr>
            <a:r>
              <a:rPr lang="en-US" sz="1350" dirty="0">
                <a:solidFill>
                  <a:srgbClr val="1B1E24"/>
                </a:solidFill>
                <a:latin typeface="Calibri" pitchFamily="34" charset="0"/>
                <a:ea typeface="Calibri" pitchFamily="34" charset="-122"/>
                <a:cs typeface="Calibri" pitchFamily="34" charset="-120"/>
              </a:rPr>
              <a:t>Satu otak RL mengendalikan ketiga Prey (warna sebagai input). Belajar ambil orb, menghindar, pasang trap, menyelamatkan teman, dan kabur.</a:t>
            </a:r>
            <a:endParaRPr lang="en-US" sz="1350" dirty="0"/>
          </a:p>
        </p:txBody>
      </p:sp>
      <p:sp>
        <p:nvSpPr>
          <p:cNvPr id="22" name="Text 20"/>
          <p:cNvSpPr txBox="1"/>
          <p:nvPr/>
        </p:nvSpPr>
        <p:spPr>
          <a:xfrm>
            <a:off x="1463040" y="4572000"/>
            <a:ext cx="5486400" cy="274320"/>
          </a:xfrm>
          <a:prstGeom prst="rect">
            <a:avLst/>
          </a:prstGeom>
          <a:noFill/>
          <a:ln/>
        </p:spPr>
        <p:txBody>
          <a:bodyPr wrap="square" lIns="0" tIns="0" rIns="0" bIns="0" rtlCol="0" anchor="ctr"/>
          <a:lstStyle/>
          <a:p>
            <a:pPr indent="0" marL="0">
              <a:buNone/>
            </a:pPr>
            <a:r>
              <a:rPr lang="en-US" sz="1100" i="1" dirty="0">
                <a:solidFill>
                  <a:srgbClr val="5E6570"/>
                </a:solidFill>
                <a:latin typeface="Calibri" pitchFamily="34" charset="0"/>
                <a:ea typeface="Calibri" pitchFamily="34" charset="-122"/>
                <a:cs typeface="Calibri" pitchFamily="34" charset="-120"/>
              </a:rPr>
              <a:t>Kotak berwarna = pihak yang sedang belajar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10800000">
            <a:off x="7818120" y="411480"/>
            <a:ext cx="201168" cy="182880"/>
          </a:xfrm>
          <a:prstGeom prst="triangle">
            <a:avLst/>
          </a:prstGeom>
          <a:solidFill>
            <a:srgbClr val="7A45B8"/>
          </a:solidFill>
          <a:ln w="12700">
            <a:solidFill>
              <a:srgbClr val="7A45B8"/>
            </a:solidFill>
            <a:prstDash val="solid"/>
          </a:ln>
        </p:spPr>
      </p:sp>
      <p:sp>
        <p:nvSpPr>
          <p:cNvPr id="3" name="Shape 1"/>
          <p:cNvSpPr/>
          <p:nvPr/>
        </p:nvSpPr>
        <p:spPr>
          <a:xfrm>
            <a:off x="8110728" y="411480"/>
            <a:ext cx="182880" cy="182880"/>
          </a:xfrm>
          <a:prstGeom prst="ellipse">
            <a:avLst/>
          </a:prstGeom>
          <a:solidFill>
            <a:srgbClr val="2F6FDB"/>
          </a:solidFill>
          <a:ln w="12700">
            <a:solidFill>
              <a:srgbClr val="2F6FDB"/>
            </a:solidFill>
            <a:prstDash val="solid"/>
          </a:ln>
        </p:spPr>
      </p:sp>
      <p:sp>
        <p:nvSpPr>
          <p:cNvPr id="4" name="Shape 2"/>
          <p:cNvSpPr/>
          <p:nvPr/>
        </p:nvSpPr>
        <p:spPr>
          <a:xfrm>
            <a:off x="8385048" y="411480"/>
            <a:ext cx="182880" cy="182880"/>
          </a:xfrm>
          <a:prstGeom prst="ellipse">
            <a:avLst/>
          </a:prstGeom>
          <a:solidFill>
            <a:srgbClr val="D5433B"/>
          </a:solidFill>
          <a:ln w="12700">
            <a:solidFill>
              <a:srgbClr val="D5433B"/>
            </a:solidFill>
            <a:prstDash val="solid"/>
          </a:ln>
        </p:spPr>
      </p:sp>
      <p:sp>
        <p:nvSpPr>
          <p:cNvPr id="5" name="Shape 3"/>
          <p:cNvSpPr/>
          <p:nvPr/>
        </p:nvSpPr>
        <p:spPr>
          <a:xfrm>
            <a:off x="8659368" y="411480"/>
            <a:ext cx="182880" cy="182880"/>
          </a:xfrm>
          <a:prstGeom prst="ellipse">
            <a:avLst/>
          </a:prstGeom>
          <a:solidFill>
            <a:srgbClr val="E0A500"/>
          </a:solidFill>
          <a:ln w="12700">
            <a:solidFill>
              <a:srgbClr val="E0A500"/>
            </a:solidFill>
            <a:prstDash val="solid"/>
          </a:ln>
        </p:spPr>
      </p:sp>
      <p:sp>
        <p:nvSpPr>
          <p:cNvPr id="6" name="Text 4"/>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dirty="0">
                <a:solidFill>
                  <a:srgbClr val="1B1E24"/>
                </a:solidFill>
                <a:latin typeface="Arial Black" pitchFamily="34" charset="0"/>
                <a:ea typeface="Arial Black" pitchFamily="34" charset="-122"/>
                <a:cs typeface="Arial Black" pitchFamily="34" charset="-120"/>
              </a:rPr>
              <a:t>Logika Behavior Tree</a:t>
            </a:r>
            <a:endParaRPr lang="en-US" sz="2800" dirty="0"/>
          </a:p>
        </p:txBody>
      </p:sp>
      <p:sp>
        <p:nvSpPr>
          <p:cNvPr id="7" name="Text 5"/>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400" dirty="0">
                <a:solidFill>
                  <a:srgbClr val="5E6570"/>
                </a:solidFill>
                <a:latin typeface="Calibri" pitchFamily="34" charset="0"/>
                <a:ea typeface="Calibri" pitchFamily="34" charset="-122"/>
                <a:cs typeface="Calibri" pitchFamily="34" charset="-120"/>
              </a:rPr>
              <a:t>Dicek dari prioritas tertinggi ke bawah</a:t>
            </a:r>
            <a:endParaRPr lang="en-US" sz="1400" dirty="0"/>
          </a:p>
        </p:txBody>
      </p:sp>
      <p:sp>
        <p:nvSpPr>
          <p:cNvPr id="8" name="Text 6"/>
          <p:cNvSpPr txBox="1"/>
          <p:nvPr/>
        </p:nvSpPr>
        <p:spPr>
          <a:xfrm>
            <a:off x="457200" y="1325880"/>
            <a:ext cx="3977640" cy="411480"/>
          </a:xfrm>
          <a:prstGeom prst="rect">
            <a:avLst/>
          </a:prstGeom>
          <a:noFill/>
          <a:ln/>
        </p:spPr>
        <p:txBody>
          <a:bodyPr wrap="square" lIns="0" tIns="0" rIns="0" bIns="0" rtlCol="0" anchor="ctr"/>
          <a:lstStyle/>
          <a:p>
            <a:pPr indent="0" marL="0">
              <a:buNone/>
            </a:pPr>
            <a:r>
              <a:rPr lang="en-US" sz="1800" dirty="0">
                <a:solidFill>
                  <a:srgbClr val="7A45B8"/>
                </a:solidFill>
                <a:latin typeface="Arial Black" pitchFamily="34" charset="0"/>
                <a:ea typeface="Arial Black" pitchFamily="34" charset="-122"/>
                <a:cs typeface="Arial Black" pitchFamily="34" charset="-120"/>
              </a:rPr>
              <a:t>BT Hunter</a:t>
            </a:r>
            <a:endParaRPr lang="en-US" sz="1800" dirty="0"/>
          </a:p>
        </p:txBody>
      </p:sp>
      <p:sp>
        <p:nvSpPr>
          <p:cNvPr id="9" name="Shape 7"/>
          <p:cNvSpPr/>
          <p:nvPr/>
        </p:nvSpPr>
        <p:spPr>
          <a:xfrm>
            <a:off x="457200" y="1828800"/>
            <a:ext cx="3977640" cy="603504"/>
          </a:xfrm>
          <a:prstGeom prst="roundRect">
            <a:avLst>
              <a:gd name="adj" fmla="val 12121"/>
            </a:avLst>
          </a:prstGeom>
          <a:solidFill>
            <a:srgbClr val="F1F2F5"/>
          </a:solidFill>
          <a:ln w="12700">
            <a:solidFill>
              <a:srgbClr val="F1F2F5"/>
            </a:solidFill>
            <a:prstDash val="solid"/>
          </a:ln>
        </p:spPr>
      </p:sp>
      <p:sp>
        <p:nvSpPr>
          <p:cNvPr id="10" name="Text 8"/>
          <p:cNvSpPr txBox="1"/>
          <p:nvPr/>
        </p:nvSpPr>
        <p:spPr>
          <a:xfrm>
            <a:off x="566928" y="1828800"/>
            <a:ext cx="320040" cy="603504"/>
          </a:xfrm>
          <a:prstGeom prst="rect">
            <a:avLst/>
          </a:prstGeom>
          <a:noFill/>
          <a:ln/>
        </p:spPr>
        <p:txBody>
          <a:bodyPr wrap="square" lIns="0" tIns="0" rIns="0" bIns="0" rtlCol="0" anchor="ctr"/>
          <a:lstStyle/>
          <a:p>
            <a:pPr indent="0" marL="0">
              <a:buNone/>
            </a:pPr>
            <a:r>
              <a:rPr lang="en-US" sz="1600" dirty="0">
                <a:solidFill>
                  <a:srgbClr val="7A45B8"/>
                </a:solidFill>
                <a:latin typeface="Arial Black" pitchFamily="34" charset="0"/>
                <a:ea typeface="Arial Black" pitchFamily="34" charset="-122"/>
                <a:cs typeface="Arial Black" pitchFamily="34" charset="-120"/>
              </a:rPr>
              <a:t>1</a:t>
            </a:r>
            <a:endParaRPr lang="en-US" sz="1600" dirty="0"/>
          </a:p>
        </p:txBody>
      </p:sp>
      <p:sp>
        <p:nvSpPr>
          <p:cNvPr id="11" name="Text 9"/>
          <p:cNvSpPr txBox="1"/>
          <p:nvPr/>
        </p:nvSpPr>
        <p:spPr>
          <a:xfrm>
            <a:off x="914400" y="1828800"/>
            <a:ext cx="3429000" cy="603504"/>
          </a:xfrm>
          <a:prstGeom prst="rect">
            <a:avLst/>
          </a:prstGeom>
          <a:noFill/>
          <a:ln/>
        </p:spPr>
        <p:txBody>
          <a:bodyPr wrap="square" lIns="0" tIns="0" rIns="0" bIns="0" rtlCol="0" anchor="ctr"/>
          <a:lstStyle/>
          <a:p>
            <a:pPr indent="0" marL="0">
              <a:buNone/>
            </a:pPr>
            <a:r>
              <a:rPr lang="en-US" sz="1300" dirty="0">
                <a:solidFill>
                  <a:srgbClr val="1B1E24"/>
                </a:solidFill>
                <a:latin typeface="Calibri" pitchFamily="34" charset="0"/>
                <a:ea typeface="Calibri" pitchFamily="34" charset="-122"/>
                <a:cs typeface="Calibri" pitchFamily="34" charset="-120"/>
              </a:rPr>
              <a:t>Exhausted? → pindah dari area</a:t>
            </a:r>
            <a:endParaRPr lang="en-US" sz="1300" dirty="0"/>
          </a:p>
        </p:txBody>
      </p:sp>
      <p:sp>
        <p:nvSpPr>
          <p:cNvPr id="12" name="Shape 10"/>
          <p:cNvSpPr/>
          <p:nvPr/>
        </p:nvSpPr>
        <p:spPr>
          <a:xfrm>
            <a:off x="457200" y="2542032"/>
            <a:ext cx="3977640" cy="603504"/>
          </a:xfrm>
          <a:prstGeom prst="roundRect">
            <a:avLst>
              <a:gd name="adj" fmla="val 12121"/>
            </a:avLst>
          </a:prstGeom>
          <a:solidFill>
            <a:srgbClr val="F1F2F5"/>
          </a:solidFill>
          <a:ln w="12700">
            <a:solidFill>
              <a:srgbClr val="F1F2F5"/>
            </a:solidFill>
            <a:prstDash val="solid"/>
          </a:ln>
        </p:spPr>
      </p:sp>
      <p:sp>
        <p:nvSpPr>
          <p:cNvPr id="13" name="Text 11"/>
          <p:cNvSpPr txBox="1"/>
          <p:nvPr/>
        </p:nvSpPr>
        <p:spPr>
          <a:xfrm>
            <a:off x="566928" y="2542032"/>
            <a:ext cx="320040" cy="603504"/>
          </a:xfrm>
          <a:prstGeom prst="rect">
            <a:avLst/>
          </a:prstGeom>
          <a:noFill/>
          <a:ln/>
        </p:spPr>
        <p:txBody>
          <a:bodyPr wrap="square" lIns="0" tIns="0" rIns="0" bIns="0" rtlCol="0" anchor="ctr"/>
          <a:lstStyle/>
          <a:p>
            <a:pPr indent="0" marL="0">
              <a:buNone/>
            </a:pPr>
            <a:r>
              <a:rPr lang="en-US" sz="1600" dirty="0">
                <a:solidFill>
                  <a:srgbClr val="7A45B8"/>
                </a:solidFill>
                <a:latin typeface="Arial Black" pitchFamily="34" charset="0"/>
                <a:ea typeface="Arial Black" pitchFamily="34" charset="-122"/>
                <a:cs typeface="Arial Black" pitchFamily="34" charset="-120"/>
              </a:rPr>
              <a:t>2</a:t>
            </a:r>
            <a:endParaRPr lang="en-US" sz="1600" dirty="0"/>
          </a:p>
        </p:txBody>
      </p:sp>
      <p:sp>
        <p:nvSpPr>
          <p:cNvPr id="14" name="Text 12"/>
          <p:cNvSpPr txBox="1"/>
          <p:nvPr/>
        </p:nvSpPr>
        <p:spPr>
          <a:xfrm>
            <a:off x="914400" y="2542032"/>
            <a:ext cx="3429000" cy="603504"/>
          </a:xfrm>
          <a:prstGeom prst="rect">
            <a:avLst/>
          </a:prstGeom>
          <a:noFill/>
          <a:ln/>
        </p:spPr>
        <p:txBody>
          <a:bodyPr wrap="square" lIns="0" tIns="0" rIns="0" bIns="0" rtlCol="0" anchor="ctr"/>
          <a:lstStyle/>
          <a:p>
            <a:pPr indent="0" marL="0">
              <a:buNone/>
            </a:pPr>
            <a:r>
              <a:rPr lang="en-US" sz="1300" dirty="0">
                <a:solidFill>
                  <a:srgbClr val="1B1E24"/>
                </a:solidFill>
                <a:latin typeface="Calibri" pitchFamily="34" charset="0"/>
                <a:ea typeface="Calibri" pitchFamily="34" charset="-122"/>
                <a:cs typeface="Calibri" pitchFamily="34" charset="-120"/>
              </a:rPr>
              <a:t>Gerbang terbuka? → kejar Prey terdekat ke gerbang</a:t>
            </a:r>
            <a:endParaRPr lang="en-US" sz="1300" dirty="0"/>
          </a:p>
        </p:txBody>
      </p:sp>
      <p:sp>
        <p:nvSpPr>
          <p:cNvPr id="15" name="Shape 13"/>
          <p:cNvSpPr/>
          <p:nvPr/>
        </p:nvSpPr>
        <p:spPr>
          <a:xfrm>
            <a:off x="457200" y="3255264"/>
            <a:ext cx="3977640" cy="603504"/>
          </a:xfrm>
          <a:prstGeom prst="roundRect">
            <a:avLst>
              <a:gd name="adj" fmla="val 12121"/>
            </a:avLst>
          </a:prstGeom>
          <a:solidFill>
            <a:srgbClr val="F1F2F5"/>
          </a:solidFill>
          <a:ln w="12700">
            <a:solidFill>
              <a:srgbClr val="F1F2F5"/>
            </a:solidFill>
            <a:prstDash val="solid"/>
          </a:ln>
        </p:spPr>
      </p:sp>
      <p:sp>
        <p:nvSpPr>
          <p:cNvPr id="16" name="Text 14"/>
          <p:cNvSpPr txBox="1"/>
          <p:nvPr/>
        </p:nvSpPr>
        <p:spPr>
          <a:xfrm>
            <a:off x="566928" y="3255264"/>
            <a:ext cx="320040" cy="603504"/>
          </a:xfrm>
          <a:prstGeom prst="rect">
            <a:avLst/>
          </a:prstGeom>
          <a:noFill/>
          <a:ln/>
        </p:spPr>
        <p:txBody>
          <a:bodyPr wrap="square" lIns="0" tIns="0" rIns="0" bIns="0" rtlCol="0" anchor="ctr"/>
          <a:lstStyle/>
          <a:p>
            <a:pPr indent="0" marL="0">
              <a:buNone/>
            </a:pPr>
            <a:r>
              <a:rPr lang="en-US" sz="1600" dirty="0">
                <a:solidFill>
                  <a:srgbClr val="7A45B8"/>
                </a:solidFill>
                <a:latin typeface="Arial Black" pitchFamily="34" charset="0"/>
                <a:ea typeface="Arial Black" pitchFamily="34" charset="-122"/>
                <a:cs typeface="Arial Black" pitchFamily="34" charset="-120"/>
              </a:rPr>
              <a:t>3</a:t>
            </a:r>
            <a:endParaRPr lang="en-US" sz="1600" dirty="0"/>
          </a:p>
        </p:txBody>
      </p:sp>
      <p:sp>
        <p:nvSpPr>
          <p:cNvPr id="17" name="Text 15"/>
          <p:cNvSpPr txBox="1"/>
          <p:nvPr/>
        </p:nvSpPr>
        <p:spPr>
          <a:xfrm>
            <a:off x="914400" y="3255264"/>
            <a:ext cx="3429000" cy="603504"/>
          </a:xfrm>
          <a:prstGeom prst="rect">
            <a:avLst/>
          </a:prstGeom>
          <a:noFill/>
          <a:ln/>
        </p:spPr>
        <p:txBody>
          <a:bodyPr wrap="square" lIns="0" tIns="0" rIns="0" bIns="0" rtlCol="0" anchor="ctr"/>
          <a:lstStyle/>
          <a:p>
            <a:pPr indent="0" marL="0">
              <a:buNone/>
            </a:pPr>
            <a:r>
              <a:rPr lang="en-US" sz="1300" dirty="0">
                <a:solidFill>
                  <a:srgbClr val="1B1E24"/>
                </a:solidFill>
                <a:latin typeface="Calibri" pitchFamily="34" charset="0"/>
                <a:ea typeface="Calibri" pitchFamily="34" charset="-122"/>
                <a:cs typeface="Calibri" pitchFamily="34" charset="-120"/>
              </a:rPr>
              <a:t>Lihat Prey? → kejar terdekat, dash saat dekat</a:t>
            </a:r>
            <a:endParaRPr lang="en-US" sz="1300" dirty="0"/>
          </a:p>
        </p:txBody>
      </p:sp>
      <p:sp>
        <p:nvSpPr>
          <p:cNvPr id="18" name="Shape 16"/>
          <p:cNvSpPr/>
          <p:nvPr/>
        </p:nvSpPr>
        <p:spPr>
          <a:xfrm>
            <a:off x="457200" y="3968496"/>
            <a:ext cx="3977640" cy="603504"/>
          </a:xfrm>
          <a:prstGeom prst="roundRect">
            <a:avLst>
              <a:gd name="adj" fmla="val 12121"/>
            </a:avLst>
          </a:prstGeom>
          <a:solidFill>
            <a:srgbClr val="F1F2F5"/>
          </a:solidFill>
          <a:ln w="12700">
            <a:solidFill>
              <a:srgbClr val="F1F2F5"/>
            </a:solidFill>
            <a:prstDash val="solid"/>
          </a:ln>
        </p:spPr>
      </p:sp>
      <p:sp>
        <p:nvSpPr>
          <p:cNvPr id="19" name="Text 17"/>
          <p:cNvSpPr txBox="1"/>
          <p:nvPr/>
        </p:nvSpPr>
        <p:spPr>
          <a:xfrm>
            <a:off x="566928" y="3968496"/>
            <a:ext cx="320040" cy="603504"/>
          </a:xfrm>
          <a:prstGeom prst="rect">
            <a:avLst/>
          </a:prstGeom>
          <a:noFill/>
          <a:ln/>
        </p:spPr>
        <p:txBody>
          <a:bodyPr wrap="square" lIns="0" tIns="0" rIns="0" bIns="0" rtlCol="0" anchor="ctr"/>
          <a:lstStyle/>
          <a:p>
            <a:pPr indent="0" marL="0">
              <a:buNone/>
            </a:pPr>
            <a:r>
              <a:rPr lang="en-US" sz="1600" dirty="0">
                <a:solidFill>
                  <a:srgbClr val="7A45B8"/>
                </a:solidFill>
                <a:latin typeface="Arial Black" pitchFamily="34" charset="0"/>
                <a:ea typeface="Arial Black" pitchFamily="34" charset="-122"/>
                <a:cs typeface="Arial Black" pitchFamily="34" charset="-120"/>
              </a:rPr>
              <a:t>4</a:t>
            </a:r>
            <a:endParaRPr lang="en-US" sz="1600" dirty="0"/>
          </a:p>
        </p:txBody>
      </p:sp>
      <p:sp>
        <p:nvSpPr>
          <p:cNvPr id="20" name="Text 18"/>
          <p:cNvSpPr txBox="1"/>
          <p:nvPr/>
        </p:nvSpPr>
        <p:spPr>
          <a:xfrm>
            <a:off x="914400" y="3968496"/>
            <a:ext cx="3429000" cy="603504"/>
          </a:xfrm>
          <a:prstGeom prst="rect">
            <a:avLst/>
          </a:prstGeom>
          <a:noFill/>
          <a:ln/>
        </p:spPr>
        <p:txBody>
          <a:bodyPr wrap="square" lIns="0" tIns="0" rIns="0" bIns="0" rtlCol="0" anchor="ctr"/>
          <a:lstStyle/>
          <a:p>
            <a:pPr indent="0" marL="0">
              <a:buNone/>
            </a:pPr>
            <a:r>
              <a:rPr lang="en-US" sz="1300" dirty="0">
                <a:solidFill>
                  <a:srgbClr val="1B1E24"/>
                </a:solidFill>
                <a:latin typeface="Calibri" pitchFamily="34" charset="0"/>
                <a:ea typeface="Calibri" pitchFamily="34" charset="-122"/>
                <a:cs typeface="Calibri" pitchFamily="34" charset="-120"/>
              </a:rPr>
              <a:t>Selain itu → patroli di sekitar orb</a:t>
            </a:r>
            <a:endParaRPr lang="en-US" sz="1300" dirty="0"/>
          </a:p>
        </p:txBody>
      </p:sp>
      <p:sp>
        <p:nvSpPr>
          <p:cNvPr id="21" name="Text 19"/>
          <p:cNvSpPr txBox="1"/>
          <p:nvPr/>
        </p:nvSpPr>
        <p:spPr>
          <a:xfrm>
            <a:off x="4709160" y="1325880"/>
            <a:ext cx="3977640" cy="411480"/>
          </a:xfrm>
          <a:prstGeom prst="rect">
            <a:avLst/>
          </a:prstGeom>
          <a:noFill/>
          <a:ln/>
        </p:spPr>
        <p:txBody>
          <a:bodyPr wrap="square" lIns="0" tIns="0" rIns="0" bIns="0" rtlCol="0" anchor="ctr"/>
          <a:lstStyle/>
          <a:p>
            <a:pPr indent="0" marL="0">
              <a:buNone/>
            </a:pPr>
            <a:r>
              <a:rPr lang="en-US" sz="1800" dirty="0">
                <a:solidFill>
                  <a:srgbClr val="2F6FDB"/>
                </a:solidFill>
                <a:latin typeface="Arial Black" pitchFamily="34" charset="0"/>
                <a:ea typeface="Arial Black" pitchFamily="34" charset="-122"/>
                <a:cs typeface="Arial Black" pitchFamily="34" charset="-120"/>
              </a:rPr>
              <a:t>BT Prey</a:t>
            </a:r>
            <a:endParaRPr lang="en-US" sz="1800" dirty="0"/>
          </a:p>
        </p:txBody>
      </p:sp>
      <p:sp>
        <p:nvSpPr>
          <p:cNvPr id="22" name="Shape 20"/>
          <p:cNvSpPr/>
          <p:nvPr/>
        </p:nvSpPr>
        <p:spPr>
          <a:xfrm>
            <a:off x="4709160" y="1828800"/>
            <a:ext cx="3977640" cy="603504"/>
          </a:xfrm>
          <a:prstGeom prst="roundRect">
            <a:avLst>
              <a:gd name="adj" fmla="val 12121"/>
            </a:avLst>
          </a:prstGeom>
          <a:solidFill>
            <a:srgbClr val="F1F2F5"/>
          </a:solidFill>
          <a:ln w="12700">
            <a:solidFill>
              <a:srgbClr val="F1F2F5"/>
            </a:solidFill>
            <a:prstDash val="solid"/>
          </a:ln>
        </p:spPr>
      </p:sp>
      <p:sp>
        <p:nvSpPr>
          <p:cNvPr id="23" name="Text 21"/>
          <p:cNvSpPr txBox="1"/>
          <p:nvPr/>
        </p:nvSpPr>
        <p:spPr>
          <a:xfrm>
            <a:off x="4818888" y="1828800"/>
            <a:ext cx="320040" cy="603504"/>
          </a:xfrm>
          <a:prstGeom prst="rect">
            <a:avLst/>
          </a:prstGeom>
          <a:noFill/>
          <a:ln/>
        </p:spPr>
        <p:txBody>
          <a:bodyPr wrap="square" lIns="0" tIns="0" rIns="0" bIns="0" rtlCol="0" anchor="ctr"/>
          <a:lstStyle/>
          <a:p>
            <a:pPr indent="0" marL="0">
              <a:buNone/>
            </a:pPr>
            <a:r>
              <a:rPr lang="en-US" sz="1600" dirty="0">
                <a:solidFill>
                  <a:srgbClr val="2F6FDB"/>
                </a:solidFill>
                <a:latin typeface="Arial Black" pitchFamily="34" charset="0"/>
                <a:ea typeface="Arial Black" pitchFamily="34" charset="-122"/>
                <a:cs typeface="Arial Black" pitchFamily="34" charset="-120"/>
              </a:rPr>
              <a:t>1</a:t>
            </a:r>
            <a:endParaRPr lang="en-US" sz="1600" dirty="0"/>
          </a:p>
        </p:txBody>
      </p:sp>
      <p:sp>
        <p:nvSpPr>
          <p:cNvPr id="24" name="Text 22"/>
          <p:cNvSpPr txBox="1"/>
          <p:nvPr/>
        </p:nvSpPr>
        <p:spPr>
          <a:xfrm>
            <a:off x="5166360" y="1828800"/>
            <a:ext cx="3429000" cy="603504"/>
          </a:xfrm>
          <a:prstGeom prst="rect">
            <a:avLst/>
          </a:prstGeom>
          <a:noFill/>
          <a:ln/>
        </p:spPr>
        <p:txBody>
          <a:bodyPr wrap="square" lIns="0" tIns="0" rIns="0" bIns="0" rtlCol="0" anchor="ctr"/>
          <a:lstStyle/>
          <a:p>
            <a:pPr indent="0" marL="0">
              <a:buNone/>
            </a:pPr>
            <a:r>
              <a:rPr lang="en-US" sz="1300" dirty="0">
                <a:solidFill>
                  <a:srgbClr val="1B1E24"/>
                </a:solidFill>
                <a:latin typeface="Calibri" pitchFamily="34" charset="0"/>
                <a:ea typeface="Calibri" pitchFamily="34" charset="-122"/>
                <a:cs typeface="Calibri" pitchFamily="34" charset="-120"/>
              </a:rPr>
              <a:t>Hunter dekat (&lt; 6 m)? → kabur ke rintangan, dash, pasang trap</a:t>
            </a:r>
            <a:endParaRPr lang="en-US" sz="1300" dirty="0"/>
          </a:p>
        </p:txBody>
      </p:sp>
      <p:sp>
        <p:nvSpPr>
          <p:cNvPr id="25" name="Shape 23"/>
          <p:cNvSpPr/>
          <p:nvPr/>
        </p:nvSpPr>
        <p:spPr>
          <a:xfrm>
            <a:off x="4709160" y="2542032"/>
            <a:ext cx="3977640" cy="603504"/>
          </a:xfrm>
          <a:prstGeom prst="roundRect">
            <a:avLst>
              <a:gd name="adj" fmla="val 12121"/>
            </a:avLst>
          </a:prstGeom>
          <a:solidFill>
            <a:srgbClr val="F1F2F5"/>
          </a:solidFill>
          <a:ln w="12700">
            <a:solidFill>
              <a:srgbClr val="F1F2F5"/>
            </a:solidFill>
            <a:prstDash val="solid"/>
          </a:ln>
        </p:spPr>
      </p:sp>
      <p:sp>
        <p:nvSpPr>
          <p:cNvPr id="26" name="Text 24"/>
          <p:cNvSpPr txBox="1"/>
          <p:nvPr/>
        </p:nvSpPr>
        <p:spPr>
          <a:xfrm>
            <a:off x="4818888" y="2542032"/>
            <a:ext cx="320040" cy="603504"/>
          </a:xfrm>
          <a:prstGeom prst="rect">
            <a:avLst/>
          </a:prstGeom>
          <a:noFill/>
          <a:ln/>
        </p:spPr>
        <p:txBody>
          <a:bodyPr wrap="square" lIns="0" tIns="0" rIns="0" bIns="0" rtlCol="0" anchor="ctr"/>
          <a:lstStyle/>
          <a:p>
            <a:pPr indent="0" marL="0">
              <a:buNone/>
            </a:pPr>
            <a:r>
              <a:rPr lang="en-US" sz="1600" dirty="0">
                <a:solidFill>
                  <a:srgbClr val="2F6FDB"/>
                </a:solidFill>
                <a:latin typeface="Arial Black" pitchFamily="34" charset="0"/>
                <a:ea typeface="Arial Black" pitchFamily="34" charset="-122"/>
                <a:cs typeface="Arial Black" pitchFamily="34" charset="-120"/>
              </a:rPr>
              <a:t>2</a:t>
            </a:r>
            <a:endParaRPr lang="en-US" sz="1600" dirty="0"/>
          </a:p>
        </p:txBody>
      </p:sp>
      <p:sp>
        <p:nvSpPr>
          <p:cNvPr id="27" name="Text 25"/>
          <p:cNvSpPr txBox="1"/>
          <p:nvPr/>
        </p:nvSpPr>
        <p:spPr>
          <a:xfrm>
            <a:off x="5166360" y="2542032"/>
            <a:ext cx="3429000" cy="603504"/>
          </a:xfrm>
          <a:prstGeom prst="rect">
            <a:avLst/>
          </a:prstGeom>
          <a:noFill/>
          <a:ln/>
        </p:spPr>
        <p:txBody>
          <a:bodyPr wrap="square" lIns="0" tIns="0" rIns="0" bIns="0" rtlCol="0" anchor="ctr"/>
          <a:lstStyle/>
          <a:p>
            <a:pPr indent="0" marL="0">
              <a:buNone/>
            </a:pPr>
            <a:r>
              <a:rPr lang="en-US" sz="1300" dirty="0">
                <a:solidFill>
                  <a:srgbClr val="1B1E24"/>
                </a:solidFill>
                <a:latin typeface="Calibri" pitchFamily="34" charset="0"/>
                <a:ea typeface="Calibri" pitchFamily="34" charset="-122"/>
                <a:cs typeface="Calibri" pitchFamily="34" charset="-120"/>
              </a:rPr>
              <a:t>Gerbang terbuka? → lari ke gerbang</a:t>
            </a:r>
            <a:endParaRPr lang="en-US" sz="1300" dirty="0"/>
          </a:p>
        </p:txBody>
      </p:sp>
      <p:sp>
        <p:nvSpPr>
          <p:cNvPr id="28" name="Shape 26"/>
          <p:cNvSpPr/>
          <p:nvPr/>
        </p:nvSpPr>
        <p:spPr>
          <a:xfrm>
            <a:off x="4709160" y="3255264"/>
            <a:ext cx="3977640" cy="603504"/>
          </a:xfrm>
          <a:prstGeom prst="roundRect">
            <a:avLst>
              <a:gd name="adj" fmla="val 12121"/>
            </a:avLst>
          </a:prstGeom>
          <a:solidFill>
            <a:srgbClr val="F1F2F5"/>
          </a:solidFill>
          <a:ln w="12700">
            <a:solidFill>
              <a:srgbClr val="F1F2F5"/>
            </a:solidFill>
            <a:prstDash val="solid"/>
          </a:ln>
        </p:spPr>
      </p:sp>
      <p:sp>
        <p:nvSpPr>
          <p:cNvPr id="29" name="Text 27"/>
          <p:cNvSpPr txBox="1"/>
          <p:nvPr/>
        </p:nvSpPr>
        <p:spPr>
          <a:xfrm>
            <a:off x="4818888" y="3255264"/>
            <a:ext cx="320040" cy="603504"/>
          </a:xfrm>
          <a:prstGeom prst="rect">
            <a:avLst/>
          </a:prstGeom>
          <a:noFill/>
          <a:ln/>
        </p:spPr>
        <p:txBody>
          <a:bodyPr wrap="square" lIns="0" tIns="0" rIns="0" bIns="0" rtlCol="0" anchor="ctr"/>
          <a:lstStyle/>
          <a:p>
            <a:pPr indent="0" marL="0">
              <a:buNone/>
            </a:pPr>
            <a:r>
              <a:rPr lang="en-US" sz="1600" dirty="0">
                <a:solidFill>
                  <a:srgbClr val="2F6FDB"/>
                </a:solidFill>
                <a:latin typeface="Arial Black" pitchFamily="34" charset="0"/>
                <a:ea typeface="Arial Black" pitchFamily="34" charset="-122"/>
                <a:cs typeface="Arial Black" pitchFamily="34" charset="-120"/>
              </a:rPr>
              <a:t>3</a:t>
            </a:r>
            <a:endParaRPr lang="en-US" sz="1600" dirty="0"/>
          </a:p>
        </p:txBody>
      </p:sp>
      <p:sp>
        <p:nvSpPr>
          <p:cNvPr id="30" name="Text 28"/>
          <p:cNvSpPr txBox="1"/>
          <p:nvPr/>
        </p:nvSpPr>
        <p:spPr>
          <a:xfrm>
            <a:off x="5166360" y="3255264"/>
            <a:ext cx="3429000" cy="603504"/>
          </a:xfrm>
          <a:prstGeom prst="rect">
            <a:avLst/>
          </a:prstGeom>
          <a:noFill/>
          <a:ln/>
        </p:spPr>
        <p:txBody>
          <a:bodyPr wrap="square" lIns="0" tIns="0" rIns="0" bIns="0" rtlCol="0" anchor="ctr"/>
          <a:lstStyle/>
          <a:p>
            <a:pPr indent="0" marL="0">
              <a:buNone/>
            </a:pPr>
            <a:r>
              <a:rPr lang="en-US" sz="1300" dirty="0">
                <a:solidFill>
                  <a:srgbClr val="1B1E24"/>
                </a:solidFill>
                <a:latin typeface="Calibri" pitchFamily="34" charset="0"/>
                <a:ea typeface="Calibri" pitchFamily="34" charset="-122"/>
                <a:cs typeface="Calibri" pitchFamily="34" charset="-120"/>
              </a:rPr>
              <a:t>Teman di Cage &amp; Hunter jauh? → selamatkan</a:t>
            </a:r>
            <a:endParaRPr lang="en-US" sz="1300" dirty="0"/>
          </a:p>
        </p:txBody>
      </p:sp>
      <p:sp>
        <p:nvSpPr>
          <p:cNvPr id="31" name="Shape 29"/>
          <p:cNvSpPr/>
          <p:nvPr/>
        </p:nvSpPr>
        <p:spPr>
          <a:xfrm>
            <a:off x="4709160" y="3968496"/>
            <a:ext cx="3977640" cy="603504"/>
          </a:xfrm>
          <a:prstGeom prst="roundRect">
            <a:avLst>
              <a:gd name="adj" fmla="val 12121"/>
            </a:avLst>
          </a:prstGeom>
          <a:solidFill>
            <a:srgbClr val="F1F2F5"/>
          </a:solidFill>
          <a:ln w="12700">
            <a:solidFill>
              <a:srgbClr val="F1F2F5"/>
            </a:solidFill>
            <a:prstDash val="solid"/>
          </a:ln>
        </p:spPr>
      </p:sp>
      <p:sp>
        <p:nvSpPr>
          <p:cNvPr id="32" name="Text 30"/>
          <p:cNvSpPr txBox="1"/>
          <p:nvPr/>
        </p:nvSpPr>
        <p:spPr>
          <a:xfrm>
            <a:off x="4818888" y="3968496"/>
            <a:ext cx="320040" cy="603504"/>
          </a:xfrm>
          <a:prstGeom prst="rect">
            <a:avLst/>
          </a:prstGeom>
          <a:noFill/>
          <a:ln/>
        </p:spPr>
        <p:txBody>
          <a:bodyPr wrap="square" lIns="0" tIns="0" rIns="0" bIns="0" rtlCol="0" anchor="ctr"/>
          <a:lstStyle/>
          <a:p>
            <a:pPr indent="0" marL="0">
              <a:buNone/>
            </a:pPr>
            <a:r>
              <a:rPr lang="en-US" sz="1600" dirty="0">
                <a:solidFill>
                  <a:srgbClr val="2F6FDB"/>
                </a:solidFill>
                <a:latin typeface="Arial Black" pitchFamily="34" charset="0"/>
                <a:ea typeface="Arial Black" pitchFamily="34" charset="-122"/>
                <a:cs typeface="Arial Black" pitchFamily="34" charset="-120"/>
              </a:rPr>
              <a:t>4</a:t>
            </a:r>
            <a:endParaRPr lang="en-US" sz="1600" dirty="0"/>
          </a:p>
        </p:txBody>
      </p:sp>
      <p:sp>
        <p:nvSpPr>
          <p:cNvPr id="33" name="Text 31"/>
          <p:cNvSpPr txBox="1"/>
          <p:nvPr/>
        </p:nvSpPr>
        <p:spPr>
          <a:xfrm>
            <a:off x="5166360" y="3968496"/>
            <a:ext cx="3429000" cy="603504"/>
          </a:xfrm>
          <a:prstGeom prst="rect">
            <a:avLst/>
          </a:prstGeom>
          <a:noFill/>
          <a:ln/>
        </p:spPr>
        <p:txBody>
          <a:bodyPr wrap="square" lIns="0" tIns="0" rIns="0" bIns="0" rtlCol="0" anchor="ctr"/>
          <a:lstStyle/>
          <a:p>
            <a:pPr indent="0" marL="0">
              <a:buNone/>
            </a:pPr>
            <a:r>
              <a:rPr lang="en-US" sz="1300" dirty="0">
                <a:solidFill>
                  <a:srgbClr val="1B1E24"/>
                </a:solidFill>
                <a:latin typeface="Calibri" pitchFamily="34" charset="0"/>
                <a:ea typeface="Calibri" pitchFamily="34" charset="-122"/>
                <a:cs typeface="Calibri" pitchFamily="34" charset="-120"/>
              </a:rPr>
              <a:t>Selain itu → ambil orb warnaku</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10800000">
            <a:off x="7818120" y="411480"/>
            <a:ext cx="201168" cy="182880"/>
          </a:xfrm>
          <a:prstGeom prst="triangle">
            <a:avLst/>
          </a:prstGeom>
          <a:solidFill>
            <a:srgbClr val="7A45B8"/>
          </a:solidFill>
          <a:ln w="12700">
            <a:solidFill>
              <a:srgbClr val="7A45B8"/>
            </a:solidFill>
            <a:prstDash val="solid"/>
          </a:ln>
        </p:spPr>
      </p:sp>
      <p:sp>
        <p:nvSpPr>
          <p:cNvPr id="3" name="Shape 1"/>
          <p:cNvSpPr/>
          <p:nvPr/>
        </p:nvSpPr>
        <p:spPr>
          <a:xfrm>
            <a:off x="8110728" y="411480"/>
            <a:ext cx="182880" cy="182880"/>
          </a:xfrm>
          <a:prstGeom prst="ellipse">
            <a:avLst/>
          </a:prstGeom>
          <a:solidFill>
            <a:srgbClr val="2F6FDB"/>
          </a:solidFill>
          <a:ln w="12700">
            <a:solidFill>
              <a:srgbClr val="2F6FDB"/>
            </a:solidFill>
            <a:prstDash val="solid"/>
          </a:ln>
        </p:spPr>
      </p:sp>
      <p:sp>
        <p:nvSpPr>
          <p:cNvPr id="4" name="Shape 2"/>
          <p:cNvSpPr/>
          <p:nvPr/>
        </p:nvSpPr>
        <p:spPr>
          <a:xfrm>
            <a:off x="8385048" y="411480"/>
            <a:ext cx="182880" cy="182880"/>
          </a:xfrm>
          <a:prstGeom prst="ellipse">
            <a:avLst/>
          </a:prstGeom>
          <a:solidFill>
            <a:srgbClr val="D5433B"/>
          </a:solidFill>
          <a:ln w="12700">
            <a:solidFill>
              <a:srgbClr val="D5433B"/>
            </a:solidFill>
            <a:prstDash val="solid"/>
          </a:ln>
        </p:spPr>
      </p:sp>
      <p:sp>
        <p:nvSpPr>
          <p:cNvPr id="5" name="Shape 3"/>
          <p:cNvSpPr/>
          <p:nvPr/>
        </p:nvSpPr>
        <p:spPr>
          <a:xfrm>
            <a:off x="8659368" y="411480"/>
            <a:ext cx="182880" cy="182880"/>
          </a:xfrm>
          <a:prstGeom prst="ellipse">
            <a:avLst/>
          </a:prstGeom>
          <a:solidFill>
            <a:srgbClr val="E0A500"/>
          </a:solidFill>
          <a:ln w="12700">
            <a:solidFill>
              <a:srgbClr val="E0A500"/>
            </a:solidFill>
            <a:prstDash val="solid"/>
          </a:ln>
        </p:spPr>
      </p:sp>
      <p:sp>
        <p:nvSpPr>
          <p:cNvPr id="6" name="Text 4"/>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dirty="0">
                <a:solidFill>
                  <a:srgbClr val="1B1E24"/>
                </a:solidFill>
                <a:latin typeface="Arial Black" pitchFamily="34" charset="0"/>
                <a:ea typeface="Arial Black" pitchFamily="34" charset="-122"/>
                <a:cs typeface="Arial Black" pitchFamily="34" charset="-120"/>
              </a:rPr>
              <a:t>Desain Agent RL</a:t>
            </a:r>
            <a:endParaRPr lang="en-US" sz="2800" dirty="0"/>
          </a:p>
        </p:txBody>
      </p:sp>
      <p:sp>
        <p:nvSpPr>
          <p:cNvPr id="7" name="Text 5"/>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400" dirty="0">
                <a:solidFill>
                  <a:srgbClr val="5E6570"/>
                </a:solidFill>
                <a:latin typeface="Calibri" pitchFamily="34" charset="0"/>
                <a:ea typeface="Calibri" pitchFamily="34" charset="-122"/>
                <a:cs typeface="Calibri" pitchFamily="34" charset="-120"/>
              </a:rPr>
              <a:t>Apa yang dilihat, dilakukan, dan dihargai</a:t>
            </a:r>
            <a:endParaRPr lang="en-US" sz="1400" dirty="0"/>
          </a:p>
        </p:txBody>
      </p:sp>
      <p:sp>
        <p:nvSpPr>
          <p:cNvPr id="8" name="Shape 6"/>
          <p:cNvSpPr/>
          <p:nvPr/>
        </p:nvSpPr>
        <p:spPr>
          <a:xfrm>
            <a:off x="457200" y="1325880"/>
            <a:ext cx="3291840" cy="1691640"/>
          </a:xfrm>
          <a:prstGeom prst="roundRect">
            <a:avLst>
              <a:gd name="adj" fmla="val 4324"/>
            </a:avLst>
          </a:prstGeom>
          <a:solidFill>
            <a:srgbClr val="F1F2F5"/>
          </a:solidFill>
          <a:ln w="12700">
            <a:solidFill>
              <a:srgbClr val="F1F2F5"/>
            </a:solidFill>
            <a:prstDash val="solid"/>
          </a:ln>
        </p:spPr>
      </p:sp>
      <p:sp>
        <p:nvSpPr>
          <p:cNvPr id="9" name="Text 7"/>
          <p:cNvSpPr txBox="1"/>
          <p:nvPr/>
        </p:nvSpPr>
        <p:spPr>
          <a:xfrm>
            <a:off x="640080" y="1417320"/>
            <a:ext cx="2926080" cy="320040"/>
          </a:xfrm>
          <a:prstGeom prst="rect">
            <a:avLst/>
          </a:prstGeom>
          <a:noFill/>
          <a:ln/>
        </p:spPr>
        <p:txBody>
          <a:bodyPr wrap="square" lIns="0" tIns="0" rIns="0" bIns="0" rtlCol="0" anchor="ctr"/>
          <a:lstStyle/>
          <a:p>
            <a:pPr indent="0" marL="0">
              <a:buNone/>
            </a:pPr>
            <a:r>
              <a:rPr lang="en-US" sz="1500" b="1" dirty="0">
                <a:solidFill>
                  <a:srgbClr val="1B1E24"/>
                </a:solidFill>
                <a:latin typeface="Calibri" pitchFamily="34" charset="0"/>
                <a:ea typeface="Calibri" pitchFamily="34" charset="-122"/>
                <a:cs typeface="Calibri" pitchFamily="34" charset="-120"/>
              </a:rPr>
              <a:t>Observasi</a:t>
            </a:r>
            <a:endParaRPr lang="en-US" sz="1500" dirty="0"/>
          </a:p>
        </p:txBody>
      </p:sp>
      <p:sp>
        <p:nvSpPr>
          <p:cNvPr id="10" name="Text 8"/>
          <p:cNvSpPr txBox="1"/>
          <p:nvPr/>
        </p:nvSpPr>
        <p:spPr>
          <a:xfrm>
            <a:off x="640080" y="1783080"/>
            <a:ext cx="3017520" cy="11887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1E24"/>
                </a:solidFill>
                <a:latin typeface="Calibri" pitchFamily="34" charset="0"/>
                <a:ea typeface="Calibri" pitchFamily="34" charset="-122"/>
                <a:cs typeface="Calibri" pitchFamily="34" charset="-120"/>
              </a:rPr>
              <a:t>Sensor ray: dinding, pemain, trap</a:t>
            </a:r>
            <a:endParaRPr lang="en-US" sz="1250" dirty="0"/>
          </a:p>
          <a:p>
            <a:pPr marL="177800" indent="-177800">
              <a:spcAft>
                <a:spcPts val="600"/>
              </a:spcAft>
              <a:buSzPct val="100000"/>
              <a:buChar char="•"/>
            </a:pPr>
            <a:r>
              <a:rPr lang="en-US" sz="1250" dirty="0">
                <a:solidFill>
                  <a:srgbClr val="1B1E24"/>
                </a:solidFill>
                <a:latin typeface="Calibri" pitchFamily="34" charset="0"/>
                <a:ea typeface="Calibri" pitchFamily="34" charset="-122"/>
                <a:cs typeface="Calibri" pitchFamily="34" charset="-120"/>
              </a:rPr>
              <a:t>Posisi relatif Hunter/Prey, orb, gerbang, Cage</a:t>
            </a:r>
            <a:endParaRPr lang="en-US" sz="1250" dirty="0"/>
          </a:p>
          <a:p>
            <a:pPr marL="177800" indent="-177800">
              <a:spcAft>
                <a:spcPts val="600"/>
              </a:spcAft>
              <a:buSzPct val="100000"/>
              <a:buChar char="•"/>
            </a:pPr>
            <a:r>
              <a:rPr lang="en-US" sz="1250" dirty="0">
                <a:solidFill>
                  <a:srgbClr val="1B1E24"/>
                </a:solidFill>
                <a:latin typeface="Calibri" pitchFamily="34" charset="0"/>
                <a:ea typeface="Calibri" pitchFamily="34" charset="-122"/>
                <a:cs typeface="Calibri" pitchFamily="34" charset="-120"/>
              </a:rPr>
              <a:t>Status gerbang &amp; cooldown ability</a:t>
            </a:r>
            <a:endParaRPr lang="en-US" sz="1250" dirty="0"/>
          </a:p>
        </p:txBody>
      </p:sp>
      <p:sp>
        <p:nvSpPr>
          <p:cNvPr id="11" name="Shape 9"/>
          <p:cNvSpPr/>
          <p:nvPr/>
        </p:nvSpPr>
        <p:spPr>
          <a:xfrm>
            <a:off x="457200" y="3154680"/>
            <a:ext cx="3291840" cy="1463040"/>
          </a:xfrm>
          <a:prstGeom prst="roundRect">
            <a:avLst>
              <a:gd name="adj" fmla="val 5000"/>
            </a:avLst>
          </a:prstGeom>
          <a:solidFill>
            <a:srgbClr val="F1F2F5"/>
          </a:solidFill>
          <a:ln w="12700">
            <a:solidFill>
              <a:srgbClr val="F1F2F5"/>
            </a:solidFill>
            <a:prstDash val="solid"/>
          </a:ln>
        </p:spPr>
      </p:sp>
      <p:sp>
        <p:nvSpPr>
          <p:cNvPr id="12" name="Text 10"/>
          <p:cNvSpPr txBox="1"/>
          <p:nvPr/>
        </p:nvSpPr>
        <p:spPr>
          <a:xfrm>
            <a:off x="640080" y="3246120"/>
            <a:ext cx="2926080" cy="320040"/>
          </a:xfrm>
          <a:prstGeom prst="rect">
            <a:avLst/>
          </a:prstGeom>
          <a:noFill/>
          <a:ln/>
        </p:spPr>
        <p:txBody>
          <a:bodyPr wrap="square" lIns="0" tIns="0" rIns="0" bIns="0" rtlCol="0" anchor="ctr"/>
          <a:lstStyle/>
          <a:p>
            <a:pPr indent="0" marL="0">
              <a:buNone/>
            </a:pPr>
            <a:r>
              <a:rPr lang="en-US" sz="1500" b="1" dirty="0">
                <a:solidFill>
                  <a:srgbClr val="1B1E24"/>
                </a:solidFill>
                <a:latin typeface="Calibri" pitchFamily="34" charset="0"/>
                <a:ea typeface="Calibri" pitchFamily="34" charset="-122"/>
                <a:cs typeface="Calibri" pitchFamily="34" charset="-120"/>
              </a:rPr>
              <a:t>Aksi</a:t>
            </a:r>
            <a:endParaRPr lang="en-US" sz="1500" dirty="0"/>
          </a:p>
        </p:txBody>
      </p:sp>
      <p:sp>
        <p:nvSpPr>
          <p:cNvPr id="13" name="Text 11"/>
          <p:cNvSpPr txBox="1"/>
          <p:nvPr/>
        </p:nvSpPr>
        <p:spPr>
          <a:xfrm>
            <a:off x="640080" y="3611880"/>
            <a:ext cx="3017520" cy="91440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1E24"/>
                </a:solidFill>
                <a:latin typeface="Calibri" pitchFamily="34" charset="0"/>
                <a:ea typeface="Calibri" pitchFamily="34" charset="-122"/>
                <a:cs typeface="Calibri" pitchFamily="34" charset="-120"/>
              </a:rPr>
              <a:t>Bergerak (x, z)</a:t>
            </a:r>
            <a:endParaRPr lang="en-US" sz="1250" dirty="0"/>
          </a:p>
          <a:p>
            <a:pPr marL="177800" indent="-177800">
              <a:spcAft>
                <a:spcPts val="600"/>
              </a:spcAft>
              <a:buSzPct val="100000"/>
              <a:buChar char="•"/>
            </a:pPr>
            <a:r>
              <a:rPr lang="en-US" sz="1250" dirty="0">
                <a:solidFill>
                  <a:srgbClr val="1B1E24"/>
                </a:solidFill>
                <a:latin typeface="Calibri" pitchFamily="34" charset="0"/>
                <a:ea typeface="Calibri" pitchFamily="34" charset="-122"/>
                <a:cs typeface="Calibri" pitchFamily="34" charset="-120"/>
              </a:rPr>
              <a:t>Dash</a:t>
            </a:r>
            <a:endParaRPr lang="en-US" sz="1250" dirty="0"/>
          </a:p>
          <a:p>
            <a:pPr marL="177800" indent="-177800">
              <a:spcAft>
                <a:spcPts val="600"/>
              </a:spcAft>
              <a:buSzPct val="100000"/>
              <a:buChar char="•"/>
            </a:pPr>
            <a:r>
              <a:rPr lang="en-US" sz="1250" dirty="0">
                <a:solidFill>
                  <a:srgbClr val="1B1E24"/>
                </a:solidFill>
                <a:latin typeface="Calibri" pitchFamily="34" charset="0"/>
                <a:ea typeface="Calibri" pitchFamily="34" charset="-122"/>
                <a:cs typeface="Calibri" pitchFamily="34" charset="-120"/>
              </a:rPr>
              <a:t>Pasang trap (khusus Prey)</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023360" y="1325880"/>
          <a:ext cx="4663440" cy="914400"/>
        </p:xfrm>
        <a:graphic>
          <a:graphicData uri="http://schemas.openxmlformats.org/drawingml/2006/table">
            <a:tbl>
              <a:tblPr/>
              <a:tblGrid>
                <a:gridCol w="2651760"/>
                <a:gridCol w="1005840"/>
                <a:gridCol w="1005840"/>
              </a:tblGrid>
              <a:tr h="41148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Kejadian</a:t>
                      </a:r>
                      <a:endParaRPr lang="en-US" sz="1250" dirty="0">
                        <a:latin typeface="Calibri" charset="0"/>
                        <a:ea typeface="Calibri" charset="0"/>
                        <a:cs typeface="Calibri" charset="0"/>
                      </a:endParaRPr>
                    </a:p>
                  </a:txBody>
                  <a:tcPr marL="91440" marR="91440" marT="27432" marB="27432" anchor="ctr">
                    <a:lnL w="9525" cap="flat" cmpd="sng" algn="ctr">
                      <a:solidFill>
                        <a:srgbClr val="D8DBE1"/>
                      </a:solidFill>
                      <a:prstDash val="solid"/>
                      <a:round/>
                      <a:headEnd type="none" w="med" len="med"/>
                      <a:tailEnd type="none" w="med" len="med"/>
                    </a:lnL>
                    <a:lnR w="9525" cap="flat" cmpd="sng" algn="ctr">
                      <a:solidFill>
                        <a:srgbClr val="D8DBE1"/>
                      </a:solidFill>
                      <a:prstDash val="solid"/>
                      <a:round/>
                      <a:headEnd type="none" w="med" len="med"/>
                      <a:tailEnd type="none" w="med" len="med"/>
                    </a:lnR>
                    <a:lnT w="9525" cap="flat" cmpd="sng" algn="ctr">
                      <a:solidFill>
                        <a:srgbClr val="D8DBE1"/>
                      </a:solidFill>
                      <a:prstDash val="solid"/>
                      <a:round/>
                      <a:headEnd type="none" w="med" len="med"/>
                      <a:tailEnd type="none" w="med" len="med"/>
                    </a:lnT>
                    <a:lnB w="9525" cap="flat" cmpd="sng" algn="ctr">
                      <a:solidFill>
                        <a:srgbClr val="D8DBE1"/>
                      </a:solidFill>
                      <a:prstDash val="solid"/>
                      <a:round/>
                      <a:headEnd type="none" w="med" len="med"/>
                      <a:tailEnd type="none" w="med" len="med"/>
                    </a:lnB>
                    <a:solidFill>
                      <a:srgbClr val="15171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Hunter</a:t>
                      </a:r>
                      <a:endParaRPr lang="en-US" sz="1250" dirty="0">
                        <a:latin typeface="Calibri" charset="0"/>
                        <a:ea typeface="Calibri" charset="0"/>
                        <a:cs typeface="Calibri" charset="0"/>
                      </a:endParaRPr>
                    </a:p>
                  </a:txBody>
                  <a:tcPr marL="91440" marR="91440" marT="27432" marB="27432" anchor="ctr">
                    <a:lnL w="9525" cap="flat" cmpd="sng" algn="ctr">
                      <a:solidFill>
                        <a:srgbClr val="D8DBE1"/>
                      </a:solidFill>
                      <a:prstDash val="solid"/>
                      <a:round/>
                      <a:headEnd type="none" w="med" len="med"/>
                      <a:tailEnd type="none" w="med" len="med"/>
                    </a:lnL>
                    <a:lnR w="9525" cap="flat" cmpd="sng" algn="ctr">
                      <a:solidFill>
                        <a:srgbClr val="D8DBE1"/>
                      </a:solidFill>
                      <a:prstDash val="solid"/>
                      <a:round/>
                      <a:headEnd type="none" w="med" len="med"/>
                      <a:tailEnd type="none" w="med" len="med"/>
                    </a:lnR>
                    <a:lnT w="9525" cap="flat" cmpd="sng" algn="ctr">
                      <a:solidFill>
                        <a:srgbClr val="D8DBE1"/>
                      </a:solidFill>
                      <a:prstDash val="solid"/>
                      <a:round/>
                      <a:headEnd type="none" w="med" len="med"/>
                      <a:tailEnd type="none" w="med" len="med"/>
                    </a:lnT>
                    <a:lnB w="9525" cap="flat" cmpd="sng" algn="ctr">
                      <a:solidFill>
                        <a:srgbClr val="D8DBE1"/>
                      </a:solidFill>
                      <a:prstDash val="solid"/>
                      <a:round/>
                      <a:headEnd type="none" w="med" len="med"/>
                      <a:tailEnd type="none" w="med" len="med"/>
                    </a:lnB>
                    <a:solidFill>
                      <a:srgbClr val="15171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Prey</a:t>
                      </a:r>
                      <a:endParaRPr lang="en-US" sz="1250" dirty="0">
                        <a:latin typeface="Calibri" charset="0"/>
                        <a:ea typeface="Calibri" charset="0"/>
                        <a:cs typeface="Calibri" charset="0"/>
                      </a:endParaRPr>
                    </a:p>
                  </a:txBody>
                  <a:tcPr marL="91440" marR="91440" marT="27432" marB="27432" anchor="ctr">
                    <a:lnL w="9525" cap="flat" cmpd="sng" algn="ctr">
                      <a:solidFill>
                        <a:srgbClr val="D8DBE1"/>
                      </a:solidFill>
                      <a:prstDash val="solid"/>
                      <a:round/>
                      <a:headEnd type="none" w="med" len="med"/>
                      <a:tailEnd type="none" w="med" len="med"/>
                    </a:lnL>
                    <a:lnR w="9525" cap="flat" cmpd="sng" algn="ctr">
                      <a:solidFill>
                        <a:srgbClr val="D8DBE1"/>
                      </a:solidFill>
                      <a:prstDash val="solid"/>
                      <a:round/>
                      <a:headEnd type="none" w="med" len="med"/>
                      <a:tailEnd type="none" w="med" len="med"/>
                    </a:lnR>
                    <a:lnT w="9525" cap="flat" cmpd="sng" algn="ctr">
                      <a:solidFill>
                        <a:srgbClr val="D8DBE1"/>
                      </a:solidFill>
                      <a:prstDash val="solid"/>
                      <a:round/>
                      <a:headEnd type="none" w="med" len="med"/>
                      <a:tailEnd type="none" w="med" len="med"/>
                    </a:lnT>
                    <a:lnB w="9525" cap="flat" cmpd="sng" algn="ctr">
                      <a:solidFill>
                        <a:srgbClr val="D8DBE1"/>
                      </a:solidFill>
                      <a:prstDash val="solid"/>
                      <a:round/>
                      <a:headEnd type="none" w="med" len="med"/>
                      <a:tailEnd type="none" w="med" len="med"/>
                    </a:lnB>
                    <a:solidFill>
                      <a:srgbClr val="15171C"/>
                    </a:solidFill>
                  </a:tcPr>
                </a:tc>
              </a:tr>
              <a:tr h="411480">
                <a:tc>
                  <a:txBody>
                    <a:bodyPr/>
                    <a:lstStyle/>
                    <a:p>
                      <a:pPr indent="0" marL="0">
                        <a:buNone/>
                      </a:pPr>
                      <a:r>
                        <a:rPr lang="en-US" sz="1250" dirty="0">
                          <a:solidFill>
                            <a:srgbClr val="1B1E24"/>
                          </a:solidFill>
                          <a:latin typeface="Calibri" pitchFamily="34" charset="0"/>
                          <a:ea typeface="Calibri" pitchFamily="34" charset="-122"/>
                          <a:cs typeface="Calibri" pitchFamily="34" charset="-120"/>
                        </a:rPr>
                        <a:t>Prey ambil orb</a:t>
                      </a:r>
                      <a:endParaRPr lang="en-US" sz="1250" dirty="0">
                        <a:latin typeface="Calibri" charset="0"/>
                        <a:ea typeface="Calibri" charset="0"/>
                        <a:cs typeface="Calibri" charset="0"/>
                      </a:endParaRPr>
                    </a:p>
                  </a:txBody>
                  <a:tcPr marL="91440" marR="91440" marT="27432" marB="27432" anchor="ctr">
                    <a:lnL w="9525" cap="flat" cmpd="sng" algn="ctr">
                      <a:solidFill>
                        <a:srgbClr val="D8DBE1"/>
                      </a:solidFill>
                      <a:prstDash val="solid"/>
                      <a:round/>
                      <a:headEnd type="none" w="med" len="med"/>
                      <a:tailEnd type="none" w="med" len="med"/>
                    </a:lnL>
                    <a:lnR w="9525" cap="flat" cmpd="sng" algn="ctr">
                      <a:solidFill>
                        <a:srgbClr val="D8DBE1"/>
                      </a:solidFill>
                      <a:prstDash val="solid"/>
                      <a:round/>
                      <a:headEnd type="none" w="med" len="med"/>
                      <a:tailEnd type="none" w="med" len="med"/>
                    </a:lnR>
                    <a:lnT w="9525" cap="flat" cmpd="sng" algn="ctr">
                      <a:solidFill>
                        <a:srgbClr val="D8DBE1"/>
                      </a:solidFill>
                      <a:prstDash val="solid"/>
                      <a:round/>
                      <a:headEnd type="none" w="med" len="med"/>
                      <a:tailEnd type="none" w="med" len="med"/>
                    </a:lnT>
                    <a:lnB w="9525" cap="flat" cmpd="sng" algn="ctr">
                      <a:solidFill>
                        <a:srgbClr val="D8DBE1"/>
                      </a:solidFill>
                      <a:prstDash val="solid"/>
                      <a:round/>
                      <a:headEnd type="none" w="med" len="med"/>
                      <a:tailEnd type="none" w="med" len="med"/>
                    </a:lnB>
                  </a:tcPr>
                </a:tc>
                <a:tc>
                  <a:txBody>
                    <a:bodyPr/>
                    <a:lstStyle/>
                    <a:p>
                      <a:pPr algn="ctr" indent="0" marL="0">
                        <a:buNone/>
                      </a:pPr>
                      <a:r>
                        <a:rPr lang="en-US" sz="1250" b="1" dirty="0">
                          <a:solidFill>
                            <a:srgbClr val="D5433B"/>
                          </a:solidFill>
                          <a:latin typeface="Calibri" pitchFamily="34" charset="0"/>
                          <a:ea typeface="Calibri" pitchFamily="34" charset="-122"/>
                          <a:cs typeface="Calibri" pitchFamily="34" charset="-120"/>
                        </a:rPr>
                        <a:t>−0,1</a:t>
                      </a:r>
                      <a:endParaRPr lang="en-US" sz="1250" dirty="0">
                        <a:latin typeface="Calibri" charset="0"/>
                        <a:ea typeface="Calibri" charset="0"/>
                        <a:cs typeface="Calibri" charset="0"/>
                      </a:endParaRPr>
                    </a:p>
                  </a:txBody>
                  <a:tcPr marL="91440" marR="91440" marT="27432" marB="27432" anchor="ctr">
                    <a:lnL w="9525" cap="flat" cmpd="sng" algn="ctr">
                      <a:solidFill>
                        <a:srgbClr val="D8DBE1"/>
                      </a:solidFill>
                      <a:prstDash val="solid"/>
                      <a:round/>
                      <a:headEnd type="none" w="med" len="med"/>
                      <a:tailEnd type="none" w="med" len="med"/>
                    </a:lnL>
                    <a:lnR w="9525" cap="flat" cmpd="sng" algn="ctr">
                      <a:solidFill>
                        <a:srgbClr val="D8DBE1"/>
                      </a:solidFill>
                      <a:prstDash val="solid"/>
                      <a:round/>
                      <a:headEnd type="none" w="med" len="med"/>
                      <a:tailEnd type="none" w="med" len="med"/>
                    </a:lnR>
                    <a:lnT w="9525" cap="flat" cmpd="sng" algn="ctr">
                      <a:solidFill>
                        <a:srgbClr val="D8DBE1"/>
                      </a:solidFill>
                      <a:prstDash val="solid"/>
                      <a:round/>
                      <a:headEnd type="none" w="med" len="med"/>
                      <a:tailEnd type="none" w="med" len="med"/>
                    </a:lnT>
                    <a:lnB w="9525" cap="flat" cmpd="sng" algn="ctr">
                      <a:solidFill>
                        <a:srgbClr val="D8DBE1"/>
                      </a:solidFill>
                      <a:prstDash val="solid"/>
                      <a:round/>
                      <a:headEnd type="none" w="med" len="med"/>
                      <a:tailEnd type="none" w="med" len="med"/>
                    </a:lnB>
                  </a:tcPr>
                </a:tc>
                <a:tc>
                  <a:txBody>
                    <a:bodyPr/>
                    <a:lstStyle/>
                    <a:p>
                      <a:pPr algn="ctr" indent="0" marL="0">
                        <a:buNone/>
                      </a:pPr>
                      <a:r>
                        <a:rPr lang="en-US" sz="1250" b="1" dirty="0">
                          <a:solidFill>
                            <a:srgbClr val="1F9D6B"/>
                          </a:solidFill>
                          <a:latin typeface="Calibri" pitchFamily="34" charset="0"/>
                          <a:ea typeface="Calibri" pitchFamily="34" charset="-122"/>
                          <a:cs typeface="Calibri" pitchFamily="34" charset="-120"/>
                        </a:rPr>
                        <a:t>+0,3</a:t>
                      </a:r>
                      <a:endParaRPr lang="en-US" sz="1250" dirty="0">
                        <a:latin typeface="Calibri" charset="0"/>
                        <a:ea typeface="Calibri" charset="0"/>
                        <a:cs typeface="Calibri" charset="0"/>
                      </a:endParaRPr>
                    </a:p>
                  </a:txBody>
                  <a:tcPr marL="91440" marR="91440" marT="27432" marB="27432" anchor="ctr">
                    <a:lnL w="9525" cap="flat" cmpd="sng" algn="ctr">
                      <a:solidFill>
                        <a:srgbClr val="D8DBE1"/>
                      </a:solidFill>
                      <a:prstDash val="solid"/>
                      <a:round/>
                      <a:headEnd type="none" w="med" len="med"/>
                      <a:tailEnd type="none" w="med" len="med"/>
                    </a:lnL>
                    <a:lnR w="9525" cap="flat" cmpd="sng" algn="ctr">
                      <a:solidFill>
                        <a:srgbClr val="D8DBE1"/>
                      </a:solidFill>
                      <a:prstDash val="solid"/>
                      <a:round/>
                      <a:headEnd type="none" w="med" len="med"/>
                      <a:tailEnd type="none" w="med" len="med"/>
                    </a:lnR>
                    <a:lnT w="9525" cap="flat" cmpd="sng" algn="ctr">
                      <a:solidFill>
                        <a:srgbClr val="D8DBE1"/>
                      </a:solidFill>
                      <a:prstDash val="solid"/>
                      <a:round/>
                      <a:headEnd type="none" w="med" len="med"/>
                      <a:tailEnd type="none" w="med" len="med"/>
                    </a:lnT>
                    <a:lnB w="9525" cap="flat" cmpd="sng" algn="ctr">
                      <a:solidFill>
                        <a:srgbClr val="D8DBE1"/>
                      </a:solidFill>
                      <a:prstDash val="solid"/>
                      <a:round/>
                      <a:headEnd type="none" w="med" len="med"/>
                      <a:tailEnd type="none" w="med" len="med"/>
                    </a:lnB>
                  </a:tcPr>
                </a:tc>
              </a:tr>
              <a:tr h="411480">
                <a:tc>
                  <a:txBody>
                    <a:bodyPr/>
                    <a:lstStyle/>
                    <a:p>
                      <a:pPr indent="0" marL="0">
                        <a:buNone/>
                      </a:pPr>
                      <a:r>
                        <a:rPr lang="en-US" sz="1250" dirty="0">
                          <a:solidFill>
                            <a:srgbClr val="1B1E24"/>
                          </a:solidFill>
                          <a:latin typeface="Calibri" pitchFamily="34" charset="0"/>
                          <a:ea typeface="Calibri" pitchFamily="34" charset="-122"/>
                          <a:cs typeface="Calibri" pitchFamily="34" charset="-120"/>
                        </a:rPr>
                        <a:t>Hunter tag Prey</a:t>
                      </a:r>
                      <a:endParaRPr lang="en-US" sz="1250" dirty="0">
                        <a:latin typeface="Calibri" charset="0"/>
                        <a:ea typeface="Calibri" charset="0"/>
                        <a:cs typeface="Calibri" charset="0"/>
                      </a:endParaRPr>
                    </a:p>
                  </a:txBody>
                  <a:tcPr marL="91440" marR="91440" marT="27432" marB="27432" anchor="ctr">
                    <a:lnL w="9525" cap="flat" cmpd="sng" algn="ctr">
                      <a:solidFill>
                        <a:srgbClr val="D8DBE1"/>
                      </a:solidFill>
                      <a:prstDash val="solid"/>
                      <a:round/>
                      <a:headEnd type="none" w="med" len="med"/>
                      <a:tailEnd type="none" w="med" len="med"/>
                    </a:lnL>
                    <a:lnR w="9525" cap="flat" cmpd="sng" algn="ctr">
                      <a:solidFill>
                        <a:srgbClr val="D8DBE1"/>
                      </a:solidFill>
                      <a:prstDash val="solid"/>
                      <a:round/>
                      <a:headEnd type="none" w="med" len="med"/>
                      <a:tailEnd type="none" w="med" len="med"/>
                    </a:lnR>
                    <a:lnT w="9525" cap="flat" cmpd="sng" algn="ctr">
                      <a:solidFill>
                        <a:srgbClr val="D8DBE1"/>
                      </a:solidFill>
                      <a:prstDash val="solid"/>
                      <a:round/>
                      <a:headEnd type="none" w="med" len="med"/>
                      <a:tailEnd type="none" w="med" len="med"/>
                    </a:lnT>
                    <a:lnB w="9525" cap="flat" cmpd="sng" algn="ctr">
                      <a:solidFill>
                        <a:srgbClr val="D8DBE1"/>
                      </a:solidFill>
                      <a:prstDash val="solid"/>
                      <a:round/>
                      <a:headEnd type="none" w="med" len="med"/>
                      <a:tailEnd type="none" w="med" len="med"/>
                    </a:lnB>
                  </a:tcPr>
                </a:tc>
                <a:tc>
                  <a:txBody>
                    <a:bodyPr/>
                    <a:lstStyle/>
                    <a:p>
                      <a:pPr algn="ctr" indent="0" marL="0">
                        <a:buNone/>
                      </a:pPr>
                      <a:r>
                        <a:rPr lang="en-US" sz="1250" b="1" dirty="0">
                          <a:solidFill>
                            <a:srgbClr val="1F9D6B"/>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91440" marR="91440" marT="27432" marB="27432" anchor="ctr">
                    <a:lnL w="9525" cap="flat" cmpd="sng" algn="ctr">
                      <a:solidFill>
                        <a:srgbClr val="D8DBE1"/>
                      </a:solidFill>
                      <a:prstDash val="solid"/>
                      <a:round/>
                      <a:headEnd type="none" w="med" len="med"/>
                      <a:tailEnd type="none" w="med" len="med"/>
                    </a:lnL>
                    <a:lnR w="9525" cap="flat" cmpd="sng" algn="ctr">
                      <a:solidFill>
                        <a:srgbClr val="D8DBE1"/>
                      </a:solidFill>
                      <a:prstDash val="solid"/>
                      <a:round/>
                      <a:headEnd type="none" w="med" len="med"/>
                      <a:tailEnd type="none" w="med" len="med"/>
                    </a:lnR>
                    <a:lnT w="9525" cap="flat" cmpd="sng" algn="ctr">
                      <a:solidFill>
                        <a:srgbClr val="D8DBE1"/>
                      </a:solidFill>
                      <a:prstDash val="solid"/>
                      <a:round/>
                      <a:headEnd type="none" w="med" len="med"/>
                      <a:tailEnd type="none" w="med" len="med"/>
                    </a:lnT>
                    <a:lnB w="9525" cap="flat" cmpd="sng" algn="ctr">
                      <a:solidFill>
                        <a:srgbClr val="D8DBE1"/>
                      </a:solidFill>
                      <a:prstDash val="solid"/>
                      <a:round/>
                      <a:headEnd type="none" w="med" len="med"/>
                      <a:tailEnd type="none" w="med" len="med"/>
                    </a:lnB>
                  </a:tcPr>
                </a:tc>
                <a:tc>
                  <a:txBody>
                    <a:bodyPr/>
                    <a:lstStyle/>
                    <a:p>
                      <a:pPr algn="ctr" indent="0" marL="0">
                        <a:buNone/>
                      </a:pPr>
                      <a:r>
                        <a:rPr lang="en-US" sz="1250" b="1" dirty="0">
                          <a:solidFill>
                            <a:srgbClr val="D5433B"/>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91440" marR="91440" marT="27432" marB="27432" anchor="ctr">
                    <a:lnL w="9525" cap="flat" cmpd="sng" algn="ctr">
                      <a:solidFill>
                        <a:srgbClr val="D8DBE1"/>
                      </a:solidFill>
                      <a:prstDash val="solid"/>
                      <a:round/>
                      <a:headEnd type="none" w="med" len="med"/>
                      <a:tailEnd type="none" w="med" len="med"/>
                    </a:lnL>
                    <a:lnR w="9525" cap="flat" cmpd="sng" algn="ctr">
                      <a:solidFill>
                        <a:srgbClr val="D8DBE1"/>
                      </a:solidFill>
                      <a:prstDash val="solid"/>
                      <a:round/>
                      <a:headEnd type="none" w="med" len="med"/>
                      <a:tailEnd type="none" w="med" len="med"/>
                    </a:lnR>
                    <a:lnT w="9525" cap="flat" cmpd="sng" algn="ctr">
                      <a:solidFill>
                        <a:srgbClr val="D8DBE1"/>
                      </a:solidFill>
                      <a:prstDash val="solid"/>
                      <a:round/>
                      <a:headEnd type="none" w="med" len="med"/>
                      <a:tailEnd type="none" w="med" len="med"/>
                    </a:lnT>
                    <a:lnB w="9525" cap="flat" cmpd="sng" algn="ctr">
                      <a:solidFill>
                        <a:srgbClr val="D8DBE1"/>
                      </a:solidFill>
                      <a:prstDash val="solid"/>
                      <a:round/>
                      <a:headEnd type="none" w="med" len="med"/>
                      <a:tailEnd type="none" w="med" len="med"/>
                    </a:lnB>
                  </a:tcPr>
                </a:tc>
              </a:tr>
              <a:tr h="411480">
                <a:tc>
                  <a:txBody>
                    <a:bodyPr/>
                    <a:lstStyle/>
                    <a:p>
                      <a:pPr indent="0" marL="0">
                        <a:buNone/>
                      </a:pPr>
                      <a:r>
                        <a:rPr lang="en-US" sz="1250" dirty="0">
                          <a:solidFill>
                            <a:srgbClr val="1B1E24"/>
                          </a:solidFill>
                          <a:latin typeface="Calibri" pitchFamily="34" charset="0"/>
                          <a:ea typeface="Calibri" pitchFamily="34" charset="-122"/>
                          <a:cs typeface="Calibri" pitchFamily="34" charset="-120"/>
                        </a:rPr>
                        <a:t>Prey selamatkan teman</a:t>
                      </a:r>
                      <a:endParaRPr lang="en-US" sz="1250" dirty="0">
                        <a:latin typeface="Calibri" charset="0"/>
                        <a:ea typeface="Calibri" charset="0"/>
                        <a:cs typeface="Calibri" charset="0"/>
                      </a:endParaRPr>
                    </a:p>
                  </a:txBody>
                  <a:tcPr marL="91440" marR="91440" marT="27432" marB="27432" anchor="ctr">
                    <a:lnL w="9525" cap="flat" cmpd="sng" algn="ctr">
                      <a:solidFill>
                        <a:srgbClr val="D8DBE1"/>
                      </a:solidFill>
                      <a:prstDash val="solid"/>
                      <a:round/>
                      <a:headEnd type="none" w="med" len="med"/>
                      <a:tailEnd type="none" w="med" len="med"/>
                    </a:lnL>
                    <a:lnR w="9525" cap="flat" cmpd="sng" algn="ctr">
                      <a:solidFill>
                        <a:srgbClr val="D8DBE1"/>
                      </a:solidFill>
                      <a:prstDash val="solid"/>
                      <a:round/>
                      <a:headEnd type="none" w="med" len="med"/>
                      <a:tailEnd type="none" w="med" len="med"/>
                    </a:lnR>
                    <a:lnT w="9525" cap="flat" cmpd="sng" algn="ctr">
                      <a:solidFill>
                        <a:srgbClr val="D8DBE1"/>
                      </a:solidFill>
                      <a:prstDash val="solid"/>
                      <a:round/>
                      <a:headEnd type="none" w="med" len="med"/>
                      <a:tailEnd type="none" w="med" len="med"/>
                    </a:lnT>
                    <a:lnB w="9525" cap="flat" cmpd="sng" algn="ctr">
                      <a:solidFill>
                        <a:srgbClr val="D8DBE1"/>
                      </a:solidFill>
                      <a:prstDash val="solid"/>
                      <a:round/>
                      <a:headEnd type="none" w="med" len="med"/>
                      <a:tailEnd type="none" w="med" len="med"/>
                    </a:lnB>
                  </a:tcPr>
                </a:tc>
                <a:tc>
                  <a:txBody>
                    <a:bodyPr/>
                    <a:lstStyle/>
                    <a:p>
                      <a:pPr algn="ctr" indent="0" marL="0">
                        <a:buNone/>
                      </a:pPr>
                      <a:r>
                        <a:rPr lang="en-US" sz="1250" b="1" dirty="0">
                          <a:solidFill>
                            <a:srgbClr val="D5433B"/>
                          </a:solidFill>
                          <a:latin typeface="Calibri" pitchFamily="34" charset="0"/>
                          <a:ea typeface="Calibri" pitchFamily="34" charset="-122"/>
                          <a:cs typeface="Calibri" pitchFamily="34" charset="-120"/>
                        </a:rPr>
                        <a:t>−0,5</a:t>
                      </a:r>
                      <a:endParaRPr lang="en-US" sz="1250" dirty="0">
                        <a:latin typeface="Calibri" charset="0"/>
                        <a:ea typeface="Calibri" charset="0"/>
                        <a:cs typeface="Calibri" charset="0"/>
                      </a:endParaRPr>
                    </a:p>
                  </a:txBody>
                  <a:tcPr marL="91440" marR="91440" marT="27432" marB="27432" anchor="ctr">
                    <a:lnL w="9525" cap="flat" cmpd="sng" algn="ctr">
                      <a:solidFill>
                        <a:srgbClr val="D8DBE1"/>
                      </a:solidFill>
                      <a:prstDash val="solid"/>
                      <a:round/>
                      <a:headEnd type="none" w="med" len="med"/>
                      <a:tailEnd type="none" w="med" len="med"/>
                    </a:lnL>
                    <a:lnR w="9525" cap="flat" cmpd="sng" algn="ctr">
                      <a:solidFill>
                        <a:srgbClr val="D8DBE1"/>
                      </a:solidFill>
                      <a:prstDash val="solid"/>
                      <a:round/>
                      <a:headEnd type="none" w="med" len="med"/>
                      <a:tailEnd type="none" w="med" len="med"/>
                    </a:lnR>
                    <a:lnT w="9525" cap="flat" cmpd="sng" algn="ctr">
                      <a:solidFill>
                        <a:srgbClr val="D8DBE1"/>
                      </a:solidFill>
                      <a:prstDash val="solid"/>
                      <a:round/>
                      <a:headEnd type="none" w="med" len="med"/>
                      <a:tailEnd type="none" w="med" len="med"/>
                    </a:lnT>
                    <a:lnB w="9525" cap="flat" cmpd="sng" algn="ctr">
                      <a:solidFill>
                        <a:srgbClr val="D8DBE1"/>
                      </a:solidFill>
                      <a:prstDash val="solid"/>
                      <a:round/>
                      <a:headEnd type="none" w="med" len="med"/>
                      <a:tailEnd type="none" w="med" len="med"/>
                    </a:lnB>
                  </a:tcPr>
                </a:tc>
                <a:tc>
                  <a:txBody>
                    <a:bodyPr/>
                    <a:lstStyle/>
                    <a:p>
                      <a:pPr algn="ctr" indent="0" marL="0">
                        <a:buNone/>
                      </a:pPr>
                      <a:r>
                        <a:rPr lang="en-US" sz="1250" b="1" dirty="0">
                          <a:solidFill>
                            <a:srgbClr val="1F9D6B"/>
                          </a:solidFill>
                          <a:latin typeface="Calibri" pitchFamily="34" charset="0"/>
                          <a:ea typeface="Calibri" pitchFamily="34" charset="-122"/>
                          <a:cs typeface="Calibri" pitchFamily="34" charset="-120"/>
                        </a:rPr>
                        <a:t>+0,5</a:t>
                      </a:r>
                      <a:endParaRPr lang="en-US" sz="1250" dirty="0">
                        <a:latin typeface="Calibri" charset="0"/>
                        <a:ea typeface="Calibri" charset="0"/>
                        <a:cs typeface="Calibri" charset="0"/>
                      </a:endParaRPr>
                    </a:p>
                  </a:txBody>
                  <a:tcPr marL="91440" marR="91440" marT="27432" marB="27432" anchor="ctr">
                    <a:lnL w="9525" cap="flat" cmpd="sng" algn="ctr">
                      <a:solidFill>
                        <a:srgbClr val="D8DBE1"/>
                      </a:solidFill>
                      <a:prstDash val="solid"/>
                      <a:round/>
                      <a:headEnd type="none" w="med" len="med"/>
                      <a:tailEnd type="none" w="med" len="med"/>
                    </a:lnL>
                    <a:lnR w="9525" cap="flat" cmpd="sng" algn="ctr">
                      <a:solidFill>
                        <a:srgbClr val="D8DBE1"/>
                      </a:solidFill>
                      <a:prstDash val="solid"/>
                      <a:round/>
                      <a:headEnd type="none" w="med" len="med"/>
                      <a:tailEnd type="none" w="med" len="med"/>
                    </a:lnR>
                    <a:lnT w="9525" cap="flat" cmpd="sng" algn="ctr">
                      <a:solidFill>
                        <a:srgbClr val="D8DBE1"/>
                      </a:solidFill>
                      <a:prstDash val="solid"/>
                      <a:round/>
                      <a:headEnd type="none" w="med" len="med"/>
                      <a:tailEnd type="none" w="med" len="med"/>
                    </a:lnT>
                    <a:lnB w="9525" cap="flat" cmpd="sng" algn="ctr">
                      <a:solidFill>
                        <a:srgbClr val="D8DBE1"/>
                      </a:solidFill>
                      <a:prstDash val="solid"/>
                      <a:round/>
                      <a:headEnd type="none" w="med" len="med"/>
                      <a:tailEnd type="none" w="med" len="med"/>
                    </a:lnB>
                  </a:tcPr>
                </a:tc>
              </a:tr>
              <a:tr h="411480">
                <a:tc>
                  <a:txBody>
                    <a:bodyPr/>
                    <a:lstStyle/>
                    <a:p>
                      <a:pPr indent="0" marL="0">
                        <a:buNone/>
                      </a:pPr>
                      <a:r>
                        <a:rPr lang="en-US" sz="1250" dirty="0">
                          <a:solidFill>
                            <a:srgbClr val="1B1E24"/>
                          </a:solidFill>
                          <a:latin typeface="Calibri" pitchFamily="34" charset="0"/>
                          <a:ea typeface="Calibri" pitchFamily="34" charset="-122"/>
                          <a:cs typeface="Calibri" pitchFamily="34" charset="-120"/>
                        </a:rPr>
                        <a:t>Hunter kena trap</a:t>
                      </a:r>
                      <a:endParaRPr lang="en-US" sz="1250" dirty="0">
                        <a:latin typeface="Calibri" charset="0"/>
                        <a:ea typeface="Calibri" charset="0"/>
                        <a:cs typeface="Calibri" charset="0"/>
                      </a:endParaRPr>
                    </a:p>
                  </a:txBody>
                  <a:tcPr marL="91440" marR="91440" marT="27432" marB="27432" anchor="ctr">
                    <a:lnL w="9525" cap="flat" cmpd="sng" algn="ctr">
                      <a:solidFill>
                        <a:srgbClr val="D8DBE1"/>
                      </a:solidFill>
                      <a:prstDash val="solid"/>
                      <a:round/>
                      <a:headEnd type="none" w="med" len="med"/>
                      <a:tailEnd type="none" w="med" len="med"/>
                    </a:lnL>
                    <a:lnR w="9525" cap="flat" cmpd="sng" algn="ctr">
                      <a:solidFill>
                        <a:srgbClr val="D8DBE1"/>
                      </a:solidFill>
                      <a:prstDash val="solid"/>
                      <a:round/>
                      <a:headEnd type="none" w="med" len="med"/>
                      <a:tailEnd type="none" w="med" len="med"/>
                    </a:lnR>
                    <a:lnT w="9525" cap="flat" cmpd="sng" algn="ctr">
                      <a:solidFill>
                        <a:srgbClr val="D8DBE1"/>
                      </a:solidFill>
                      <a:prstDash val="solid"/>
                      <a:round/>
                      <a:headEnd type="none" w="med" len="med"/>
                      <a:tailEnd type="none" w="med" len="med"/>
                    </a:lnT>
                    <a:lnB w="9525" cap="flat" cmpd="sng" algn="ctr">
                      <a:solidFill>
                        <a:srgbClr val="D8DBE1"/>
                      </a:solidFill>
                      <a:prstDash val="solid"/>
                      <a:round/>
                      <a:headEnd type="none" w="med" len="med"/>
                      <a:tailEnd type="none" w="med" len="med"/>
                    </a:lnB>
                  </a:tcPr>
                </a:tc>
                <a:tc>
                  <a:txBody>
                    <a:bodyPr/>
                    <a:lstStyle/>
                    <a:p>
                      <a:pPr algn="ctr" indent="0" marL="0">
                        <a:buNone/>
                      </a:pPr>
                      <a:r>
                        <a:rPr lang="en-US" sz="1250" b="1" dirty="0">
                          <a:solidFill>
                            <a:srgbClr val="D5433B"/>
                          </a:solidFill>
                          <a:latin typeface="Calibri" pitchFamily="34" charset="0"/>
                          <a:ea typeface="Calibri" pitchFamily="34" charset="-122"/>
                          <a:cs typeface="Calibri" pitchFamily="34" charset="-120"/>
                        </a:rPr>
                        <a:t>−0,3</a:t>
                      </a:r>
                      <a:endParaRPr lang="en-US" sz="1250" dirty="0">
                        <a:latin typeface="Calibri" charset="0"/>
                        <a:ea typeface="Calibri" charset="0"/>
                        <a:cs typeface="Calibri" charset="0"/>
                      </a:endParaRPr>
                    </a:p>
                  </a:txBody>
                  <a:tcPr marL="91440" marR="91440" marT="27432" marB="27432" anchor="ctr">
                    <a:lnL w="9525" cap="flat" cmpd="sng" algn="ctr">
                      <a:solidFill>
                        <a:srgbClr val="D8DBE1"/>
                      </a:solidFill>
                      <a:prstDash val="solid"/>
                      <a:round/>
                      <a:headEnd type="none" w="med" len="med"/>
                      <a:tailEnd type="none" w="med" len="med"/>
                    </a:lnL>
                    <a:lnR w="9525" cap="flat" cmpd="sng" algn="ctr">
                      <a:solidFill>
                        <a:srgbClr val="D8DBE1"/>
                      </a:solidFill>
                      <a:prstDash val="solid"/>
                      <a:round/>
                      <a:headEnd type="none" w="med" len="med"/>
                      <a:tailEnd type="none" w="med" len="med"/>
                    </a:lnR>
                    <a:lnT w="9525" cap="flat" cmpd="sng" algn="ctr">
                      <a:solidFill>
                        <a:srgbClr val="D8DBE1"/>
                      </a:solidFill>
                      <a:prstDash val="solid"/>
                      <a:round/>
                      <a:headEnd type="none" w="med" len="med"/>
                      <a:tailEnd type="none" w="med" len="med"/>
                    </a:lnT>
                    <a:lnB w="9525" cap="flat" cmpd="sng" algn="ctr">
                      <a:solidFill>
                        <a:srgbClr val="D8DBE1"/>
                      </a:solidFill>
                      <a:prstDash val="solid"/>
                      <a:round/>
                      <a:headEnd type="none" w="med" len="med"/>
                      <a:tailEnd type="none" w="med" len="med"/>
                    </a:lnB>
                  </a:tcPr>
                </a:tc>
                <a:tc>
                  <a:txBody>
                    <a:bodyPr/>
                    <a:lstStyle/>
                    <a:p>
                      <a:pPr algn="ctr" indent="0" marL="0">
                        <a:buNone/>
                      </a:pPr>
                      <a:r>
                        <a:rPr lang="en-US" sz="1250" b="1" dirty="0">
                          <a:solidFill>
                            <a:srgbClr val="1F9D6B"/>
                          </a:solidFill>
                          <a:latin typeface="Calibri" pitchFamily="34" charset="0"/>
                          <a:ea typeface="Calibri" pitchFamily="34" charset="-122"/>
                          <a:cs typeface="Calibri" pitchFamily="34" charset="-120"/>
                        </a:rPr>
                        <a:t>+0,3</a:t>
                      </a:r>
                      <a:endParaRPr lang="en-US" sz="1250" dirty="0">
                        <a:latin typeface="Calibri" charset="0"/>
                        <a:ea typeface="Calibri" charset="0"/>
                        <a:cs typeface="Calibri" charset="0"/>
                      </a:endParaRPr>
                    </a:p>
                  </a:txBody>
                  <a:tcPr marL="91440" marR="91440" marT="27432" marB="27432" anchor="ctr">
                    <a:lnL w="9525" cap="flat" cmpd="sng" algn="ctr">
                      <a:solidFill>
                        <a:srgbClr val="D8DBE1"/>
                      </a:solidFill>
                      <a:prstDash val="solid"/>
                      <a:round/>
                      <a:headEnd type="none" w="med" len="med"/>
                      <a:tailEnd type="none" w="med" len="med"/>
                    </a:lnL>
                    <a:lnR w="9525" cap="flat" cmpd="sng" algn="ctr">
                      <a:solidFill>
                        <a:srgbClr val="D8DBE1"/>
                      </a:solidFill>
                      <a:prstDash val="solid"/>
                      <a:round/>
                      <a:headEnd type="none" w="med" len="med"/>
                      <a:tailEnd type="none" w="med" len="med"/>
                    </a:lnR>
                    <a:lnT w="9525" cap="flat" cmpd="sng" algn="ctr">
                      <a:solidFill>
                        <a:srgbClr val="D8DBE1"/>
                      </a:solidFill>
                      <a:prstDash val="solid"/>
                      <a:round/>
                      <a:headEnd type="none" w="med" len="med"/>
                      <a:tailEnd type="none" w="med" len="med"/>
                    </a:lnT>
                    <a:lnB w="9525" cap="flat" cmpd="sng" algn="ctr">
                      <a:solidFill>
                        <a:srgbClr val="D8DBE1"/>
                      </a:solidFill>
                      <a:prstDash val="solid"/>
                      <a:round/>
                      <a:headEnd type="none" w="med" len="med"/>
                      <a:tailEnd type="none" w="med" len="med"/>
                    </a:lnB>
                  </a:tcPr>
                </a:tc>
              </a:tr>
              <a:tr h="411480">
                <a:tc>
                  <a:txBody>
                    <a:bodyPr/>
                    <a:lstStyle/>
                    <a:p>
                      <a:pPr indent="0" marL="0">
                        <a:buNone/>
                      </a:pPr>
                      <a:r>
                        <a:rPr lang="en-US" sz="1250" dirty="0">
                          <a:solidFill>
                            <a:srgbClr val="1B1E24"/>
                          </a:solidFill>
                          <a:latin typeface="Calibri" pitchFamily="34" charset="0"/>
                          <a:ea typeface="Calibri" pitchFamily="34" charset="-122"/>
                          <a:cs typeface="Calibri" pitchFamily="34" charset="-120"/>
                        </a:rPr>
                        <a:t>Prey kabur lewat gerbang</a:t>
                      </a:r>
                      <a:endParaRPr lang="en-US" sz="1250" dirty="0">
                        <a:latin typeface="Calibri" charset="0"/>
                        <a:ea typeface="Calibri" charset="0"/>
                        <a:cs typeface="Calibri" charset="0"/>
                      </a:endParaRPr>
                    </a:p>
                  </a:txBody>
                  <a:tcPr marL="91440" marR="91440" marT="27432" marB="27432" anchor="ctr">
                    <a:lnL w="9525" cap="flat" cmpd="sng" algn="ctr">
                      <a:solidFill>
                        <a:srgbClr val="D8DBE1"/>
                      </a:solidFill>
                      <a:prstDash val="solid"/>
                      <a:round/>
                      <a:headEnd type="none" w="med" len="med"/>
                      <a:tailEnd type="none" w="med" len="med"/>
                    </a:lnL>
                    <a:lnR w="9525" cap="flat" cmpd="sng" algn="ctr">
                      <a:solidFill>
                        <a:srgbClr val="D8DBE1"/>
                      </a:solidFill>
                      <a:prstDash val="solid"/>
                      <a:round/>
                      <a:headEnd type="none" w="med" len="med"/>
                      <a:tailEnd type="none" w="med" len="med"/>
                    </a:lnR>
                    <a:lnT w="9525" cap="flat" cmpd="sng" algn="ctr">
                      <a:solidFill>
                        <a:srgbClr val="D8DBE1"/>
                      </a:solidFill>
                      <a:prstDash val="solid"/>
                      <a:round/>
                      <a:headEnd type="none" w="med" len="med"/>
                      <a:tailEnd type="none" w="med" len="med"/>
                    </a:lnT>
                    <a:lnB w="9525" cap="flat" cmpd="sng" algn="ctr">
                      <a:solidFill>
                        <a:srgbClr val="D8DBE1"/>
                      </a:solidFill>
                      <a:prstDash val="solid"/>
                      <a:round/>
                      <a:headEnd type="none" w="med" len="med"/>
                      <a:tailEnd type="none" w="med" len="med"/>
                    </a:lnB>
                  </a:tcPr>
                </a:tc>
                <a:tc>
                  <a:txBody>
                    <a:bodyPr/>
                    <a:lstStyle/>
                    <a:p>
                      <a:pPr algn="ctr" indent="0" marL="0">
                        <a:buNone/>
                      </a:pPr>
                      <a:r>
                        <a:rPr lang="en-US" sz="1250" b="1" dirty="0">
                          <a:solidFill>
                            <a:srgbClr val="D5433B"/>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91440" marR="91440" marT="27432" marB="27432" anchor="ctr">
                    <a:lnL w="9525" cap="flat" cmpd="sng" algn="ctr">
                      <a:solidFill>
                        <a:srgbClr val="D8DBE1"/>
                      </a:solidFill>
                      <a:prstDash val="solid"/>
                      <a:round/>
                      <a:headEnd type="none" w="med" len="med"/>
                      <a:tailEnd type="none" w="med" len="med"/>
                    </a:lnL>
                    <a:lnR w="9525" cap="flat" cmpd="sng" algn="ctr">
                      <a:solidFill>
                        <a:srgbClr val="D8DBE1"/>
                      </a:solidFill>
                      <a:prstDash val="solid"/>
                      <a:round/>
                      <a:headEnd type="none" w="med" len="med"/>
                      <a:tailEnd type="none" w="med" len="med"/>
                    </a:lnR>
                    <a:lnT w="9525" cap="flat" cmpd="sng" algn="ctr">
                      <a:solidFill>
                        <a:srgbClr val="D8DBE1"/>
                      </a:solidFill>
                      <a:prstDash val="solid"/>
                      <a:round/>
                      <a:headEnd type="none" w="med" len="med"/>
                      <a:tailEnd type="none" w="med" len="med"/>
                    </a:lnT>
                    <a:lnB w="9525" cap="flat" cmpd="sng" algn="ctr">
                      <a:solidFill>
                        <a:srgbClr val="D8DBE1"/>
                      </a:solidFill>
                      <a:prstDash val="solid"/>
                      <a:round/>
                      <a:headEnd type="none" w="med" len="med"/>
                      <a:tailEnd type="none" w="med" len="med"/>
                    </a:lnB>
                  </a:tcPr>
                </a:tc>
                <a:tc>
                  <a:txBody>
                    <a:bodyPr/>
                    <a:lstStyle/>
                    <a:p>
                      <a:pPr algn="ctr" indent="0" marL="0">
                        <a:buNone/>
                      </a:pPr>
                      <a:r>
                        <a:rPr lang="en-US" sz="1250" b="1" dirty="0">
                          <a:solidFill>
                            <a:srgbClr val="1F9D6B"/>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91440" marR="91440" marT="27432" marB="27432" anchor="ctr">
                    <a:lnL w="9525" cap="flat" cmpd="sng" algn="ctr">
                      <a:solidFill>
                        <a:srgbClr val="D8DBE1"/>
                      </a:solidFill>
                      <a:prstDash val="solid"/>
                      <a:round/>
                      <a:headEnd type="none" w="med" len="med"/>
                      <a:tailEnd type="none" w="med" len="med"/>
                    </a:lnL>
                    <a:lnR w="9525" cap="flat" cmpd="sng" algn="ctr">
                      <a:solidFill>
                        <a:srgbClr val="D8DBE1"/>
                      </a:solidFill>
                      <a:prstDash val="solid"/>
                      <a:round/>
                      <a:headEnd type="none" w="med" len="med"/>
                      <a:tailEnd type="none" w="med" len="med"/>
                    </a:lnR>
                    <a:lnT w="9525" cap="flat" cmpd="sng" algn="ctr">
                      <a:solidFill>
                        <a:srgbClr val="D8DBE1"/>
                      </a:solidFill>
                      <a:prstDash val="solid"/>
                      <a:round/>
                      <a:headEnd type="none" w="med" len="med"/>
                      <a:tailEnd type="none" w="med" len="med"/>
                    </a:lnT>
                    <a:lnB w="9525" cap="flat" cmpd="sng" algn="ctr">
                      <a:solidFill>
                        <a:srgbClr val="D8DBE1"/>
                      </a:solidFill>
                      <a:prstDash val="solid"/>
                      <a:round/>
                      <a:headEnd type="none" w="med" len="med"/>
                      <a:tailEnd type="none" w="med" len="med"/>
                    </a:lnB>
                  </a:tcPr>
                </a:tc>
              </a:tr>
              <a:tr h="411480">
                <a:tc>
                  <a:txBody>
                    <a:bodyPr/>
                    <a:lstStyle/>
                    <a:p>
                      <a:pPr indent="0" marL="0">
                        <a:buNone/>
                      </a:pPr>
                      <a:r>
                        <a:rPr lang="en-US" sz="1250" dirty="0">
                          <a:solidFill>
                            <a:srgbClr val="1B1E24"/>
                          </a:solidFill>
                          <a:latin typeface="Calibri" pitchFamily="34" charset="0"/>
                          <a:ea typeface="Calibri" pitchFamily="34" charset="-122"/>
                          <a:cs typeface="Calibri" pitchFamily="34" charset="-120"/>
                        </a:rPr>
                        <a:t>Hunter jadi Exhausted</a:t>
                      </a:r>
                      <a:endParaRPr lang="en-US" sz="1250" dirty="0">
                        <a:latin typeface="Calibri" charset="0"/>
                        <a:ea typeface="Calibri" charset="0"/>
                        <a:cs typeface="Calibri" charset="0"/>
                      </a:endParaRPr>
                    </a:p>
                  </a:txBody>
                  <a:tcPr marL="91440" marR="91440" marT="27432" marB="27432" anchor="ctr">
                    <a:lnL w="9525" cap="flat" cmpd="sng" algn="ctr">
                      <a:solidFill>
                        <a:srgbClr val="D8DBE1"/>
                      </a:solidFill>
                      <a:prstDash val="solid"/>
                      <a:round/>
                      <a:headEnd type="none" w="med" len="med"/>
                      <a:tailEnd type="none" w="med" len="med"/>
                    </a:lnL>
                    <a:lnR w="9525" cap="flat" cmpd="sng" algn="ctr">
                      <a:solidFill>
                        <a:srgbClr val="D8DBE1"/>
                      </a:solidFill>
                      <a:prstDash val="solid"/>
                      <a:round/>
                      <a:headEnd type="none" w="med" len="med"/>
                      <a:tailEnd type="none" w="med" len="med"/>
                    </a:lnR>
                    <a:lnT w="9525" cap="flat" cmpd="sng" algn="ctr">
                      <a:solidFill>
                        <a:srgbClr val="D8DBE1"/>
                      </a:solidFill>
                      <a:prstDash val="solid"/>
                      <a:round/>
                      <a:headEnd type="none" w="med" len="med"/>
                      <a:tailEnd type="none" w="med" len="med"/>
                    </a:lnT>
                    <a:lnB w="9525" cap="flat" cmpd="sng" algn="ctr">
                      <a:solidFill>
                        <a:srgbClr val="D8DBE1"/>
                      </a:solidFill>
                      <a:prstDash val="solid"/>
                      <a:round/>
                      <a:headEnd type="none" w="med" len="med"/>
                      <a:tailEnd type="none" w="med" len="med"/>
                    </a:lnB>
                  </a:tcPr>
                </a:tc>
                <a:tc>
                  <a:txBody>
                    <a:bodyPr/>
                    <a:lstStyle/>
                    <a:p>
                      <a:pPr algn="ctr" indent="0" marL="0">
                        <a:buNone/>
                      </a:pPr>
                      <a:r>
                        <a:rPr lang="en-US" sz="1250" b="1" dirty="0">
                          <a:solidFill>
                            <a:srgbClr val="D5433B"/>
                          </a:solidFill>
                          <a:latin typeface="Calibri" pitchFamily="34" charset="0"/>
                          <a:ea typeface="Calibri" pitchFamily="34" charset="-122"/>
                          <a:cs typeface="Calibri" pitchFamily="34" charset="-120"/>
                        </a:rPr>
                        <a:t>−0,2</a:t>
                      </a:r>
                      <a:endParaRPr lang="en-US" sz="1250" dirty="0">
                        <a:latin typeface="Calibri" charset="0"/>
                        <a:ea typeface="Calibri" charset="0"/>
                        <a:cs typeface="Calibri" charset="0"/>
                      </a:endParaRPr>
                    </a:p>
                  </a:txBody>
                  <a:tcPr marL="91440" marR="91440" marT="27432" marB="27432" anchor="ctr">
                    <a:lnL w="9525" cap="flat" cmpd="sng" algn="ctr">
                      <a:solidFill>
                        <a:srgbClr val="D8DBE1"/>
                      </a:solidFill>
                      <a:prstDash val="solid"/>
                      <a:round/>
                      <a:headEnd type="none" w="med" len="med"/>
                      <a:tailEnd type="none" w="med" len="med"/>
                    </a:lnL>
                    <a:lnR w="9525" cap="flat" cmpd="sng" algn="ctr">
                      <a:solidFill>
                        <a:srgbClr val="D8DBE1"/>
                      </a:solidFill>
                      <a:prstDash val="solid"/>
                      <a:round/>
                      <a:headEnd type="none" w="med" len="med"/>
                      <a:tailEnd type="none" w="med" len="med"/>
                    </a:lnR>
                    <a:lnT w="9525" cap="flat" cmpd="sng" algn="ctr">
                      <a:solidFill>
                        <a:srgbClr val="D8DBE1"/>
                      </a:solidFill>
                      <a:prstDash val="solid"/>
                      <a:round/>
                      <a:headEnd type="none" w="med" len="med"/>
                      <a:tailEnd type="none" w="med" len="med"/>
                    </a:lnT>
                    <a:lnB w="9525" cap="flat" cmpd="sng" algn="ctr">
                      <a:solidFill>
                        <a:srgbClr val="D8DBE1"/>
                      </a:solidFill>
                      <a:prstDash val="solid"/>
                      <a:round/>
                      <a:headEnd type="none" w="med" len="med"/>
                      <a:tailEnd type="none" w="med" len="med"/>
                    </a:lnB>
                  </a:tcPr>
                </a:tc>
                <a:tc>
                  <a:txBody>
                    <a:bodyPr/>
                    <a:lstStyle/>
                    <a:p>
                      <a:pPr algn="ctr" indent="0" marL="0">
                        <a:buNone/>
                      </a:pPr>
                      <a:r>
                        <a:rPr lang="en-US" sz="1250" dirty="0">
                          <a:solidFill>
                            <a:srgbClr val="5E6570"/>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27432" marB="27432" anchor="ctr">
                    <a:lnL w="9525" cap="flat" cmpd="sng" algn="ctr">
                      <a:solidFill>
                        <a:srgbClr val="D8DBE1"/>
                      </a:solidFill>
                      <a:prstDash val="solid"/>
                      <a:round/>
                      <a:headEnd type="none" w="med" len="med"/>
                      <a:tailEnd type="none" w="med" len="med"/>
                    </a:lnL>
                    <a:lnR w="9525" cap="flat" cmpd="sng" algn="ctr">
                      <a:solidFill>
                        <a:srgbClr val="D8DBE1"/>
                      </a:solidFill>
                      <a:prstDash val="solid"/>
                      <a:round/>
                      <a:headEnd type="none" w="med" len="med"/>
                      <a:tailEnd type="none" w="med" len="med"/>
                    </a:lnR>
                    <a:lnT w="9525" cap="flat" cmpd="sng" algn="ctr">
                      <a:solidFill>
                        <a:srgbClr val="D8DBE1"/>
                      </a:solidFill>
                      <a:prstDash val="solid"/>
                      <a:round/>
                      <a:headEnd type="none" w="med" len="med"/>
                      <a:tailEnd type="none" w="med" len="med"/>
                    </a:lnT>
                    <a:lnB w="9525" cap="flat" cmpd="sng" algn="ctr">
                      <a:solidFill>
                        <a:srgbClr val="D8DBE1"/>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5171C"/>
        </a:solidFill>
      </p:bgPr>
    </p:bg>
    <p:spTree>
      <p:nvGrpSpPr>
        <p:cNvPr id="1" name=""/>
        <p:cNvGrpSpPr/>
        <p:nvPr/>
      </p:nvGrpSpPr>
      <p:grpSpPr>
        <a:xfrm>
          <a:off x="0" y="0"/>
          <a:ext cx="0" cy="0"/>
          <a:chOff x="0" y="0"/>
          <a:chExt cx="0" cy="0"/>
        </a:xfrm>
      </p:grpSpPr>
      <p:sp>
        <p:nvSpPr>
          <p:cNvPr id="2" name="Shape 0"/>
          <p:cNvSpPr/>
          <p:nvPr/>
        </p:nvSpPr>
        <p:spPr>
          <a:xfrm rot="10800000">
            <a:off x="7818120" y="411480"/>
            <a:ext cx="201168" cy="182880"/>
          </a:xfrm>
          <a:prstGeom prst="triangle">
            <a:avLst/>
          </a:prstGeom>
          <a:solidFill>
            <a:srgbClr val="7A45B8"/>
          </a:solidFill>
          <a:ln w="12700">
            <a:solidFill>
              <a:srgbClr val="7A45B8"/>
            </a:solidFill>
            <a:prstDash val="solid"/>
          </a:ln>
        </p:spPr>
      </p:sp>
      <p:sp>
        <p:nvSpPr>
          <p:cNvPr id="3" name="Shape 1"/>
          <p:cNvSpPr/>
          <p:nvPr/>
        </p:nvSpPr>
        <p:spPr>
          <a:xfrm>
            <a:off x="8110728" y="411480"/>
            <a:ext cx="182880" cy="182880"/>
          </a:xfrm>
          <a:prstGeom prst="ellipse">
            <a:avLst/>
          </a:prstGeom>
          <a:solidFill>
            <a:srgbClr val="2F6FDB"/>
          </a:solidFill>
          <a:ln w="12700">
            <a:solidFill>
              <a:srgbClr val="2F6FDB"/>
            </a:solidFill>
            <a:prstDash val="solid"/>
          </a:ln>
        </p:spPr>
      </p:sp>
      <p:sp>
        <p:nvSpPr>
          <p:cNvPr id="4" name="Shape 2"/>
          <p:cNvSpPr/>
          <p:nvPr/>
        </p:nvSpPr>
        <p:spPr>
          <a:xfrm>
            <a:off x="8385048" y="411480"/>
            <a:ext cx="182880" cy="182880"/>
          </a:xfrm>
          <a:prstGeom prst="ellipse">
            <a:avLst/>
          </a:prstGeom>
          <a:solidFill>
            <a:srgbClr val="D5433B"/>
          </a:solidFill>
          <a:ln w="12700">
            <a:solidFill>
              <a:srgbClr val="D5433B"/>
            </a:solidFill>
            <a:prstDash val="solid"/>
          </a:ln>
        </p:spPr>
      </p:sp>
      <p:sp>
        <p:nvSpPr>
          <p:cNvPr id="5" name="Shape 3"/>
          <p:cNvSpPr/>
          <p:nvPr/>
        </p:nvSpPr>
        <p:spPr>
          <a:xfrm>
            <a:off x="8659368" y="411480"/>
            <a:ext cx="182880" cy="182880"/>
          </a:xfrm>
          <a:prstGeom prst="ellipse">
            <a:avLst/>
          </a:prstGeom>
          <a:solidFill>
            <a:srgbClr val="E0A500"/>
          </a:solidFill>
          <a:ln w="12700">
            <a:solidFill>
              <a:srgbClr val="E0A500"/>
            </a:solidFill>
            <a:prstDash val="solid"/>
          </a:ln>
        </p:spPr>
      </p:sp>
      <p:sp>
        <p:nvSpPr>
          <p:cNvPr id="6" name="Text 4"/>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Training yang Efisien</a:t>
            </a:r>
            <a:endParaRPr lang="en-US" sz="2800" dirty="0"/>
          </a:p>
        </p:txBody>
      </p:sp>
      <p:sp>
        <p:nvSpPr>
          <p:cNvPr id="7" name="Text 5"/>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400" dirty="0">
                <a:solidFill>
                  <a:srgbClr val="A9AFB9"/>
                </a:solidFill>
                <a:latin typeface="Calibri" pitchFamily="34" charset="0"/>
                <a:ea typeface="Calibri" pitchFamily="34" charset="-122"/>
                <a:cs typeface="Calibri" pitchFamily="34" charset="-120"/>
              </a:rPr>
              <a:t>Pertandingan 3 menit, tapi tidak perlu training berhari-hari</a:t>
            </a:r>
            <a:endParaRPr lang="en-US" sz="1400" dirty="0"/>
          </a:p>
        </p:txBody>
      </p:sp>
      <p:sp>
        <p:nvSpPr>
          <p:cNvPr id="8" name="Text 6"/>
          <p:cNvSpPr txBox="1"/>
          <p:nvPr/>
        </p:nvSpPr>
        <p:spPr>
          <a:xfrm>
            <a:off x="457200" y="1371600"/>
            <a:ext cx="2651760" cy="822960"/>
          </a:xfrm>
          <a:prstGeom prst="rect">
            <a:avLst/>
          </a:prstGeom>
          <a:noFill/>
          <a:ln/>
        </p:spPr>
        <p:txBody>
          <a:bodyPr wrap="square" lIns="0" tIns="0" rIns="0" bIns="0" rtlCol="0" anchor="ctr"/>
          <a:lstStyle/>
          <a:p>
            <a:pPr indent="0" marL="0">
              <a:buNone/>
            </a:pPr>
            <a:r>
              <a:rPr lang="en-US" sz="4400" dirty="0">
                <a:solidFill>
                  <a:srgbClr val="E0A500"/>
                </a:solidFill>
                <a:latin typeface="Arial Black" pitchFamily="34" charset="0"/>
                <a:ea typeface="Arial Black" pitchFamily="34" charset="-122"/>
                <a:cs typeface="Arial Black" pitchFamily="34" charset="-120"/>
              </a:rPr>
              <a:t>30 dtk</a:t>
            </a:r>
            <a:endParaRPr lang="en-US" sz="4400" dirty="0"/>
          </a:p>
        </p:txBody>
      </p:sp>
      <p:sp>
        <p:nvSpPr>
          <p:cNvPr id="9" name="Text 7"/>
          <p:cNvSpPr txBox="1"/>
          <p:nvPr/>
        </p:nvSpPr>
        <p:spPr>
          <a:xfrm>
            <a:off x="457200" y="2194560"/>
            <a:ext cx="2651760" cy="320040"/>
          </a:xfrm>
          <a:prstGeom prst="rect">
            <a:avLst/>
          </a:prstGeom>
          <a:noFill/>
          <a:ln/>
        </p:spPr>
        <p:txBody>
          <a:bodyPr wrap="square" lIns="0" tIns="0" rIns="0" bIns="0" rtlCol="0" anchor="ctr"/>
          <a:lstStyle/>
          <a:p>
            <a:pPr indent="0" marL="0">
              <a:buNone/>
            </a:pPr>
            <a:r>
              <a:rPr lang="en-US" sz="1400" dirty="0">
                <a:solidFill>
                  <a:srgbClr val="A9AFB9"/>
                </a:solidFill>
                <a:latin typeface="Calibri" pitchFamily="34" charset="0"/>
                <a:ea typeface="Calibri" pitchFamily="34" charset="-122"/>
                <a:cs typeface="Calibri" pitchFamily="34" charset="-120"/>
              </a:rPr>
              <a:t>per episode training</a:t>
            </a:r>
            <a:endParaRPr lang="en-US" sz="1400" dirty="0"/>
          </a:p>
        </p:txBody>
      </p:sp>
      <p:sp>
        <p:nvSpPr>
          <p:cNvPr id="10" name="Text 8"/>
          <p:cNvSpPr txBox="1"/>
          <p:nvPr/>
        </p:nvSpPr>
        <p:spPr>
          <a:xfrm>
            <a:off x="3291840" y="1371600"/>
            <a:ext cx="2651760" cy="822960"/>
          </a:xfrm>
          <a:prstGeom prst="rect">
            <a:avLst/>
          </a:prstGeom>
          <a:noFill/>
          <a:ln/>
        </p:spPr>
        <p:txBody>
          <a:bodyPr wrap="square" lIns="0" tIns="0" rIns="0" bIns="0" rtlCol="0" anchor="ctr"/>
          <a:lstStyle/>
          <a:p>
            <a:pPr indent="0" marL="0">
              <a:buNone/>
            </a:pPr>
            <a:r>
              <a:rPr lang="en-US" sz="4400" dirty="0">
                <a:solidFill>
                  <a:srgbClr val="2F6FDB"/>
                </a:solidFill>
                <a:latin typeface="Arial Black" pitchFamily="34" charset="0"/>
                <a:ea typeface="Arial Black" pitchFamily="34" charset="-122"/>
                <a:cs typeface="Arial Black" pitchFamily="34" charset="-120"/>
              </a:rPr>
              <a:t>16</a:t>
            </a:r>
            <a:endParaRPr lang="en-US" sz="4400" dirty="0"/>
          </a:p>
        </p:txBody>
      </p:sp>
      <p:sp>
        <p:nvSpPr>
          <p:cNvPr id="11" name="Text 9"/>
          <p:cNvSpPr txBox="1"/>
          <p:nvPr/>
        </p:nvSpPr>
        <p:spPr>
          <a:xfrm>
            <a:off x="3291840" y="2194560"/>
            <a:ext cx="2651760" cy="320040"/>
          </a:xfrm>
          <a:prstGeom prst="rect">
            <a:avLst/>
          </a:prstGeom>
          <a:noFill/>
          <a:ln/>
        </p:spPr>
        <p:txBody>
          <a:bodyPr wrap="square" lIns="0" tIns="0" rIns="0" bIns="0" rtlCol="0" anchor="ctr"/>
          <a:lstStyle/>
          <a:p>
            <a:pPr indent="0" marL="0">
              <a:buNone/>
            </a:pPr>
            <a:r>
              <a:rPr lang="en-US" sz="1400" dirty="0">
                <a:solidFill>
                  <a:srgbClr val="A9AFB9"/>
                </a:solidFill>
                <a:latin typeface="Calibri" pitchFamily="34" charset="0"/>
                <a:ea typeface="Calibri" pitchFamily="34" charset="-122"/>
                <a:cs typeface="Calibri" pitchFamily="34" charset="-120"/>
              </a:rPr>
              <a:t>arena dilatih bersamaan</a:t>
            </a:r>
            <a:endParaRPr lang="en-US" sz="1400" dirty="0"/>
          </a:p>
        </p:txBody>
      </p:sp>
      <p:sp>
        <p:nvSpPr>
          <p:cNvPr id="12" name="Text 10"/>
          <p:cNvSpPr txBox="1"/>
          <p:nvPr/>
        </p:nvSpPr>
        <p:spPr>
          <a:xfrm>
            <a:off x="6126480" y="1371600"/>
            <a:ext cx="2651760" cy="822960"/>
          </a:xfrm>
          <a:prstGeom prst="rect">
            <a:avLst/>
          </a:prstGeom>
          <a:noFill/>
          <a:ln/>
        </p:spPr>
        <p:txBody>
          <a:bodyPr wrap="square" lIns="0" tIns="0" rIns="0" bIns="0" rtlCol="0" anchor="ctr"/>
          <a:lstStyle/>
          <a:p>
            <a:pPr indent="0" marL="0">
              <a:buNone/>
            </a:pPr>
            <a:r>
              <a:rPr lang="en-US" sz="4400" dirty="0">
                <a:solidFill>
                  <a:srgbClr val="D5433B"/>
                </a:solidFill>
                <a:latin typeface="Arial Black" pitchFamily="34" charset="0"/>
                <a:ea typeface="Arial Black" pitchFamily="34" charset="-122"/>
                <a:cs typeface="Arial Black" pitchFamily="34" charset="-120"/>
              </a:rPr>
              <a:t>20×</a:t>
            </a:r>
            <a:endParaRPr lang="en-US" sz="4400" dirty="0"/>
          </a:p>
        </p:txBody>
      </p:sp>
      <p:sp>
        <p:nvSpPr>
          <p:cNvPr id="13" name="Text 11"/>
          <p:cNvSpPr txBox="1"/>
          <p:nvPr/>
        </p:nvSpPr>
        <p:spPr>
          <a:xfrm>
            <a:off x="6126480" y="2194560"/>
            <a:ext cx="2651760" cy="320040"/>
          </a:xfrm>
          <a:prstGeom prst="rect">
            <a:avLst/>
          </a:prstGeom>
          <a:noFill/>
          <a:ln/>
        </p:spPr>
        <p:txBody>
          <a:bodyPr wrap="square" lIns="0" tIns="0" rIns="0" bIns="0" rtlCol="0" anchor="ctr"/>
          <a:lstStyle/>
          <a:p>
            <a:pPr indent="0" marL="0">
              <a:buNone/>
            </a:pPr>
            <a:r>
              <a:rPr lang="en-US" sz="1400" dirty="0">
                <a:solidFill>
                  <a:srgbClr val="A9AFB9"/>
                </a:solidFill>
                <a:latin typeface="Calibri" pitchFamily="34" charset="0"/>
                <a:ea typeface="Calibri" pitchFamily="34" charset="-122"/>
                <a:cs typeface="Calibri" pitchFamily="34" charset="-120"/>
              </a:rPr>
              <a:t>kecepatan simulasi</a:t>
            </a:r>
            <a:endParaRPr lang="en-US" sz="1400" dirty="0"/>
          </a:p>
        </p:txBody>
      </p:sp>
      <p:sp>
        <p:nvSpPr>
          <p:cNvPr id="14" name="Shape 12"/>
          <p:cNvSpPr/>
          <p:nvPr/>
        </p:nvSpPr>
        <p:spPr>
          <a:xfrm>
            <a:off x="457200" y="2834640"/>
            <a:ext cx="3977640" cy="1783080"/>
          </a:xfrm>
          <a:prstGeom prst="roundRect">
            <a:avLst>
              <a:gd name="adj" fmla="val 4103"/>
            </a:avLst>
          </a:prstGeom>
          <a:solidFill>
            <a:srgbClr val="22252D"/>
          </a:solidFill>
          <a:ln w="12700">
            <a:solidFill>
              <a:srgbClr val="22252D"/>
            </a:solidFill>
            <a:prstDash val="solid"/>
          </a:ln>
        </p:spPr>
      </p:sp>
      <p:sp>
        <p:nvSpPr>
          <p:cNvPr id="15" name="Text 13"/>
          <p:cNvSpPr txBox="1"/>
          <p:nvPr/>
        </p:nvSpPr>
        <p:spPr>
          <a:xfrm>
            <a:off x="685800" y="2971800"/>
            <a:ext cx="35661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Mulai dari kondisi acak</a:t>
            </a:r>
            <a:endParaRPr lang="en-US" sz="1500" dirty="0"/>
          </a:p>
        </p:txBody>
      </p:sp>
      <p:sp>
        <p:nvSpPr>
          <p:cNvPr id="16" name="Text 14"/>
          <p:cNvSpPr txBox="1"/>
          <p:nvPr/>
        </p:nvSpPr>
        <p:spPr>
          <a:xfrm>
            <a:off x="685800" y="3383280"/>
            <a:ext cx="3566160" cy="1143000"/>
          </a:xfrm>
          <a:prstGeom prst="rect">
            <a:avLst/>
          </a:prstGeom>
          <a:noFill/>
          <a:ln/>
        </p:spPr>
        <p:txBody>
          <a:bodyPr wrap="square" lIns="0" tIns="0" rIns="0" bIns="0" rtlCol="0" anchor="t"/>
          <a:lstStyle/>
          <a:p>
            <a:pPr indent="0" marL="0">
              <a:buNone/>
            </a:pPr>
            <a:r>
              <a:rPr lang="en-US" sz="1300" dirty="0">
                <a:solidFill>
                  <a:srgbClr val="A9AFB9"/>
                </a:solidFill>
                <a:latin typeface="Calibri" pitchFamily="34" charset="0"/>
                <a:ea typeface="Calibri" pitchFamily="34" charset="-122"/>
                <a:cs typeface="Calibri" pitchFamily="34" charset="-120"/>
              </a:rPr>
              <a:t>Tiap episode dimulai di tengah game: orb sebagian terkumpul, gerbang kadang terbuka, kadang ada Prey di Cage. Agent mengalami semua fase tanpa main full match.</a:t>
            </a:r>
            <a:endParaRPr lang="en-US" sz="1300" dirty="0"/>
          </a:p>
        </p:txBody>
      </p:sp>
      <p:sp>
        <p:nvSpPr>
          <p:cNvPr id="17" name="Shape 15"/>
          <p:cNvSpPr/>
          <p:nvPr/>
        </p:nvSpPr>
        <p:spPr>
          <a:xfrm>
            <a:off x="4709160" y="2834640"/>
            <a:ext cx="3977640" cy="1783080"/>
          </a:xfrm>
          <a:prstGeom prst="roundRect">
            <a:avLst>
              <a:gd name="adj" fmla="val 4103"/>
            </a:avLst>
          </a:prstGeom>
          <a:solidFill>
            <a:srgbClr val="22252D"/>
          </a:solidFill>
          <a:ln w="12700">
            <a:solidFill>
              <a:srgbClr val="22252D"/>
            </a:solidFill>
            <a:prstDash val="solid"/>
          </a:ln>
        </p:spPr>
      </p:sp>
      <p:sp>
        <p:nvSpPr>
          <p:cNvPr id="18" name="Text 16"/>
          <p:cNvSpPr txBox="1"/>
          <p:nvPr/>
        </p:nvSpPr>
        <p:spPr>
          <a:xfrm>
            <a:off x="4937760" y="2971800"/>
            <a:ext cx="35661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Curriculum learning</a:t>
            </a:r>
            <a:endParaRPr lang="en-US" sz="1500" dirty="0"/>
          </a:p>
        </p:txBody>
      </p:sp>
      <p:sp>
        <p:nvSpPr>
          <p:cNvPr id="19" name="Text 17"/>
          <p:cNvSpPr txBox="1"/>
          <p:nvPr/>
        </p:nvSpPr>
        <p:spPr>
          <a:xfrm>
            <a:off x="4937760" y="3383280"/>
            <a:ext cx="3566160" cy="1143000"/>
          </a:xfrm>
          <a:prstGeom prst="rect">
            <a:avLst/>
          </a:prstGeom>
          <a:noFill/>
          <a:ln/>
        </p:spPr>
        <p:txBody>
          <a:bodyPr wrap="square" lIns="0" tIns="0" rIns="0" bIns="0" rtlCol="0" anchor="t"/>
          <a:lstStyle/>
          <a:p>
            <a:pPr indent="0" marL="0">
              <a:buNone/>
            </a:pPr>
            <a:r>
              <a:rPr lang="en-US" sz="1300" dirty="0">
                <a:solidFill>
                  <a:srgbClr val="A9AFB9"/>
                </a:solidFill>
                <a:latin typeface="Calibri" pitchFamily="34" charset="0"/>
                <a:ea typeface="Calibri" pitchFamily="34" charset="-122"/>
                <a:cs typeface="Calibri" pitchFamily="34" charset="-120"/>
              </a:rPr>
              <a:t>Mulai dari versi mudah (1 orb, arena kecil), lalu bertahap sampai aturan lengkap.</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10800000">
            <a:off x="7818120" y="411480"/>
            <a:ext cx="201168" cy="182880"/>
          </a:xfrm>
          <a:prstGeom prst="triangle">
            <a:avLst/>
          </a:prstGeom>
          <a:solidFill>
            <a:srgbClr val="7A45B8"/>
          </a:solidFill>
          <a:ln w="12700">
            <a:solidFill>
              <a:srgbClr val="7A45B8"/>
            </a:solidFill>
            <a:prstDash val="solid"/>
          </a:ln>
        </p:spPr>
      </p:sp>
      <p:sp>
        <p:nvSpPr>
          <p:cNvPr id="3" name="Shape 1"/>
          <p:cNvSpPr/>
          <p:nvPr/>
        </p:nvSpPr>
        <p:spPr>
          <a:xfrm>
            <a:off x="8110728" y="411480"/>
            <a:ext cx="182880" cy="182880"/>
          </a:xfrm>
          <a:prstGeom prst="ellipse">
            <a:avLst/>
          </a:prstGeom>
          <a:solidFill>
            <a:srgbClr val="2F6FDB"/>
          </a:solidFill>
          <a:ln w="12700">
            <a:solidFill>
              <a:srgbClr val="2F6FDB"/>
            </a:solidFill>
            <a:prstDash val="solid"/>
          </a:ln>
        </p:spPr>
      </p:sp>
      <p:sp>
        <p:nvSpPr>
          <p:cNvPr id="4" name="Shape 2"/>
          <p:cNvSpPr/>
          <p:nvPr/>
        </p:nvSpPr>
        <p:spPr>
          <a:xfrm>
            <a:off x="8385048" y="411480"/>
            <a:ext cx="182880" cy="182880"/>
          </a:xfrm>
          <a:prstGeom prst="ellipse">
            <a:avLst/>
          </a:prstGeom>
          <a:solidFill>
            <a:srgbClr val="D5433B"/>
          </a:solidFill>
          <a:ln w="12700">
            <a:solidFill>
              <a:srgbClr val="D5433B"/>
            </a:solidFill>
            <a:prstDash val="solid"/>
          </a:ln>
        </p:spPr>
      </p:sp>
      <p:sp>
        <p:nvSpPr>
          <p:cNvPr id="5" name="Shape 3"/>
          <p:cNvSpPr/>
          <p:nvPr/>
        </p:nvSpPr>
        <p:spPr>
          <a:xfrm>
            <a:off x="8659368" y="411480"/>
            <a:ext cx="182880" cy="182880"/>
          </a:xfrm>
          <a:prstGeom prst="ellipse">
            <a:avLst/>
          </a:prstGeom>
          <a:solidFill>
            <a:srgbClr val="E0A500"/>
          </a:solidFill>
          <a:ln w="12700">
            <a:solidFill>
              <a:srgbClr val="E0A500"/>
            </a:solidFill>
            <a:prstDash val="solid"/>
          </a:ln>
        </p:spPr>
      </p:sp>
      <p:sp>
        <p:nvSpPr>
          <p:cNvPr id="6" name="Text 4"/>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dirty="0">
                <a:solidFill>
                  <a:srgbClr val="1B1E24"/>
                </a:solidFill>
                <a:latin typeface="Arial Black" pitchFamily="34" charset="0"/>
                <a:ea typeface="Arial Black" pitchFamily="34" charset="-122"/>
                <a:cs typeface="Arial Black" pitchFamily="34" charset="-120"/>
              </a:rPr>
              <a:t>Membuktikan AI Belajar</a:t>
            </a:r>
            <a:endParaRPr lang="en-US" sz="2800" dirty="0"/>
          </a:p>
        </p:txBody>
      </p:sp>
      <p:sp>
        <p:nvSpPr>
          <p:cNvPr id="7" name="Text 5"/>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400" dirty="0">
                <a:solidFill>
                  <a:srgbClr val="5E6570"/>
                </a:solidFill>
                <a:latin typeface="Calibri" pitchFamily="34" charset="0"/>
                <a:ea typeface="Calibri" pitchFamily="34" charset="-122"/>
                <a:cs typeface="Calibri" pitchFamily="34" charset="-120"/>
              </a:rPr>
              <a:t>Tiap fase diuji melawan BT yang sama, 100 pertandingan</a:t>
            </a:r>
            <a:endParaRPr lang="en-US" sz="1400" dirty="0"/>
          </a:p>
        </p:txBody>
      </p:sp>
      <p:sp>
        <p:nvSpPr>
          <p:cNvPr id="8" name="Shape 6"/>
          <p:cNvSpPr/>
          <p:nvPr/>
        </p:nvSpPr>
        <p:spPr>
          <a:xfrm>
            <a:off x="457200" y="1371600"/>
            <a:ext cx="2606040" cy="1188720"/>
          </a:xfrm>
          <a:prstGeom prst="roundRect">
            <a:avLst>
              <a:gd name="adj" fmla="val 6154"/>
            </a:avLst>
          </a:prstGeom>
          <a:solidFill>
            <a:srgbClr val="D8DBE1"/>
          </a:solidFill>
          <a:ln w="12700">
            <a:solidFill>
              <a:srgbClr val="D8DBE1"/>
            </a:solidFill>
            <a:prstDash val="solid"/>
          </a:ln>
        </p:spPr>
      </p:sp>
      <p:sp>
        <p:nvSpPr>
          <p:cNvPr id="9" name="Text 7"/>
          <p:cNvSpPr txBox="1"/>
          <p:nvPr/>
        </p:nvSpPr>
        <p:spPr>
          <a:xfrm>
            <a:off x="685800" y="1508760"/>
            <a:ext cx="2194560" cy="411480"/>
          </a:xfrm>
          <a:prstGeom prst="rect">
            <a:avLst/>
          </a:prstGeom>
          <a:noFill/>
          <a:ln/>
        </p:spPr>
        <p:txBody>
          <a:bodyPr wrap="square" lIns="0" tIns="0" rIns="0" bIns="0" rtlCol="0" anchor="ctr"/>
          <a:lstStyle/>
          <a:p>
            <a:pPr indent="0" marL="0">
              <a:buNone/>
            </a:pPr>
            <a:r>
              <a:rPr lang="en-US" sz="1600" b="1" dirty="0">
                <a:solidFill>
                  <a:srgbClr val="1B1E24"/>
                </a:solidFill>
                <a:latin typeface="Calibri" pitchFamily="34" charset="0"/>
                <a:ea typeface="Calibri" pitchFamily="34" charset="-122"/>
                <a:cs typeface="Calibri" pitchFamily="34" charset="-120"/>
              </a:rPr>
              <a:t>RL belum terlatih</a:t>
            </a:r>
            <a:endParaRPr lang="en-US" sz="1600" dirty="0"/>
          </a:p>
        </p:txBody>
      </p:sp>
      <p:sp>
        <p:nvSpPr>
          <p:cNvPr id="10" name="Text 8"/>
          <p:cNvSpPr txBox="1"/>
          <p:nvPr/>
        </p:nvSpPr>
        <p:spPr>
          <a:xfrm>
            <a:off x="685800" y="1920240"/>
            <a:ext cx="2194560" cy="502920"/>
          </a:xfrm>
          <a:prstGeom prst="rect">
            <a:avLst/>
          </a:prstGeom>
          <a:noFill/>
          <a:ln/>
        </p:spPr>
        <p:txBody>
          <a:bodyPr wrap="square" lIns="0" tIns="0" rIns="0" bIns="0" rtlCol="0" anchor="ctr"/>
          <a:lstStyle/>
          <a:p>
            <a:pPr indent="0" marL="0">
              <a:buNone/>
            </a:pPr>
            <a:r>
              <a:rPr lang="en-US" sz="1300" dirty="0">
                <a:solidFill>
                  <a:srgbClr val="1B1E24"/>
                </a:solidFill>
                <a:latin typeface="Calibri" pitchFamily="34" charset="0"/>
                <a:ea typeface="Calibri" pitchFamily="34" charset="-122"/>
                <a:cs typeface="Calibri" pitchFamily="34" charset="-120"/>
              </a:rPr>
              <a:t>Gerakan acak: versi awal</a:t>
            </a:r>
            <a:endParaRPr lang="en-US" sz="1300" dirty="0"/>
          </a:p>
        </p:txBody>
      </p:sp>
      <p:sp>
        <p:nvSpPr>
          <p:cNvPr id="11" name="Shape 9"/>
          <p:cNvSpPr/>
          <p:nvPr/>
        </p:nvSpPr>
        <p:spPr>
          <a:xfrm>
            <a:off x="3291840" y="1371600"/>
            <a:ext cx="2606040" cy="1188720"/>
          </a:xfrm>
          <a:prstGeom prst="roundRect">
            <a:avLst>
              <a:gd name="adj" fmla="val 6154"/>
            </a:avLst>
          </a:prstGeom>
          <a:solidFill>
            <a:srgbClr val="2F6FDB"/>
          </a:solidFill>
          <a:ln w="12700">
            <a:solidFill>
              <a:srgbClr val="2F6FDB"/>
            </a:solidFill>
            <a:prstDash val="solid"/>
          </a:ln>
        </p:spPr>
      </p:sp>
      <p:sp>
        <p:nvSpPr>
          <p:cNvPr id="12" name="Text 10"/>
          <p:cNvSpPr txBox="1"/>
          <p:nvPr/>
        </p:nvSpPr>
        <p:spPr>
          <a:xfrm>
            <a:off x="3520440" y="1508760"/>
            <a:ext cx="219456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RL terlatih</a:t>
            </a:r>
            <a:endParaRPr lang="en-US" sz="1600" dirty="0"/>
          </a:p>
        </p:txBody>
      </p:sp>
      <p:sp>
        <p:nvSpPr>
          <p:cNvPr id="13" name="Text 11"/>
          <p:cNvSpPr txBox="1"/>
          <p:nvPr/>
        </p:nvSpPr>
        <p:spPr>
          <a:xfrm>
            <a:off x="3520440" y="1920240"/>
            <a:ext cx="2194560" cy="5029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Versi akhir setelah training</a:t>
            </a:r>
            <a:endParaRPr lang="en-US" sz="1300" dirty="0"/>
          </a:p>
        </p:txBody>
      </p:sp>
      <p:sp>
        <p:nvSpPr>
          <p:cNvPr id="14" name="Shape 12"/>
          <p:cNvSpPr/>
          <p:nvPr/>
        </p:nvSpPr>
        <p:spPr>
          <a:xfrm>
            <a:off x="6126480" y="1371600"/>
            <a:ext cx="2606040" cy="1188720"/>
          </a:xfrm>
          <a:prstGeom prst="roundRect">
            <a:avLst>
              <a:gd name="adj" fmla="val 6154"/>
            </a:avLst>
          </a:prstGeom>
          <a:solidFill>
            <a:srgbClr val="F1F2F5"/>
          </a:solidFill>
          <a:ln w="12700">
            <a:solidFill>
              <a:srgbClr val="F1F2F5"/>
            </a:solidFill>
            <a:prstDash val="solid"/>
          </a:ln>
        </p:spPr>
      </p:sp>
      <p:sp>
        <p:nvSpPr>
          <p:cNvPr id="15" name="Text 13"/>
          <p:cNvSpPr txBox="1"/>
          <p:nvPr/>
        </p:nvSpPr>
        <p:spPr>
          <a:xfrm>
            <a:off x="6355080" y="1508760"/>
            <a:ext cx="2194560" cy="411480"/>
          </a:xfrm>
          <a:prstGeom prst="rect">
            <a:avLst/>
          </a:prstGeom>
          <a:noFill/>
          <a:ln/>
        </p:spPr>
        <p:txBody>
          <a:bodyPr wrap="square" lIns="0" tIns="0" rIns="0" bIns="0" rtlCol="0" anchor="ctr"/>
          <a:lstStyle/>
          <a:p>
            <a:pPr indent="0" marL="0">
              <a:buNone/>
            </a:pPr>
            <a:r>
              <a:rPr lang="en-US" sz="1600" b="1" dirty="0">
                <a:solidFill>
                  <a:srgbClr val="1B1E24"/>
                </a:solidFill>
                <a:latin typeface="Calibri" pitchFamily="34" charset="0"/>
                <a:ea typeface="Calibri" pitchFamily="34" charset="-122"/>
                <a:cs typeface="Calibri" pitchFamily="34" charset="-120"/>
              </a:rPr>
              <a:t>BT vs BT</a:t>
            </a:r>
            <a:endParaRPr lang="en-US" sz="1600" dirty="0"/>
          </a:p>
        </p:txBody>
      </p:sp>
      <p:sp>
        <p:nvSpPr>
          <p:cNvPr id="16" name="Text 14"/>
          <p:cNvSpPr txBox="1"/>
          <p:nvPr/>
        </p:nvSpPr>
        <p:spPr>
          <a:xfrm>
            <a:off x="6355080" y="1920240"/>
            <a:ext cx="2194560" cy="502920"/>
          </a:xfrm>
          <a:prstGeom prst="rect">
            <a:avLst/>
          </a:prstGeom>
          <a:noFill/>
          <a:ln/>
        </p:spPr>
        <p:txBody>
          <a:bodyPr wrap="square" lIns="0" tIns="0" rIns="0" bIns="0" rtlCol="0" anchor="ctr"/>
          <a:lstStyle/>
          <a:p>
            <a:pPr indent="0" marL="0">
              <a:buNone/>
            </a:pPr>
            <a:r>
              <a:rPr lang="en-US" sz="1300" dirty="0">
                <a:solidFill>
                  <a:srgbClr val="1B1E24"/>
                </a:solidFill>
                <a:latin typeface="Calibri" pitchFamily="34" charset="0"/>
                <a:ea typeface="Calibri" pitchFamily="34" charset="-122"/>
                <a:cs typeface="Calibri" pitchFamily="34" charset="-120"/>
              </a:rPr>
              <a:t>Pembanding (baseline)</a:t>
            </a:r>
            <a:endParaRPr lang="en-US" sz="1300" dirty="0"/>
          </a:p>
        </p:txBody>
      </p:sp>
      <p:sp>
        <p:nvSpPr>
          <p:cNvPr id="17" name="Text 15"/>
          <p:cNvSpPr txBox="1"/>
          <p:nvPr/>
        </p:nvSpPr>
        <p:spPr>
          <a:xfrm>
            <a:off x="457200" y="2834640"/>
            <a:ext cx="8229600" cy="365760"/>
          </a:xfrm>
          <a:prstGeom prst="rect">
            <a:avLst/>
          </a:prstGeom>
          <a:noFill/>
          <a:ln/>
        </p:spPr>
        <p:txBody>
          <a:bodyPr wrap="square" lIns="0" tIns="0" rIns="0" bIns="0" rtlCol="0" anchor="ctr"/>
          <a:lstStyle/>
          <a:p>
            <a:pPr indent="0" marL="0">
              <a:buNone/>
            </a:pPr>
            <a:r>
              <a:rPr lang="en-US" sz="1600" b="1" dirty="0">
                <a:solidFill>
                  <a:srgbClr val="1B1E24"/>
                </a:solidFill>
                <a:latin typeface="Calibri" pitchFamily="34" charset="0"/>
                <a:ea typeface="Calibri" pitchFamily="34" charset="-122"/>
                <a:cs typeface="Calibri" pitchFamily="34" charset="-120"/>
              </a:rPr>
              <a:t>Metrik yang diukur</a:t>
            </a:r>
            <a:endParaRPr lang="en-US" sz="1600" dirty="0"/>
          </a:p>
        </p:txBody>
      </p:sp>
      <p:sp>
        <p:nvSpPr>
          <p:cNvPr id="18" name="Shape 16"/>
          <p:cNvSpPr/>
          <p:nvPr/>
        </p:nvSpPr>
        <p:spPr>
          <a:xfrm>
            <a:off x="457200" y="3355848"/>
            <a:ext cx="237744" cy="237744"/>
          </a:xfrm>
          <a:prstGeom prst="ellipse">
            <a:avLst/>
          </a:prstGeom>
          <a:solidFill>
            <a:srgbClr val="7A45B8"/>
          </a:solidFill>
          <a:ln w="12700">
            <a:solidFill>
              <a:srgbClr val="7A45B8"/>
            </a:solidFill>
            <a:prstDash val="solid"/>
          </a:ln>
        </p:spPr>
      </p:sp>
      <p:sp>
        <p:nvSpPr>
          <p:cNvPr id="19" name="Text 17"/>
          <p:cNvSpPr txBox="1"/>
          <p:nvPr/>
        </p:nvSpPr>
        <p:spPr>
          <a:xfrm>
            <a:off x="822960" y="3291840"/>
            <a:ext cx="3657600" cy="365760"/>
          </a:xfrm>
          <a:prstGeom prst="rect">
            <a:avLst/>
          </a:prstGeom>
          <a:noFill/>
          <a:ln/>
        </p:spPr>
        <p:txBody>
          <a:bodyPr wrap="square" lIns="0" tIns="0" rIns="0" bIns="0" rtlCol="0" anchor="ctr"/>
          <a:lstStyle/>
          <a:p>
            <a:pPr indent="0" marL="0">
              <a:buNone/>
            </a:pPr>
            <a:r>
              <a:rPr lang="en-US" sz="1400" dirty="0">
                <a:solidFill>
                  <a:srgbClr val="1B1E24"/>
                </a:solidFill>
                <a:latin typeface="Calibri" pitchFamily="34" charset="0"/>
                <a:ea typeface="Calibri" pitchFamily="34" charset="-122"/>
                <a:cs typeface="Calibri" pitchFamily="34" charset="-120"/>
              </a:rPr>
              <a:t>Win rate</a:t>
            </a:r>
            <a:endParaRPr lang="en-US" sz="1400" dirty="0"/>
          </a:p>
        </p:txBody>
      </p:sp>
      <p:sp>
        <p:nvSpPr>
          <p:cNvPr id="20" name="Shape 18"/>
          <p:cNvSpPr/>
          <p:nvPr/>
        </p:nvSpPr>
        <p:spPr>
          <a:xfrm>
            <a:off x="4709160" y="3355848"/>
            <a:ext cx="237744" cy="237744"/>
          </a:xfrm>
          <a:prstGeom prst="ellipse">
            <a:avLst/>
          </a:prstGeom>
          <a:solidFill>
            <a:srgbClr val="D5433B"/>
          </a:solidFill>
          <a:ln w="12700">
            <a:solidFill>
              <a:srgbClr val="D5433B"/>
            </a:solidFill>
            <a:prstDash val="solid"/>
          </a:ln>
        </p:spPr>
      </p:sp>
      <p:sp>
        <p:nvSpPr>
          <p:cNvPr id="21" name="Text 19"/>
          <p:cNvSpPr txBox="1"/>
          <p:nvPr/>
        </p:nvSpPr>
        <p:spPr>
          <a:xfrm>
            <a:off x="5074920" y="3291840"/>
            <a:ext cx="3657600" cy="365760"/>
          </a:xfrm>
          <a:prstGeom prst="rect">
            <a:avLst/>
          </a:prstGeom>
          <a:noFill/>
          <a:ln/>
        </p:spPr>
        <p:txBody>
          <a:bodyPr wrap="square" lIns="0" tIns="0" rIns="0" bIns="0" rtlCol="0" anchor="ctr"/>
          <a:lstStyle/>
          <a:p>
            <a:pPr indent="0" marL="0">
              <a:buNone/>
            </a:pPr>
            <a:r>
              <a:rPr lang="en-US" sz="1400" dirty="0">
                <a:solidFill>
                  <a:srgbClr val="1B1E24"/>
                </a:solidFill>
                <a:latin typeface="Calibri" pitchFamily="34" charset="0"/>
                <a:ea typeface="Calibri" pitchFamily="34" charset="-122"/>
                <a:cs typeface="Calibri" pitchFamily="34" charset="-120"/>
              </a:rPr>
              <a:t>Waktu sampai tangkapan pertama</a:t>
            </a:r>
            <a:endParaRPr lang="en-US" sz="1400" dirty="0"/>
          </a:p>
        </p:txBody>
      </p:sp>
      <p:sp>
        <p:nvSpPr>
          <p:cNvPr id="22" name="Shape 20"/>
          <p:cNvSpPr/>
          <p:nvPr/>
        </p:nvSpPr>
        <p:spPr>
          <a:xfrm>
            <a:off x="457200" y="3858768"/>
            <a:ext cx="237744" cy="237744"/>
          </a:xfrm>
          <a:prstGeom prst="ellipse">
            <a:avLst/>
          </a:prstGeom>
          <a:solidFill>
            <a:srgbClr val="E0A500"/>
          </a:solidFill>
          <a:ln w="12700">
            <a:solidFill>
              <a:srgbClr val="E0A500"/>
            </a:solidFill>
            <a:prstDash val="solid"/>
          </a:ln>
        </p:spPr>
      </p:sp>
      <p:sp>
        <p:nvSpPr>
          <p:cNvPr id="23" name="Text 21"/>
          <p:cNvSpPr txBox="1"/>
          <p:nvPr/>
        </p:nvSpPr>
        <p:spPr>
          <a:xfrm>
            <a:off x="822960" y="3794760"/>
            <a:ext cx="3657600" cy="365760"/>
          </a:xfrm>
          <a:prstGeom prst="rect">
            <a:avLst/>
          </a:prstGeom>
          <a:noFill/>
          <a:ln/>
        </p:spPr>
        <p:txBody>
          <a:bodyPr wrap="square" lIns="0" tIns="0" rIns="0" bIns="0" rtlCol="0" anchor="ctr"/>
          <a:lstStyle/>
          <a:p>
            <a:pPr indent="0" marL="0">
              <a:buNone/>
            </a:pPr>
            <a:r>
              <a:rPr lang="en-US" sz="1400" dirty="0">
                <a:solidFill>
                  <a:srgbClr val="1B1E24"/>
                </a:solidFill>
                <a:latin typeface="Calibri" pitchFamily="34" charset="0"/>
                <a:ea typeface="Calibri" pitchFamily="34" charset="-122"/>
                <a:cs typeface="Calibri" pitchFamily="34" charset="-120"/>
              </a:rPr>
              <a:t>Jumlah orb terkumpul</a:t>
            </a:r>
            <a:endParaRPr lang="en-US" sz="1400" dirty="0"/>
          </a:p>
        </p:txBody>
      </p:sp>
      <p:sp>
        <p:nvSpPr>
          <p:cNvPr id="24" name="Shape 22"/>
          <p:cNvSpPr/>
          <p:nvPr/>
        </p:nvSpPr>
        <p:spPr>
          <a:xfrm>
            <a:off x="4709160" y="3858768"/>
            <a:ext cx="237744" cy="237744"/>
          </a:xfrm>
          <a:prstGeom prst="ellipse">
            <a:avLst/>
          </a:prstGeom>
          <a:solidFill>
            <a:srgbClr val="1F9D6B"/>
          </a:solidFill>
          <a:ln w="12700">
            <a:solidFill>
              <a:srgbClr val="1F9D6B"/>
            </a:solidFill>
            <a:prstDash val="solid"/>
          </a:ln>
        </p:spPr>
      </p:sp>
      <p:sp>
        <p:nvSpPr>
          <p:cNvPr id="25" name="Text 23"/>
          <p:cNvSpPr txBox="1"/>
          <p:nvPr/>
        </p:nvSpPr>
        <p:spPr>
          <a:xfrm>
            <a:off x="5074920" y="3794760"/>
            <a:ext cx="3657600" cy="365760"/>
          </a:xfrm>
          <a:prstGeom prst="rect">
            <a:avLst/>
          </a:prstGeom>
          <a:noFill/>
          <a:ln/>
        </p:spPr>
        <p:txBody>
          <a:bodyPr wrap="square" lIns="0" tIns="0" rIns="0" bIns="0" rtlCol="0" anchor="ctr"/>
          <a:lstStyle/>
          <a:p>
            <a:pPr indent="0" marL="0">
              <a:buNone/>
            </a:pPr>
            <a:r>
              <a:rPr lang="en-US" sz="1400" dirty="0">
                <a:solidFill>
                  <a:srgbClr val="1B1E24"/>
                </a:solidFill>
                <a:latin typeface="Calibri" pitchFamily="34" charset="0"/>
                <a:ea typeface="Calibri" pitchFamily="34" charset="-122"/>
                <a:cs typeface="Calibri" pitchFamily="34" charset="-120"/>
              </a:rPr>
              <a:t>Jumlah Prey yang kabur</a:t>
            </a:r>
            <a:endParaRPr lang="en-US" sz="1400" dirty="0"/>
          </a:p>
        </p:txBody>
      </p:sp>
      <p:sp>
        <p:nvSpPr>
          <p:cNvPr id="26" name="Text 24"/>
          <p:cNvSpPr txBox="1"/>
          <p:nvPr/>
        </p:nvSpPr>
        <p:spPr>
          <a:xfrm>
            <a:off x="457200" y="4389120"/>
            <a:ext cx="8229600" cy="320040"/>
          </a:xfrm>
          <a:prstGeom prst="rect">
            <a:avLst/>
          </a:prstGeom>
          <a:noFill/>
          <a:ln/>
        </p:spPr>
        <p:txBody>
          <a:bodyPr wrap="square" lIns="0" tIns="0" rIns="0" bIns="0" rtlCol="0" anchor="ctr"/>
          <a:lstStyle/>
          <a:p>
            <a:pPr indent="0" marL="0">
              <a:buNone/>
            </a:pPr>
            <a:r>
              <a:rPr lang="en-US" sz="1300" i="1" dirty="0">
                <a:solidFill>
                  <a:srgbClr val="5E6570"/>
                </a:solidFill>
                <a:latin typeface="Calibri" pitchFamily="34" charset="0"/>
                <a:ea typeface="Calibri" pitchFamily="34" charset="-122"/>
                <a:cs typeface="Calibri" pitchFamily="34" charset="-120"/>
              </a:rPr>
              <a:t>Hasil ditampilkan dalam grafik dan video berdampingan (sebelum vs sesudah training).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5171C"/>
        </a:solidFill>
      </p:bgPr>
    </p:bg>
    <p:spTree>
      <p:nvGrpSpPr>
        <p:cNvPr id="1" name=""/>
        <p:cNvGrpSpPr/>
        <p:nvPr/>
      </p:nvGrpSpPr>
      <p:grpSpPr>
        <a:xfrm>
          <a:off x="0" y="0"/>
          <a:ext cx="0" cy="0"/>
          <a:chOff x="0" y="0"/>
          <a:chExt cx="0" cy="0"/>
        </a:xfrm>
      </p:grpSpPr>
      <p:sp>
        <p:nvSpPr>
          <p:cNvPr id="2" name="Shape 0"/>
          <p:cNvSpPr/>
          <p:nvPr/>
        </p:nvSpPr>
        <p:spPr>
          <a:xfrm rot="10800000">
            <a:off x="3995928" y="1188720"/>
            <a:ext cx="201168" cy="182880"/>
          </a:xfrm>
          <a:prstGeom prst="triangle">
            <a:avLst/>
          </a:prstGeom>
          <a:solidFill>
            <a:srgbClr val="7A45B8"/>
          </a:solidFill>
          <a:ln w="12700">
            <a:solidFill>
              <a:srgbClr val="7A45B8"/>
            </a:solidFill>
            <a:prstDash val="solid"/>
          </a:ln>
        </p:spPr>
      </p:sp>
      <p:sp>
        <p:nvSpPr>
          <p:cNvPr id="3" name="Shape 1"/>
          <p:cNvSpPr/>
          <p:nvPr/>
        </p:nvSpPr>
        <p:spPr>
          <a:xfrm>
            <a:off x="4288536" y="1188720"/>
            <a:ext cx="182880" cy="182880"/>
          </a:xfrm>
          <a:prstGeom prst="ellipse">
            <a:avLst/>
          </a:prstGeom>
          <a:solidFill>
            <a:srgbClr val="2F6FDB"/>
          </a:solidFill>
          <a:ln w="12700">
            <a:solidFill>
              <a:srgbClr val="2F6FDB"/>
            </a:solidFill>
            <a:prstDash val="solid"/>
          </a:ln>
        </p:spPr>
      </p:sp>
      <p:sp>
        <p:nvSpPr>
          <p:cNvPr id="4" name="Shape 2"/>
          <p:cNvSpPr/>
          <p:nvPr/>
        </p:nvSpPr>
        <p:spPr>
          <a:xfrm>
            <a:off x="4562856" y="1188720"/>
            <a:ext cx="182880" cy="182880"/>
          </a:xfrm>
          <a:prstGeom prst="ellipse">
            <a:avLst/>
          </a:prstGeom>
          <a:solidFill>
            <a:srgbClr val="D5433B"/>
          </a:solidFill>
          <a:ln w="12700">
            <a:solidFill>
              <a:srgbClr val="D5433B"/>
            </a:solidFill>
            <a:prstDash val="solid"/>
          </a:ln>
        </p:spPr>
      </p:sp>
      <p:sp>
        <p:nvSpPr>
          <p:cNvPr id="5" name="Shape 3"/>
          <p:cNvSpPr/>
          <p:nvPr/>
        </p:nvSpPr>
        <p:spPr>
          <a:xfrm>
            <a:off x="4837176" y="1188720"/>
            <a:ext cx="182880" cy="182880"/>
          </a:xfrm>
          <a:prstGeom prst="ellipse">
            <a:avLst/>
          </a:prstGeom>
          <a:solidFill>
            <a:srgbClr val="E0A500"/>
          </a:solidFill>
          <a:ln w="12700">
            <a:solidFill>
              <a:srgbClr val="E0A500"/>
            </a:solidFill>
            <a:prstDash val="solid"/>
          </a:ln>
        </p:spPr>
      </p:sp>
      <p:sp>
        <p:nvSpPr>
          <p:cNvPr id="6" name="Text 4"/>
          <p:cNvSpPr txBox="1"/>
          <p:nvPr/>
        </p:nvSpPr>
        <p:spPr>
          <a:xfrm>
            <a:off x="457200" y="1645920"/>
            <a:ext cx="8229600" cy="822960"/>
          </a:xfrm>
          <a:prstGeom prst="rect">
            <a:avLst/>
          </a:prstGeom>
          <a:noFill/>
          <a:ln/>
        </p:spPr>
        <p:txBody>
          <a:bodyPr wrap="square" lIns="0" tIns="0" rIns="0" bIns="0" rtlCol="0" anchor="ctr"/>
          <a:lstStyle/>
          <a:p>
            <a:pPr algn="ctr" indent="0" marL="0">
              <a:buNone/>
            </a:pPr>
            <a:r>
              <a:rPr lang="en-US" sz="4400" dirty="0">
                <a:solidFill>
                  <a:srgbClr val="FFFFFF"/>
                </a:solidFill>
                <a:latin typeface="Arial Black" pitchFamily="34" charset="0"/>
                <a:ea typeface="Arial Black" pitchFamily="34" charset="-122"/>
                <a:cs typeface="Arial Black" pitchFamily="34" charset="-120"/>
              </a:rPr>
              <a:t>Terima Kasih</a:t>
            </a:r>
            <a:endParaRPr lang="en-US" sz="4400" dirty="0"/>
          </a:p>
        </p:txBody>
      </p:sp>
      <p:sp>
        <p:nvSpPr>
          <p:cNvPr id="7" name="Text 5"/>
          <p:cNvSpPr txBox="1"/>
          <p:nvPr/>
        </p:nvSpPr>
        <p:spPr>
          <a:xfrm>
            <a:off x="457200" y="2514600"/>
            <a:ext cx="8229600" cy="365760"/>
          </a:xfrm>
          <a:prstGeom prst="rect">
            <a:avLst/>
          </a:prstGeom>
          <a:noFill/>
          <a:ln/>
        </p:spPr>
        <p:txBody>
          <a:bodyPr wrap="square" lIns="0" tIns="0" rIns="0" bIns="0" rtlCol="0" anchor="ctr"/>
          <a:lstStyle/>
          <a:p>
            <a:pPr algn="ctr" indent="0" marL="0">
              <a:buNone/>
            </a:pPr>
            <a:r>
              <a:rPr lang="en-US" sz="1600" dirty="0">
                <a:solidFill>
                  <a:srgbClr val="A9AFB9"/>
                </a:solidFill>
                <a:latin typeface="Calibri" pitchFamily="34" charset="0"/>
                <a:ea typeface="Calibri" pitchFamily="34" charset="-122"/>
                <a:cs typeface="Calibri" pitchFamily="34" charset="-120"/>
              </a:rPr>
              <a:t>Tag Arena · 1 Hunter vs 3 Prey · RL × Behavior Tree</a:t>
            </a:r>
            <a:endParaRPr lang="en-US" sz="1600" dirty="0"/>
          </a:p>
        </p:txBody>
      </p:sp>
      <p:sp>
        <p:nvSpPr>
          <p:cNvPr id="8" name="Text 6"/>
          <p:cNvSpPr txBox="1"/>
          <p:nvPr/>
        </p:nvSpPr>
        <p:spPr>
          <a:xfrm>
            <a:off x="457200" y="3291840"/>
            <a:ext cx="8229600" cy="365760"/>
          </a:xfrm>
          <a:prstGeom prst="rect">
            <a:avLst/>
          </a:prstGeom>
          <a:noFill/>
          <a:ln/>
        </p:spPr>
        <p:txBody>
          <a:bodyPr wrap="square" lIns="0" tIns="0" rIns="0" bIns="0" rtlCol="0" anchor="ctr"/>
          <a:lstStyle/>
          <a:p>
            <a:pPr algn="ctr" indent="0" marL="0">
              <a:buNone/>
            </a:pPr>
            <a:r>
              <a:rPr lang="en-US" sz="1600" b="1" dirty="0">
                <a:solidFill>
                  <a:srgbClr val="E0A500"/>
                </a:solidFill>
                <a:latin typeface="Calibri" pitchFamily="34" charset="0"/>
                <a:ea typeface="Calibri" pitchFamily="34" charset="-122"/>
                <a:cs typeface="Calibri" pitchFamily="34" charset="-120"/>
              </a:rPr>
              <a:t>Pertanyaan &amp; masukan?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Tag Arena</dc:title>
  <dc:subject>PptxGenJS Presentation</dc:subject>
  <dc:creator>PptxGenJS</dc:creator>
  <cp:lastModifiedBy>PptxGenJS</cp:lastModifiedBy>
  <cp:revision>1</cp:revision>
  <dcterms:created xsi:type="dcterms:W3CDTF">2026-09-30T15:33:41Z</dcterms:created>
  <dcterms:modified xsi:type="dcterms:W3CDTF">2026-09-30T15:33:41Z</dcterms:modified>
</cp:coreProperties>
</file>